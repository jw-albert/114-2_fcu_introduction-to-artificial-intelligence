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32"/>
  </p:notesMasterIdLst>
  <p:sldIdLst>
    <p:sldId id="256" r:id="rId2"/>
    <p:sldId id="417" r:id="rId3"/>
    <p:sldId id="418" r:id="rId4"/>
    <p:sldId id="419" r:id="rId5"/>
    <p:sldId id="421" r:id="rId6"/>
    <p:sldId id="422" r:id="rId7"/>
    <p:sldId id="423" r:id="rId8"/>
    <p:sldId id="424" r:id="rId9"/>
    <p:sldId id="425" r:id="rId10"/>
    <p:sldId id="426" r:id="rId11"/>
    <p:sldId id="427" r:id="rId12"/>
    <p:sldId id="428" r:id="rId13"/>
    <p:sldId id="429" r:id="rId14"/>
    <p:sldId id="404" r:id="rId15"/>
    <p:sldId id="430" r:id="rId16"/>
    <p:sldId id="431" r:id="rId17"/>
    <p:sldId id="432" r:id="rId18"/>
    <p:sldId id="433" r:id="rId19"/>
    <p:sldId id="434" r:id="rId20"/>
    <p:sldId id="435" r:id="rId21"/>
    <p:sldId id="436" r:id="rId22"/>
    <p:sldId id="443" r:id="rId23"/>
    <p:sldId id="437" r:id="rId24"/>
    <p:sldId id="438" r:id="rId25"/>
    <p:sldId id="439" r:id="rId26"/>
    <p:sldId id="442" r:id="rId27"/>
    <p:sldId id="440" r:id="rId28"/>
    <p:sldId id="333" r:id="rId29"/>
    <p:sldId id="441" r:id="rId30"/>
    <p:sldId id="259"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F192FE-C4B8-4A2E-805A-DD3DAC49B5C1}" v="17" dt="2026-04-23T14:20:03.535"/>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667" autoAdjust="0"/>
  </p:normalViewPr>
  <p:slideViewPr>
    <p:cSldViewPr snapToGrid="0">
      <p:cViewPr>
        <p:scale>
          <a:sx n="66" d="100"/>
          <a:sy n="66" d="100"/>
        </p:scale>
        <p:origin x="2274" y="8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張哲誠" userId="5d6e92af-707e-44d9-a48f-9a80309f0b3d" providerId="ADAL" clId="{2DF50CBC-9FB4-4FEC-A7B0-8100002EFE0B}"/>
    <pc:docChg chg="custSel modSld">
      <pc:chgData name="張哲誠" userId="5d6e92af-707e-44d9-a48f-9a80309f0b3d" providerId="ADAL" clId="{2DF50CBC-9FB4-4FEC-A7B0-8100002EFE0B}" dt="2026-04-23T14:20:08.659" v="50" actId="20577"/>
      <pc:docMkLst>
        <pc:docMk/>
      </pc:docMkLst>
      <pc:sldChg chg="modSp mod">
        <pc:chgData name="張哲誠" userId="5d6e92af-707e-44d9-a48f-9a80309f0b3d" providerId="ADAL" clId="{2DF50CBC-9FB4-4FEC-A7B0-8100002EFE0B}" dt="2026-04-23T14:20:08.659" v="50" actId="20577"/>
        <pc:sldMkLst>
          <pc:docMk/>
          <pc:sldMk cId="2452532593" sldId="441"/>
        </pc:sldMkLst>
        <pc:spChg chg="mod">
          <ac:chgData name="張哲誠" userId="5d6e92af-707e-44d9-a48f-9a80309f0b3d" providerId="ADAL" clId="{2DF50CBC-9FB4-4FEC-A7B0-8100002EFE0B}" dt="2026-04-23T14:20:08.659" v="50" actId="20577"/>
          <ac:spMkLst>
            <pc:docMk/>
            <pc:sldMk cId="2452532593" sldId="44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DD2AE1-4F1C-4587-8B81-76212F264A12}" type="datetimeFigureOut">
              <a:rPr lang="zh-TW" altLang="en-US" smtClean="0"/>
              <a:t>2026/4/23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A9203B-478A-4F15-9385-772DE2E1D524}" type="slidenum">
              <a:rPr lang="zh-TW" altLang="en-US" smtClean="0"/>
              <a:t>‹#›</a:t>
            </a:fld>
            <a:endParaRPr lang="zh-TW" altLang="en-US"/>
          </a:p>
        </p:txBody>
      </p:sp>
    </p:spTree>
    <p:extLst>
      <p:ext uri="{BB962C8B-B14F-4D97-AF65-F5344CB8AC3E}">
        <p14:creationId xmlns:p14="http://schemas.microsoft.com/office/powerpoint/2010/main" val="1266580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pxhere.com/en/photo/1458445" TargetMode="External"/><Relationship Id="rId7" Type="http://schemas.openxmlformats.org/officeDocument/2006/relationships/hyperlink" Target="https://zh.wikipedia.org/wiki/File:Grey_and_Orange_bird_(3312572638).jpg"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www.needpix.com/photo/1213319/cat-gata-kitten-feline-animal-animals-care-feline-domestic-animals-siamese" TargetMode="External"/><Relationship Id="rId5" Type="http://schemas.openxmlformats.org/officeDocument/2006/relationships/hyperlink" Target="https://www.pexels.com/photo/adorable-animal-breed-canine-356378/" TargetMode="External"/><Relationship Id="rId4" Type="http://schemas.openxmlformats.org/officeDocument/2006/relationships/hyperlink" Target="https://pixnio.com/transportation-vehicles/cars-automobile/car-vehicle-fast-auto-automobile-transportation"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https://pxhere.com/en/photo/1458445</a:t>
            </a:r>
            <a:endParaRPr lang="en-US" altLang="zh-TW" dirty="0"/>
          </a:p>
          <a:p>
            <a:r>
              <a:rPr lang="en-US" altLang="zh-TW" dirty="0">
                <a:hlinkClick r:id="rId4"/>
              </a:rPr>
              <a:t>https://pixnio.com/transportation-vehicles/cars-automobile/car-vehicle-fast-auto-automobile-transportation</a:t>
            </a:r>
            <a:endParaRPr lang="en-US" altLang="zh-TW" dirty="0"/>
          </a:p>
          <a:p>
            <a:r>
              <a:rPr lang="en-US" altLang="zh-TW" dirty="0">
                <a:hlinkClick r:id="rId5"/>
              </a:rPr>
              <a:t>https://www.pexels.com/photo/adorable-animal-breed-canine-356378/</a:t>
            </a:r>
            <a:endParaRPr lang="en-US" altLang="zh-TW" dirty="0"/>
          </a:p>
          <a:p>
            <a:r>
              <a:rPr lang="en-US" altLang="zh-TW" dirty="0">
                <a:hlinkClick r:id="rId6"/>
              </a:rPr>
              <a:t>https://www.needpix.com/photo/1213319/cat-gata-kitten-feline-animal-animals-care-feline-domestic-animals-Siamese</a:t>
            </a:r>
            <a:endParaRPr lang="en-US" altLang="zh-TW" dirty="0"/>
          </a:p>
          <a:p>
            <a:r>
              <a:rPr lang="en-US" altLang="zh-TW" dirty="0">
                <a:hlinkClick r:id="rId7"/>
              </a:rPr>
              <a:t>https://zh.wikipedia.org/wiki/File:Grey_and_Orange_bird_(3312572638).jpg</a:t>
            </a:r>
            <a:endParaRPr lang="en-US" altLang="zh-TW"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2</a:t>
            </a:fld>
            <a:endParaRPr lang="zh-TW" altLang="en-US"/>
          </a:p>
        </p:txBody>
      </p:sp>
    </p:spTree>
    <p:extLst>
      <p:ext uri="{BB962C8B-B14F-4D97-AF65-F5344CB8AC3E}">
        <p14:creationId xmlns:p14="http://schemas.microsoft.com/office/powerpoint/2010/main" val="2774684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3572604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336074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2423568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19448287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8670342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3819870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2014297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TW" altLang="en-US"/>
              <a:t>按一下以編輯母片標題樣式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21452152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9B57E17-8F56-4A3B-902A-CD16B5090302}" type="slidenum">
              <a:rPr lang="zh-TW" altLang="en-US" smtClean="0"/>
              <a:t>‹#›</a:t>
            </a:fld>
            <a:endParaRPr lang="zh-TW" altLang="en-US"/>
          </a:p>
        </p:txBody>
      </p:sp>
      <p:sp>
        <p:nvSpPr>
          <p:cNvPr id="5" name="Date Placeholder 4"/>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Tree>
    <p:extLst>
      <p:ext uri="{BB962C8B-B14F-4D97-AF65-F5344CB8AC3E}">
        <p14:creationId xmlns:p14="http://schemas.microsoft.com/office/powerpoint/2010/main" val="2301930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2368261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編輯母片文字樣式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3351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1814250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編輯母片文字樣式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19622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編輯母片文字樣式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4422792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4042148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3792767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5CA501A-E6BD-46D2-BD25-59A76987027A}" type="datetimeFigureOut">
              <a:rPr lang="zh-TW" altLang="en-US" smtClean="0"/>
              <a:t>2026/4/23</a:t>
            </a:fld>
            <a:endParaRPr lang="zh-TW"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404069742"/>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人工智慧概論與實務</a:t>
            </a:r>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41030881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sz="4400" b="1" dirty="0">
                <a:latin typeface="微軟正黑體" panose="020B0604030504040204" pitchFamily="34" charset="-120"/>
                <a:ea typeface="微軟正黑體" panose="020B0604030504040204" pitchFamily="34" charset="-120"/>
              </a:rPr>
              <a:t>專題實作：圖片物件辨識 </a:t>
            </a:r>
            <a:r>
              <a:rPr lang="en-US" altLang="zh-TW" sz="4400" b="1" dirty="0">
                <a:latin typeface="微軟正黑體" panose="020B0604030504040204" pitchFamily="34" charset="-120"/>
                <a:ea typeface="微軟正黑體" panose="020B0604030504040204" pitchFamily="34" charset="-120"/>
              </a:rPr>
              <a:t>CIFAR</a:t>
            </a:r>
            <a:endParaRPr lang="zh-TW" altLang="en-US" sz="4400"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noAutofit/>
          </a:bodyPr>
          <a:lstStyle/>
          <a:p>
            <a:r>
              <a:rPr lang="en-US" altLang="zh-TW" sz="3200" b="1" dirty="0">
                <a:solidFill>
                  <a:srgbClr val="FFC000"/>
                </a:solidFill>
                <a:latin typeface="微軟正黑體" panose="020B0604030504040204" pitchFamily="34" charset="-120"/>
                <a:ea typeface="微軟正黑體" panose="020B0604030504040204" pitchFamily="34" charset="-120"/>
              </a:rPr>
              <a:t>CIFAR</a:t>
            </a:r>
          </a:p>
          <a:p>
            <a:pPr lvl="1"/>
            <a:r>
              <a:rPr lang="zh-TW" altLang="en-US" sz="2800" dirty="0">
                <a:latin typeface="微軟正黑體" panose="020B0604030504040204" pitchFamily="34" charset="-120"/>
                <a:ea typeface="微軟正黑體" panose="020B0604030504040204" pitchFamily="34" charset="-120"/>
              </a:rPr>
              <a:t>常用圖片的資料集</a:t>
            </a:r>
            <a:endParaRPr lang="en-US" altLang="zh-TW" sz="2800" dirty="0">
              <a:latin typeface="微軟正黑體" panose="020B0604030504040204" pitchFamily="34" charset="-120"/>
              <a:ea typeface="微軟正黑體" panose="020B0604030504040204" pitchFamily="34" charset="-120"/>
            </a:endParaRPr>
          </a:p>
          <a:p>
            <a:pPr lvl="1"/>
            <a:r>
              <a:rPr lang="zh-TW" altLang="en-US" sz="2800" dirty="0">
                <a:latin typeface="微軟正黑體" panose="020B0604030504040204" pitchFamily="34" charset="-120"/>
                <a:ea typeface="微軟正黑體" panose="020B0604030504040204" pitchFamily="34" charset="-120"/>
              </a:rPr>
              <a:t>圖片內容稍微複雜一點點，資料量也稍微大一點點，用來實現一些日常生活中常用物件辨識</a:t>
            </a:r>
          </a:p>
          <a:p>
            <a:pPr lvl="1"/>
            <a:r>
              <a:rPr lang="zh-TW" altLang="en-US" sz="2800" dirty="0">
                <a:latin typeface="微軟正黑體" panose="020B0604030504040204" pitchFamily="34" charset="-120"/>
                <a:ea typeface="微軟正黑體" panose="020B0604030504040204" pitchFamily="34" charset="-120"/>
              </a:rPr>
              <a:t>其中包含飛機、汽車、狗狗、貓咪、小鳥</a:t>
            </a:r>
            <a:r>
              <a:rPr lang="en-US" altLang="zh-TW" sz="2800" dirty="0">
                <a:latin typeface="微軟正黑體" panose="020B0604030504040204" pitchFamily="34" charset="-120"/>
                <a:ea typeface="微軟正黑體" panose="020B0604030504040204" pitchFamily="34" charset="-120"/>
              </a:rPr>
              <a:t>……</a:t>
            </a:r>
            <a:r>
              <a:rPr lang="zh-TW" altLang="en-US" sz="2800" dirty="0">
                <a:latin typeface="微軟正黑體" panose="020B0604030504040204" pitchFamily="34" charset="-120"/>
                <a:ea typeface="微軟正黑體" panose="020B0604030504040204" pitchFamily="34" charset="-120"/>
              </a:rPr>
              <a:t>等類型</a:t>
            </a:r>
          </a:p>
        </p:txBody>
      </p:sp>
      <p:pic>
        <p:nvPicPr>
          <p:cNvPr id="4" name="Picture 2" descr="airplane Airplane sky sky airline airliner aircraft air travel airbus wide body aircraft flight daytime aviation cloud aerospace engineering narrow body aircraft aircraft engine flap boeing boeing 777 boeing 767 takeoff jet aircraft wing landing boeing 737 meteorological phenomenon airbus a330 cumulu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700" y="5324062"/>
            <a:ext cx="2160000" cy="1434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ar, vehicle, fast, auto, automobile, transportat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28075" y="5324062"/>
            <a:ext cx="2160000" cy="14342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Dog Lying Down on Gras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16450" y="5318302"/>
            <a:ext cx="216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cat,gata,kitten,feline,animal,animals,care feline,domestic animals,siamese,house cat,feline look,siamese cat,claw,mammal,cute,tuned,cat face,pet,feline stopped,pet animal,free pictures, free photos, free images, royalty free, free illustrations, public domai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47023" y="5318302"/>
            <a:ext cx="2160000" cy="14394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File:Grey and Orange bird (3312572638).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77596" y="5315540"/>
            <a:ext cx="2160000" cy="143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9817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sz="4400" b="1" dirty="0">
                <a:latin typeface="微軟正黑體" panose="020B0604030504040204" pitchFamily="34" charset="-120"/>
                <a:ea typeface="微軟正黑體" panose="020B0604030504040204" pitchFamily="34" charset="-120"/>
              </a:rPr>
              <a:t>專題實作：圖片物件辨識 </a:t>
            </a:r>
            <a:r>
              <a:rPr lang="en-US" altLang="zh-TW" sz="4400" b="1" dirty="0">
                <a:latin typeface="微軟正黑體" panose="020B0604030504040204" pitchFamily="34" charset="-120"/>
                <a:ea typeface="微軟正黑體" panose="020B0604030504040204" pitchFamily="34" charset="-120"/>
              </a:rPr>
              <a:t>CIFAR</a:t>
            </a:r>
            <a:endParaRPr lang="zh-TW" altLang="en-US" sz="4400"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noAutofit/>
          </a:bodyPr>
          <a:lstStyle/>
          <a:p>
            <a:r>
              <a:rPr lang="en-US" altLang="zh-TW" sz="3200" b="1" dirty="0">
                <a:solidFill>
                  <a:srgbClr val="FFC000"/>
                </a:solidFill>
                <a:latin typeface="微軟正黑體" panose="020B0604030504040204" pitchFamily="34" charset="-120"/>
                <a:ea typeface="微軟正黑體" panose="020B0604030504040204" pitchFamily="34" charset="-120"/>
              </a:rPr>
              <a:t>CIFAR</a:t>
            </a:r>
          </a:p>
          <a:p>
            <a:pPr lvl="1"/>
            <a:r>
              <a:rPr lang="zh-TW" altLang="en-US" sz="2800" dirty="0">
                <a:latin typeface="微軟正黑體" panose="020B0604030504040204" pitchFamily="34" charset="-120"/>
                <a:ea typeface="微軟正黑體" panose="020B0604030504040204" pitchFamily="34" charset="-120"/>
              </a:rPr>
              <a:t>它包含：</a:t>
            </a:r>
            <a:r>
              <a:rPr lang="en-US" altLang="zh-TW" sz="2800" dirty="0">
                <a:latin typeface="微軟正黑體" panose="020B0604030504040204" pitchFamily="34" charset="-120"/>
                <a:ea typeface="微軟正黑體" panose="020B0604030504040204" pitchFamily="34" charset="-120"/>
              </a:rPr>
              <a:t>50000</a:t>
            </a:r>
            <a:r>
              <a:rPr lang="zh-TW" altLang="en-US" sz="2800" dirty="0">
                <a:latin typeface="微軟正黑體" panose="020B0604030504040204" pitchFamily="34" charset="-120"/>
                <a:ea typeface="微軟正黑體" panose="020B0604030504040204" pitchFamily="34" charset="-120"/>
              </a:rPr>
              <a:t>個訓練資料及</a:t>
            </a:r>
            <a:r>
              <a:rPr lang="en-US" altLang="zh-TW" sz="2800" dirty="0">
                <a:latin typeface="微軟正黑體" panose="020B0604030504040204" pitchFamily="34" charset="-120"/>
                <a:ea typeface="微軟正黑體" panose="020B0604030504040204" pitchFamily="34" charset="-120"/>
              </a:rPr>
              <a:t>10000</a:t>
            </a:r>
            <a:r>
              <a:rPr lang="zh-TW" altLang="en-US" sz="2800" dirty="0">
                <a:latin typeface="微軟正黑體" panose="020B0604030504040204" pitchFamily="34" charset="-120"/>
                <a:ea typeface="微軟正黑體" panose="020B0604030504040204" pitchFamily="34" charset="-120"/>
              </a:rPr>
              <a:t>個測試資料</a:t>
            </a:r>
            <a:endParaRPr lang="en-US" altLang="zh-TW" sz="2800" dirty="0">
              <a:latin typeface="微軟正黑體" panose="020B0604030504040204" pitchFamily="34" charset="-120"/>
              <a:ea typeface="微軟正黑體" panose="020B0604030504040204" pitchFamily="34" charset="-120"/>
            </a:endParaRPr>
          </a:p>
          <a:p>
            <a:pPr lvl="2"/>
            <a:r>
              <a:rPr lang="zh-TW" altLang="en-US" sz="2400" dirty="0">
                <a:latin typeface="微軟正黑體" panose="020B0604030504040204" pitchFamily="34" charset="-120"/>
                <a:ea typeface="微軟正黑體" panose="020B0604030504040204" pitchFamily="34" charset="-120"/>
              </a:rPr>
              <a:t>每筆資料都有影像資料與標籤資訊（正確答案）</a:t>
            </a:r>
            <a:endParaRPr lang="en-US" altLang="zh-TW" sz="2400" dirty="0">
              <a:latin typeface="微軟正黑體" panose="020B0604030504040204" pitchFamily="34" charset="-120"/>
              <a:ea typeface="微軟正黑體" panose="020B0604030504040204" pitchFamily="34" charset="-120"/>
            </a:endParaRPr>
          </a:p>
          <a:p>
            <a:pPr lvl="2"/>
            <a:r>
              <a:rPr lang="zh-TW" altLang="en-US" sz="2400" dirty="0">
                <a:latin typeface="微軟正黑體" panose="020B0604030504040204" pitchFamily="34" charset="-120"/>
                <a:ea typeface="微軟正黑體" panose="020B0604030504040204" pitchFamily="34" charset="-120"/>
              </a:rPr>
              <a:t>影像資料為</a:t>
            </a:r>
            <a:r>
              <a:rPr lang="en-US" altLang="zh-TW" sz="2400" dirty="0">
                <a:latin typeface="微軟正黑體" panose="020B0604030504040204" pitchFamily="34" charset="-120"/>
                <a:ea typeface="微軟正黑體" panose="020B0604030504040204" pitchFamily="34" charset="-120"/>
              </a:rPr>
              <a:t>32*32</a:t>
            </a:r>
            <a:r>
              <a:rPr lang="zh-TW" altLang="en-US" sz="2400" dirty="0">
                <a:latin typeface="微軟正黑體" panose="020B0604030504040204" pitchFamily="34" charset="-120"/>
                <a:ea typeface="微軟正黑體" panose="020B0604030504040204" pitchFamily="34" charset="-120"/>
              </a:rPr>
              <a:t>的彩色圖像</a:t>
            </a:r>
            <a:endParaRPr lang="en-US" altLang="zh-TW" sz="2400" dirty="0">
              <a:latin typeface="微軟正黑體" panose="020B0604030504040204" pitchFamily="34" charset="-120"/>
              <a:ea typeface="微軟正黑體" panose="020B0604030504040204" pitchFamily="34" charset="-120"/>
            </a:endParaRPr>
          </a:p>
          <a:p>
            <a:pPr lvl="2"/>
            <a:r>
              <a:rPr lang="zh-TW" altLang="en-US" sz="2400" dirty="0">
                <a:latin typeface="微軟正黑體" panose="020B0604030504040204" pitchFamily="34" charset="-120"/>
                <a:ea typeface="微軟正黑體" panose="020B0604030504040204" pitchFamily="34" charset="-120"/>
              </a:rPr>
              <a:t>標籤資訊為</a:t>
            </a:r>
            <a:r>
              <a:rPr lang="en-US" altLang="zh-TW" sz="2400" dirty="0">
                <a:latin typeface="微軟正黑體" panose="020B0604030504040204" pitchFamily="34" charset="-120"/>
                <a:ea typeface="微軟正黑體" panose="020B0604030504040204" pitchFamily="34" charset="-120"/>
              </a:rPr>
              <a:t>10</a:t>
            </a:r>
            <a:r>
              <a:rPr lang="zh-TW" altLang="en-US" sz="2400" dirty="0">
                <a:latin typeface="微軟正黑體" panose="020B0604030504040204" pitchFamily="34" charset="-120"/>
                <a:ea typeface="微軟正黑體" panose="020B0604030504040204" pitchFamily="34" charset="-120"/>
              </a:rPr>
              <a:t>種常見物件</a:t>
            </a:r>
            <a:endParaRPr lang="en-US" altLang="zh-TW"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1805103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679" y="2484288"/>
            <a:ext cx="6791325" cy="3533775"/>
          </a:xfrm>
          <a:prstGeom prst="rect">
            <a:avLst/>
          </a:prstGeom>
        </p:spPr>
      </p:pic>
      <p:sp>
        <p:nvSpPr>
          <p:cNvPr id="2" name="標題 1"/>
          <p:cNvSpPr>
            <a:spLocks noGrp="1"/>
          </p:cNvSpPr>
          <p:nvPr>
            <p:ph type="title"/>
          </p:nvPr>
        </p:nvSpPr>
        <p:spPr/>
        <p:txBody>
          <a:bodyPr>
            <a:normAutofit/>
          </a:bodyPr>
          <a:lstStyle/>
          <a:p>
            <a:r>
              <a:rPr lang="zh-TW" altLang="en-US" sz="4400" b="1" dirty="0">
                <a:latin typeface="微軟正黑體" panose="020B0604030504040204" pitchFamily="34" charset="-120"/>
                <a:ea typeface="微軟正黑體" panose="020B0604030504040204" pitchFamily="34" charset="-120"/>
              </a:rPr>
              <a:t>專題實作：圖片物件辨識 </a:t>
            </a:r>
            <a:r>
              <a:rPr lang="en-US" altLang="zh-TW" sz="4400" b="1" dirty="0">
                <a:latin typeface="微軟正黑體" panose="020B0604030504040204" pitchFamily="34" charset="-120"/>
                <a:ea typeface="微軟正黑體" panose="020B0604030504040204" pitchFamily="34" charset="-120"/>
              </a:rPr>
              <a:t>CIFAR</a:t>
            </a:r>
            <a:endParaRPr lang="zh-TW" altLang="en-US" sz="4400" b="1" dirty="0">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5813424" y="3641404"/>
            <a:ext cx="6030233" cy="830997"/>
          </a:xfrm>
          <a:prstGeom prst="rect">
            <a:avLst/>
          </a:prstGeom>
          <a:solidFill>
            <a:schemeClr val="accent2"/>
          </a:solidFill>
          <a:ln w="50800">
            <a:solidFill>
              <a:srgbClr val="FF0000"/>
            </a:solidFill>
          </a:ln>
        </p:spPr>
        <p:txBody>
          <a:bodyPr wrap="square" rtlCol="0">
            <a:spAutoFit/>
          </a:bodyPr>
          <a:lstStyle/>
          <a:p>
            <a:r>
              <a:rPr lang="en-US" altLang="zh-TW" sz="2400" dirty="0">
                <a:solidFill>
                  <a:schemeClr val="bg1"/>
                </a:solidFill>
                <a:latin typeface="微軟正黑體" panose="020B0604030504040204" pitchFamily="34" charset="-120"/>
                <a:ea typeface="微軟正黑體" panose="020B0604030504040204" pitchFamily="34" charset="-120"/>
              </a:rPr>
              <a:t>CIFAR</a:t>
            </a:r>
            <a:r>
              <a:rPr lang="zh-TW" altLang="en-US" sz="2400" dirty="0">
                <a:solidFill>
                  <a:schemeClr val="bg1"/>
                </a:solidFill>
                <a:latin typeface="微軟正黑體" panose="020B0604030504040204" pitchFamily="34" charset="-120"/>
                <a:ea typeface="微軟正黑體" panose="020B0604030504040204" pitchFamily="34" charset="-120"/>
              </a:rPr>
              <a:t>單筆的資料內容大概是長這個樣子：一個</a:t>
            </a:r>
            <a:r>
              <a:rPr lang="en-US" altLang="zh-TW" sz="2400" dirty="0">
                <a:solidFill>
                  <a:schemeClr val="bg1"/>
                </a:solidFill>
                <a:latin typeface="微軟正黑體" panose="020B0604030504040204" pitchFamily="34" charset="-120"/>
                <a:ea typeface="微軟正黑體" panose="020B0604030504040204" pitchFamily="34" charset="-120"/>
              </a:rPr>
              <a:t>32*32</a:t>
            </a:r>
            <a:r>
              <a:rPr lang="zh-TW" altLang="en-US" sz="2400" dirty="0">
                <a:solidFill>
                  <a:schemeClr val="bg1"/>
                </a:solidFill>
                <a:latin typeface="微軟正黑體" panose="020B0604030504040204" pitchFamily="34" charset="-120"/>
                <a:ea typeface="微軟正黑體" panose="020B0604030504040204" pitchFamily="34" charset="-120"/>
              </a:rPr>
              <a:t>的彩色圖像，一個資料標籤</a:t>
            </a:r>
          </a:p>
        </p:txBody>
      </p:sp>
      <p:sp>
        <p:nvSpPr>
          <p:cNvPr id="6" name="文字方塊 5"/>
          <p:cNvSpPr txBox="1"/>
          <p:nvPr/>
        </p:nvSpPr>
        <p:spPr>
          <a:xfrm>
            <a:off x="5813425" y="4725401"/>
            <a:ext cx="6030232"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所以，當我們訓練完模型，得到預測資料後，就可以設計一個函式來完整地呈現資料</a:t>
            </a:r>
          </a:p>
        </p:txBody>
      </p:sp>
      <p:sp>
        <p:nvSpPr>
          <p:cNvPr id="8" name="文字方塊 7"/>
          <p:cNvSpPr txBox="1"/>
          <p:nvPr/>
        </p:nvSpPr>
        <p:spPr>
          <a:xfrm>
            <a:off x="5813423" y="5828317"/>
            <a:ext cx="6030233"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像左圖就是圖像和標籤是表示飛機，然後預測結果也是正確地辨識出飛機</a:t>
            </a:r>
          </a:p>
        </p:txBody>
      </p:sp>
    </p:spTree>
    <p:extLst>
      <p:ext uri="{BB962C8B-B14F-4D97-AF65-F5344CB8AC3E}">
        <p14:creationId xmlns:p14="http://schemas.microsoft.com/office/powerpoint/2010/main" val="41963466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D5A5466-942C-508D-E9F4-CF6CB60CE615}"/>
              </a:ext>
            </a:extLst>
          </p:cNvPr>
          <p:cNvPicPr>
            <a:picLocks noChangeAspect="1"/>
          </p:cNvPicPr>
          <p:nvPr/>
        </p:nvPicPr>
        <p:blipFill>
          <a:blip r:embed="rId2"/>
          <a:stretch>
            <a:fillRect/>
          </a:stretch>
        </p:blipFill>
        <p:spPr>
          <a:xfrm>
            <a:off x="180519" y="1074469"/>
            <a:ext cx="9764488" cy="3781953"/>
          </a:xfrm>
          <a:prstGeom prst="rect">
            <a:avLst/>
          </a:prstGeom>
        </p:spPr>
      </p:pic>
      <p:sp>
        <p:nvSpPr>
          <p:cNvPr id="5" name="文字方塊 4"/>
          <p:cNvSpPr txBox="1"/>
          <p:nvPr/>
        </p:nvSpPr>
        <p:spPr>
          <a:xfrm>
            <a:off x="7590972" y="88900"/>
            <a:ext cx="4499428"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然後就是開始我們的實作時間了</a:t>
            </a:r>
          </a:p>
        </p:txBody>
      </p:sp>
      <p:sp>
        <p:nvSpPr>
          <p:cNvPr id="6" name="文字方塊 5"/>
          <p:cNvSpPr txBox="1"/>
          <p:nvPr/>
        </p:nvSpPr>
        <p:spPr>
          <a:xfrm>
            <a:off x="9356271" y="2622412"/>
            <a:ext cx="2734129"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載入需要的函式庫</a:t>
            </a:r>
          </a:p>
        </p:txBody>
      </p:sp>
      <p:sp>
        <p:nvSpPr>
          <p:cNvPr id="7" name="文字方塊 6"/>
          <p:cNvSpPr txBox="1"/>
          <p:nvPr/>
        </p:nvSpPr>
        <p:spPr>
          <a:xfrm>
            <a:off x="180519" y="4952534"/>
            <a:ext cx="9788979"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接著就是從外部的雲端空間下載資料集到我們的專案裡</a:t>
            </a:r>
            <a:endParaRPr lang="en-US" altLang="zh-TW" sz="2400" dirty="0">
              <a:solidFill>
                <a:schemeClr val="bg1"/>
              </a:solidFill>
              <a:latin typeface="微軟正黑體" panose="020B0604030504040204" pitchFamily="34" charset="-120"/>
              <a:ea typeface="微軟正黑體" panose="020B0604030504040204" pitchFamily="34" charset="-120"/>
            </a:endParaRPr>
          </a:p>
          <a:p>
            <a:r>
              <a:rPr lang="zh-TW" altLang="en-US" sz="2400" dirty="0">
                <a:solidFill>
                  <a:schemeClr val="bg1"/>
                </a:solidFill>
                <a:latin typeface="微軟正黑體" panose="020B0604030504040204" pitchFamily="34" charset="-120"/>
                <a:ea typeface="微軟正黑體" panose="020B0604030504040204" pitchFamily="34" charset="-120"/>
              </a:rPr>
              <a:t>下載過程應該會蠻快的，但是相比於</a:t>
            </a:r>
            <a:r>
              <a:rPr lang="en-US" altLang="zh-TW" sz="2400" dirty="0">
                <a:solidFill>
                  <a:schemeClr val="bg1"/>
                </a:solidFill>
                <a:latin typeface="微軟正黑體" panose="020B0604030504040204" pitchFamily="34" charset="-120"/>
                <a:ea typeface="微軟正黑體" panose="020B0604030504040204" pitchFamily="34" charset="-120"/>
              </a:rPr>
              <a:t>MNIST</a:t>
            </a:r>
            <a:r>
              <a:rPr lang="zh-TW" altLang="en-US" sz="2400" dirty="0">
                <a:solidFill>
                  <a:schemeClr val="bg1"/>
                </a:solidFill>
                <a:latin typeface="微軟正黑體" panose="020B0604030504040204" pitchFamily="34" charset="-120"/>
                <a:ea typeface="微軟正黑體" panose="020B0604030504040204" pitchFamily="34" charset="-120"/>
              </a:rPr>
              <a:t>，就會比較久一點點</a:t>
            </a:r>
            <a:endParaRPr lang="en-US" altLang="zh-TW" sz="24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39232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112" y="2640971"/>
            <a:ext cx="7753350" cy="1733550"/>
          </a:xfrm>
          <a:prstGeom prst="rect">
            <a:avLst/>
          </a:prstGeom>
        </p:spPr>
      </p:pic>
      <p:sp>
        <p:nvSpPr>
          <p:cNvPr id="6" name="文字方塊 5"/>
          <p:cNvSpPr txBox="1"/>
          <p:nvPr/>
        </p:nvSpPr>
        <p:spPr>
          <a:xfrm>
            <a:off x="149113" y="2024190"/>
            <a:ext cx="8728188"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這邊來確認一下資料量，看看訓練資料及測試資料的總數是多少</a:t>
            </a:r>
          </a:p>
        </p:txBody>
      </p:sp>
      <p:sp>
        <p:nvSpPr>
          <p:cNvPr id="9" name="文字方塊 8"/>
          <p:cNvSpPr txBox="1"/>
          <p:nvPr/>
        </p:nvSpPr>
        <p:spPr>
          <a:xfrm>
            <a:off x="5892800" y="3774356"/>
            <a:ext cx="5410198" cy="1200329"/>
          </a:xfrm>
          <a:prstGeom prst="rect">
            <a:avLst/>
          </a:prstGeom>
          <a:solidFill>
            <a:schemeClr val="accent2"/>
          </a:solidFill>
          <a:ln w="50800">
            <a:solidFill>
              <a:srgbClr val="FF0000"/>
            </a:solidFill>
          </a:ln>
        </p:spPr>
        <p:txBody>
          <a:bodyPr wrap="square" rtlCol="0">
            <a:spAutoFit/>
          </a:bodyPr>
          <a:lstStyle/>
          <a:p>
            <a:r>
              <a:rPr lang="en-US" altLang="zh-TW" sz="2400" dirty="0">
                <a:solidFill>
                  <a:schemeClr val="bg1"/>
                </a:solidFill>
                <a:latin typeface="微軟正黑體" panose="020B0604030504040204" pitchFamily="34" charset="-120"/>
                <a:ea typeface="微軟正黑體" panose="020B0604030504040204" pitchFamily="34" charset="-120"/>
              </a:rPr>
              <a:t>50000</a:t>
            </a:r>
            <a:r>
              <a:rPr lang="zh-TW" altLang="en-US" sz="2400" dirty="0">
                <a:solidFill>
                  <a:schemeClr val="bg1"/>
                </a:solidFill>
                <a:latin typeface="微軟正黑體" panose="020B0604030504040204" pitchFamily="34" charset="-120"/>
                <a:ea typeface="微軟正黑體" panose="020B0604030504040204" pitchFamily="34" charset="-120"/>
              </a:rPr>
              <a:t>個訓練資料和</a:t>
            </a:r>
            <a:r>
              <a:rPr lang="en-US" altLang="zh-TW" sz="2400" dirty="0">
                <a:solidFill>
                  <a:schemeClr val="bg1"/>
                </a:solidFill>
                <a:latin typeface="微軟正黑體" panose="020B0604030504040204" pitchFamily="34" charset="-120"/>
                <a:ea typeface="微軟正黑體" panose="020B0604030504040204" pitchFamily="34" charset="-120"/>
              </a:rPr>
              <a:t>10000</a:t>
            </a:r>
            <a:r>
              <a:rPr lang="zh-TW" altLang="en-US" sz="2400" dirty="0">
                <a:solidFill>
                  <a:schemeClr val="bg1"/>
                </a:solidFill>
                <a:latin typeface="微軟正黑體" panose="020B0604030504040204" pitchFamily="34" charset="-120"/>
                <a:ea typeface="微軟正黑體" panose="020B0604030504040204" pitchFamily="34" charset="-120"/>
              </a:rPr>
              <a:t>個測試資料</a:t>
            </a:r>
          </a:p>
          <a:p>
            <a:r>
              <a:rPr lang="zh-TW" altLang="en-US" sz="2400" dirty="0">
                <a:solidFill>
                  <a:schemeClr val="bg1"/>
                </a:solidFill>
                <a:latin typeface="微軟正黑體" panose="020B0604030504040204" pitchFamily="34" charset="-120"/>
                <a:ea typeface="微軟正黑體" panose="020B0604030504040204" pitchFamily="34" charset="-120"/>
              </a:rPr>
              <a:t>影像資料為</a:t>
            </a:r>
            <a:r>
              <a:rPr lang="en-US" altLang="zh-TW" sz="2400" dirty="0">
                <a:solidFill>
                  <a:schemeClr val="bg1"/>
                </a:solidFill>
                <a:latin typeface="微軟正黑體" panose="020B0604030504040204" pitchFamily="34" charset="-120"/>
                <a:ea typeface="微軟正黑體" panose="020B0604030504040204" pitchFamily="34" charset="-120"/>
              </a:rPr>
              <a:t>32*32</a:t>
            </a:r>
            <a:r>
              <a:rPr lang="zh-TW" altLang="en-US" sz="2400" dirty="0">
                <a:solidFill>
                  <a:schemeClr val="bg1"/>
                </a:solidFill>
                <a:latin typeface="微軟正黑體" panose="020B0604030504040204" pitchFamily="34" charset="-120"/>
                <a:ea typeface="微軟正黑體" panose="020B0604030504040204" pitchFamily="34" charset="-120"/>
              </a:rPr>
              <a:t>的彩色圖像以及對應數量的標籤</a:t>
            </a:r>
          </a:p>
        </p:txBody>
      </p:sp>
      <p:sp>
        <p:nvSpPr>
          <p:cNvPr id="11" name="文字方塊 10"/>
          <p:cNvSpPr txBox="1"/>
          <p:nvPr/>
        </p:nvSpPr>
        <p:spPr>
          <a:xfrm>
            <a:off x="7590972" y="88900"/>
            <a:ext cx="4499428"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然後就是開始我們的實作時間了</a:t>
            </a:r>
          </a:p>
        </p:txBody>
      </p:sp>
    </p:spTree>
    <p:extLst>
      <p:ext uri="{BB962C8B-B14F-4D97-AF65-F5344CB8AC3E}">
        <p14:creationId xmlns:p14="http://schemas.microsoft.com/office/powerpoint/2010/main" val="32105434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p:cNvSpPr txBox="1"/>
          <p:nvPr/>
        </p:nvSpPr>
        <p:spPr>
          <a:xfrm>
            <a:off x="5404756" y="982926"/>
            <a:ext cx="4889499"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設計一個函式來把圖像資料印出來</a:t>
            </a:r>
          </a:p>
        </p:txBody>
      </p:sp>
      <p:sp>
        <p:nvSpPr>
          <p:cNvPr id="8" name="文字方塊 7"/>
          <p:cNvSpPr txBox="1"/>
          <p:nvPr/>
        </p:nvSpPr>
        <p:spPr>
          <a:xfrm>
            <a:off x="7590972" y="88900"/>
            <a:ext cx="4499428"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然後就是開始我們的實作時間了</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50" y="319732"/>
            <a:ext cx="4305300" cy="4495800"/>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294" y="2684761"/>
            <a:ext cx="6791325" cy="3533775"/>
          </a:xfrm>
          <a:prstGeom prst="rect">
            <a:avLst/>
          </a:prstGeom>
          <a:ln w="50800">
            <a:solidFill>
              <a:srgbClr val="FF0000"/>
            </a:solidFill>
          </a:ln>
        </p:spPr>
      </p:pic>
      <p:sp>
        <p:nvSpPr>
          <p:cNvPr id="10" name="文字方塊 9"/>
          <p:cNvSpPr txBox="1"/>
          <p:nvPr/>
        </p:nvSpPr>
        <p:spPr>
          <a:xfrm>
            <a:off x="6522356" y="4030702"/>
            <a:ext cx="4889499" cy="1569660"/>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為什麼沒有上面的標籤</a:t>
            </a:r>
            <a:r>
              <a:rPr lang="en-US" altLang="zh-TW" sz="2400" dirty="0">
                <a:solidFill>
                  <a:schemeClr val="bg1"/>
                </a:solidFill>
                <a:latin typeface="微軟正黑體" panose="020B0604030504040204" pitchFamily="34" charset="-120"/>
                <a:ea typeface="微軟正黑體" panose="020B0604030504040204" pitchFamily="34" charset="-120"/>
              </a:rPr>
              <a:t>?</a:t>
            </a:r>
          </a:p>
          <a:p>
            <a:r>
              <a:rPr lang="zh-TW" altLang="en-US" sz="2400" dirty="0">
                <a:solidFill>
                  <a:schemeClr val="bg1"/>
                </a:solidFill>
                <a:latin typeface="微軟正黑體" panose="020B0604030504040204" pitchFamily="34" charset="-120"/>
                <a:ea typeface="微軟正黑體" panose="020B0604030504040204" pitchFamily="34" charset="-120"/>
              </a:rPr>
              <a:t>因為要顯示這些文字前，我們還需要做一些資料處理，這部份會在之後帶著同學一步一步地來進行</a:t>
            </a:r>
          </a:p>
        </p:txBody>
      </p:sp>
    </p:spTree>
    <p:extLst>
      <p:ext uri="{BB962C8B-B14F-4D97-AF65-F5344CB8AC3E}">
        <p14:creationId xmlns:p14="http://schemas.microsoft.com/office/powerpoint/2010/main" val="11661759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方塊 7"/>
          <p:cNvSpPr txBox="1"/>
          <p:nvPr/>
        </p:nvSpPr>
        <p:spPr>
          <a:xfrm>
            <a:off x="7590972" y="88900"/>
            <a:ext cx="4499428"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然後就是開始我們的實作時間了</a:t>
            </a:r>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50" y="319732"/>
            <a:ext cx="4305300" cy="4495800"/>
          </a:xfrm>
          <a:prstGeom prst="rect">
            <a:avLst/>
          </a:prstGeom>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2300" y="762952"/>
            <a:ext cx="5257800" cy="5534025"/>
          </a:xfrm>
          <a:prstGeom prst="rect">
            <a:avLst/>
          </a:prstGeom>
          <a:ln w="50800">
            <a:noFill/>
          </a:ln>
        </p:spPr>
      </p:pic>
      <p:sp>
        <p:nvSpPr>
          <p:cNvPr id="6" name="文字方塊 5"/>
          <p:cNvSpPr txBox="1"/>
          <p:nvPr/>
        </p:nvSpPr>
        <p:spPr>
          <a:xfrm>
            <a:off x="2393951" y="4662785"/>
            <a:ext cx="4121150" cy="1938992"/>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設計一個資料對調的式子，將表示色彩的資料交換存放：</a:t>
            </a:r>
            <a:endParaRPr lang="en-US" altLang="zh-TW" sz="2400" dirty="0">
              <a:solidFill>
                <a:schemeClr val="bg1"/>
              </a:solidFill>
              <a:latin typeface="微軟正黑體" panose="020B0604030504040204" pitchFamily="34" charset="-120"/>
              <a:ea typeface="微軟正黑體" panose="020B0604030504040204" pitchFamily="34" charset="-120"/>
            </a:endParaRPr>
          </a:p>
          <a:p>
            <a:r>
              <a:rPr lang="zh-TW" altLang="en-US" sz="2400" dirty="0">
                <a:solidFill>
                  <a:schemeClr val="bg1"/>
                </a:solidFill>
                <a:latin typeface="微軟正黑體" panose="020B0604030504040204" pitchFamily="34" charset="-120"/>
                <a:ea typeface="微軟正黑體" panose="020B0604030504040204" pitchFamily="34" charset="-120"/>
              </a:rPr>
              <a:t>色彩通道</a:t>
            </a:r>
            <a:r>
              <a:rPr lang="en-US" altLang="zh-TW" sz="2400" dirty="0">
                <a:solidFill>
                  <a:schemeClr val="bg1"/>
                </a:solidFill>
                <a:latin typeface="微軟正黑體" panose="020B0604030504040204" pitchFamily="34" charset="-120"/>
                <a:ea typeface="微軟正黑體" panose="020B0604030504040204" pitchFamily="34" charset="-120"/>
              </a:rPr>
              <a:t>0 </a:t>
            </a:r>
            <a:r>
              <a:rPr lang="en-US" altLang="zh-TW" sz="2400"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a:t>
            </a:r>
            <a:r>
              <a:rPr lang="zh-TW" altLang="en-US" sz="2400" dirty="0">
                <a:solidFill>
                  <a:schemeClr val="bg1"/>
                </a:solidFill>
                <a:latin typeface="微軟正黑體" panose="020B0604030504040204" pitchFamily="34" charset="-120"/>
                <a:ea typeface="微軟正黑體" panose="020B0604030504040204" pitchFamily="34" charset="-120"/>
              </a:rPr>
              <a:t>色彩通道</a:t>
            </a:r>
            <a:r>
              <a:rPr lang="en-US" altLang="zh-TW" sz="2400" dirty="0">
                <a:solidFill>
                  <a:schemeClr val="bg1"/>
                </a:solidFill>
                <a:latin typeface="微軟正黑體" panose="020B0604030504040204" pitchFamily="34" charset="-120"/>
                <a:ea typeface="微軟正黑體" panose="020B0604030504040204" pitchFamily="34" charset="-120"/>
              </a:rPr>
              <a:t>1</a:t>
            </a:r>
          </a:p>
          <a:p>
            <a:r>
              <a:rPr lang="zh-TW" altLang="en-US" sz="2400" dirty="0">
                <a:solidFill>
                  <a:schemeClr val="bg1"/>
                </a:solidFill>
                <a:latin typeface="微軟正黑體" panose="020B0604030504040204" pitchFamily="34" charset="-120"/>
                <a:ea typeface="微軟正黑體" panose="020B0604030504040204" pitchFamily="34" charset="-120"/>
              </a:rPr>
              <a:t>色彩通道</a:t>
            </a:r>
            <a:r>
              <a:rPr lang="en-US" altLang="zh-TW" sz="2400" dirty="0">
                <a:solidFill>
                  <a:schemeClr val="bg1"/>
                </a:solidFill>
                <a:latin typeface="微軟正黑體" panose="020B0604030504040204" pitchFamily="34" charset="-120"/>
                <a:ea typeface="微軟正黑體" panose="020B0604030504040204" pitchFamily="34" charset="-120"/>
              </a:rPr>
              <a:t>1 </a:t>
            </a:r>
            <a:r>
              <a:rPr lang="en-US" altLang="zh-TW" sz="2400"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a:t>
            </a:r>
            <a:r>
              <a:rPr lang="zh-TW" altLang="en-US" sz="2400" dirty="0">
                <a:solidFill>
                  <a:schemeClr val="bg1"/>
                </a:solidFill>
                <a:latin typeface="微軟正黑體" panose="020B0604030504040204" pitchFamily="34" charset="-120"/>
                <a:ea typeface="微軟正黑體" panose="020B0604030504040204" pitchFamily="34" charset="-120"/>
              </a:rPr>
              <a:t>色彩通道</a:t>
            </a:r>
            <a:r>
              <a:rPr lang="en-US" altLang="zh-TW" sz="2400" dirty="0">
                <a:solidFill>
                  <a:schemeClr val="bg1"/>
                </a:solidFill>
                <a:latin typeface="微軟正黑體" panose="020B0604030504040204" pitchFamily="34" charset="-120"/>
                <a:ea typeface="微軟正黑體" panose="020B0604030504040204" pitchFamily="34" charset="-120"/>
              </a:rPr>
              <a:t>2</a:t>
            </a:r>
          </a:p>
          <a:p>
            <a:r>
              <a:rPr lang="zh-TW" altLang="en-US" sz="2400" dirty="0">
                <a:solidFill>
                  <a:schemeClr val="bg1"/>
                </a:solidFill>
                <a:latin typeface="微軟正黑體" panose="020B0604030504040204" pitchFamily="34" charset="-120"/>
                <a:ea typeface="微軟正黑體" panose="020B0604030504040204" pitchFamily="34" charset="-120"/>
              </a:rPr>
              <a:t>色彩通道</a:t>
            </a:r>
            <a:r>
              <a:rPr lang="en-US" altLang="zh-TW" sz="2400" dirty="0">
                <a:solidFill>
                  <a:schemeClr val="bg1"/>
                </a:solidFill>
                <a:latin typeface="微軟正黑體" panose="020B0604030504040204" pitchFamily="34" charset="-120"/>
                <a:ea typeface="微軟正黑體" panose="020B0604030504040204" pitchFamily="34" charset="-120"/>
              </a:rPr>
              <a:t>2 </a:t>
            </a:r>
            <a:r>
              <a:rPr lang="en-US" altLang="zh-TW" sz="2400"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a:t>
            </a:r>
            <a:r>
              <a:rPr lang="zh-TW" altLang="en-US" sz="2400" dirty="0">
                <a:solidFill>
                  <a:schemeClr val="bg1"/>
                </a:solidFill>
                <a:latin typeface="微軟正黑體" panose="020B0604030504040204" pitchFamily="34" charset="-120"/>
                <a:ea typeface="微軟正黑體" panose="020B0604030504040204" pitchFamily="34" charset="-120"/>
              </a:rPr>
              <a:t>色彩通道</a:t>
            </a:r>
            <a:r>
              <a:rPr lang="en-US" altLang="zh-TW" sz="2400" dirty="0">
                <a:solidFill>
                  <a:schemeClr val="bg1"/>
                </a:solidFill>
                <a:latin typeface="微軟正黑體" panose="020B0604030504040204" pitchFamily="34" charset="-120"/>
                <a:ea typeface="微軟正黑體" panose="020B0604030504040204" pitchFamily="34" charset="-120"/>
              </a:rPr>
              <a:t>3</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
        <p:nvSpPr>
          <p:cNvPr id="5" name="矩形 4"/>
          <p:cNvSpPr/>
          <p:nvPr/>
        </p:nvSpPr>
        <p:spPr>
          <a:xfrm>
            <a:off x="7137400" y="1498600"/>
            <a:ext cx="3606800" cy="1069032"/>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834261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9050" y="798512"/>
            <a:ext cx="5105400" cy="5514975"/>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79" y="0"/>
            <a:ext cx="5257800" cy="5534025"/>
          </a:xfrm>
          <a:prstGeom prst="rect">
            <a:avLst/>
          </a:prstGeom>
          <a:ln w="50800">
            <a:noFill/>
          </a:ln>
        </p:spPr>
      </p:pic>
      <p:sp>
        <p:nvSpPr>
          <p:cNvPr id="8" name="文字方塊 7"/>
          <p:cNvSpPr txBox="1"/>
          <p:nvPr/>
        </p:nvSpPr>
        <p:spPr>
          <a:xfrm>
            <a:off x="7590972" y="88900"/>
            <a:ext cx="4499428"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然後就是開始我們的實作時間了</a:t>
            </a:r>
          </a:p>
        </p:txBody>
      </p:sp>
      <p:sp>
        <p:nvSpPr>
          <p:cNvPr id="5" name="矩形 4"/>
          <p:cNvSpPr/>
          <p:nvPr/>
        </p:nvSpPr>
        <p:spPr>
          <a:xfrm>
            <a:off x="1111250" y="3462801"/>
            <a:ext cx="840509" cy="785091"/>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接點 9"/>
          <p:cNvCxnSpPr/>
          <p:nvPr/>
        </p:nvCxnSpPr>
        <p:spPr>
          <a:xfrm>
            <a:off x="9074150" y="2916701"/>
            <a:ext cx="2160000"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文字方塊 5"/>
          <p:cNvSpPr txBox="1"/>
          <p:nvPr/>
        </p:nvSpPr>
        <p:spPr>
          <a:xfrm>
            <a:off x="2664279" y="5219094"/>
            <a:ext cx="4181929"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運用矩陣運算的概念，就可以直接裁出我們想要的大小了</a:t>
            </a:r>
          </a:p>
        </p:txBody>
      </p:sp>
    </p:spTree>
    <p:extLst>
      <p:ext uri="{BB962C8B-B14F-4D97-AF65-F5344CB8AC3E}">
        <p14:creationId xmlns:p14="http://schemas.microsoft.com/office/powerpoint/2010/main" val="23339291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38130313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p:cNvSpPr txBox="1"/>
          <p:nvPr/>
        </p:nvSpPr>
        <p:spPr>
          <a:xfrm>
            <a:off x="6388100" y="88900"/>
            <a:ext cx="5702299" cy="830997"/>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在把資料丟進模型訓練之前，需要進行一些資料預處理的步驟</a:t>
            </a:r>
            <a:endParaRPr lang="en-US" altLang="zh-TW" sz="2400" dirty="0">
              <a:solidFill>
                <a:schemeClr val="bg1"/>
              </a:solidFill>
              <a:latin typeface="微軟正黑體" panose="020B0604030504040204" pitchFamily="34" charset="-120"/>
              <a:ea typeface="微軟正黑體" panose="020B0604030504040204" pitchFamily="34" charset="-120"/>
            </a:endParaRPr>
          </a:p>
        </p:txBody>
      </p:sp>
      <p:sp>
        <p:nvSpPr>
          <p:cNvPr id="7" name="文字方塊 6"/>
          <p:cNvSpPr txBox="1"/>
          <p:nvPr/>
        </p:nvSpPr>
        <p:spPr>
          <a:xfrm>
            <a:off x="6388099" y="1028700"/>
            <a:ext cx="5702299"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對於每種不一樣的應用，也會有自己不同的資料預處理的步驟</a:t>
            </a:r>
          </a:p>
        </p:txBody>
      </p:sp>
      <p:pic>
        <p:nvPicPr>
          <p:cNvPr id="8" name="圖片 7">
            <a:extLst>
              <a:ext uri="{FF2B5EF4-FFF2-40B4-BE49-F238E27FC236}">
                <a16:creationId xmlns:a16="http://schemas.microsoft.com/office/drawing/2014/main" id="{BB50FFA5-E51A-42CD-CF89-795C096B3AF2}"/>
              </a:ext>
            </a:extLst>
          </p:cNvPr>
          <p:cNvPicPr>
            <a:picLocks noChangeAspect="1"/>
          </p:cNvPicPr>
          <p:nvPr/>
        </p:nvPicPr>
        <p:blipFill>
          <a:blip r:embed="rId2"/>
          <a:stretch>
            <a:fillRect/>
          </a:stretch>
        </p:blipFill>
        <p:spPr>
          <a:xfrm>
            <a:off x="96315" y="2301251"/>
            <a:ext cx="7478169" cy="4467849"/>
          </a:xfrm>
          <a:prstGeom prst="rect">
            <a:avLst/>
          </a:prstGeom>
        </p:spPr>
      </p:pic>
    </p:spTree>
    <p:extLst>
      <p:ext uri="{BB962C8B-B14F-4D97-AF65-F5344CB8AC3E}">
        <p14:creationId xmlns:p14="http://schemas.microsoft.com/office/powerpoint/2010/main" val="65821923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p:cNvSpPr txBox="1"/>
          <p:nvPr/>
        </p:nvSpPr>
        <p:spPr>
          <a:xfrm>
            <a:off x="6388100" y="88900"/>
            <a:ext cx="5702299" cy="830997"/>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在把資料丟進模型訓練之前，需要進行一些資料預處理的步驟</a:t>
            </a:r>
            <a:endParaRPr lang="en-US" altLang="zh-TW" sz="2400" dirty="0">
              <a:solidFill>
                <a:schemeClr val="bg1"/>
              </a:solidFill>
              <a:latin typeface="微軟正黑體" panose="020B0604030504040204" pitchFamily="34" charset="-120"/>
              <a:ea typeface="微軟正黑體" panose="020B0604030504040204" pitchFamily="34" charset="-120"/>
            </a:endParaRPr>
          </a:p>
        </p:txBody>
      </p:sp>
      <p:sp>
        <p:nvSpPr>
          <p:cNvPr id="8" name="文字方塊 7"/>
          <p:cNvSpPr txBox="1"/>
          <p:nvPr/>
        </p:nvSpPr>
        <p:spPr>
          <a:xfrm>
            <a:off x="6388099" y="1028700"/>
            <a:ext cx="5702299"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使用</a:t>
            </a:r>
            <a:r>
              <a:rPr lang="en-US" altLang="zh-TW" sz="2400" dirty="0">
                <a:solidFill>
                  <a:schemeClr val="bg1"/>
                </a:solidFill>
                <a:latin typeface="微軟正黑體" panose="020B0604030504040204" pitchFamily="34" charset="-120"/>
                <a:ea typeface="微軟正黑體" panose="020B0604030504040204" pitchFamily="34" charset="-120"/>
              </a:rPr>
              <a:t>python</a:t>
            </a:r>
            <a:r>
              <a:rPr lang="zh-TW" altLang="en-US" sz="2400" dirty="0">
                <a:solidFill>
                  <a:schemeClr val="bg1"/>
                </a:solidFill>
                <a:latin typeface="微軟正黑體" panose="020B0604030504040204" pitchFamily="34" charset="-120"/>
                <a:ea typeface="微軟正黑體" panose="020B0604030504040204" pitchFamily="34" charset="-120"/>
              </a:rPr>
              <a:t>的字典功能（</a:t>
            </a:r>
            <a:r>
              <a:rPr lang="en-US" altLang="zh-TW" sz="2400" dirty="0">
                <a:solidFill>
                  <a:schemeClr val="bg1"/>
                </a:solidFill>
                <a:latin typeface="微軟正黑體" panose="020B0604030504040204" pitchFamily="34" charset="-120"/>
                <a:ea typeface="微軟正黑體" panose="020B0604030504040204" pitchFamily="34" charset="-120"/>
              </a:rPr>
              <a:t>dictionary</a:t>
            </a:r>
            <a:r>
              <a:rPr lang="zh-TW" altLang="en-US" sz="2400" dirty="0">
                <a:solidFill>
                  <a:schemeClr val="bg1"/>
                </a:solidFill>
                <a:latin typeface="微軟正黑體" panose="020B0604030504040204" pitchFamily="34" charset="-120"/>
                <a:ea typeface="微軟正黑體" panose="020B0604030504040204" pitchFamily="34" charset="-120"/>
              </a:rPr>
              <a:t>），將分類從數字編號自動變成可讀的字串</a:t>
            </a:r>
          </a:p>
        </p:txBody>
      </p:sp>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550" y="2856139"/>
            <a:ext cx="8420100" cy="971550"/>
          </a:xfrm>
          <a:prstGeom prst="rect">
            <a:avLst/>
          </a:prstGeom>
          <a:solidFill>
            <a:schemeClr val="accent2"/>
          </a:solidFill>
          <a:ln w="50800">
            <a:solidFill>
              <a:srgbClr val="FF0000"/>
            </a:solidFill>
          </a:ln>
        </p:spPr>
      </p:pic>
    </p:spTree>
    <p:extLst>
      <p:ext uri="{BB962C8B-B14F-4D97-AF65-F5344CB8AC3E}">
        <p14:creationId xmlns:p14="http://schemas.microsoft.com/office/powerpoint/2010/main" val="6670749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322" y="301625"/>
            <a:ext cx="8420100" cy="971550"/>
          </a:xfrm>
          <a:prstGeom prst="rect">
            <a:avLst/>
          </a:prstGeom>
          <a:solidFill>
            <a:schemeClr val="accent2"/>
          </a:solidFill>
          <a:ln w="50800">
            <a:noFill/>
          </a:ln>
        </p:spPr>
      </p:pic>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322" y="1436687"/>
            <a:ext cx="8077200" cy="5000625"/>
          </a:xfrm>
          <a:prstGeom prst="rect">
            <a:avLst/>
          </a:prstGeom>
        </p:spPr>
      </p:pic>
      <p:sp>
        <p:nvSpPr>
          <p:cNvPr id="6" name="文字方塊 5"/>
          <p:cNvSpPr txBox="1"/>
          <p:nvPr/>
        </p:nvSpPr>
        <p:spPr>
          <a:xfrm>
            <a:off x="6952343" y="2436587"/>
            <a:ext cx="5109028"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所以當從標籤取值時，標籤數字編號就能夠自動地轉換成字串的方式來敘述該物件，方便使用者閱讀</a:t>
            </a:r>
          </a:p>
        </p:txBody>
      </p:sp>
      <p:cxnSp>
        <p:nvCxnSpPr>
          <p:cNvPr id="7" name="直線接點 6"/>
          <p:cNvCxnSpPr/>
          <p:nvPr/>
        </p:nvCxnSpPr>
        <p:spPr>
          <a:xfrm>
            <a:off x="1756229" y="2198914"/>
            <a:ext cx="4500000"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3127829" y="3722914"/>
            <a:ext cx="1440000"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6952343" y="3800428"/>
            <a:ext cx="5109028"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給各位同學思考看看後半部份，在取得模型預測資料後，如何使用字典功能來顯示預測資料</a:t>
            </a:r>
            <a:r>
              <a:rPr lang="en-US" altLang="zh-TW" sz="2400" dirty="0">
                <a:solidFill>
                  <a:schemeClr val="bg1"/>
                </a:solidFill>
                <a:latin typeface="微軟正黑體" panose="020B0604030504040204" pitchFamily="34" charset="-120"/>
                <a:ea typeface="微軟正黑體" panose="020B0604030504040204" pitchFamily="34" charset="-120"/>
              </a:rPr>
              <a:t>?</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cxnSp>
        <p:nvCxnSpPr>
          <p:cNvPr id="11" name="直線接點 10"/>
          <p:cNvCxnSpPr/>
          <p:nvPr/>
        </p:nvCxnSpPr>
        <p:spPr>
          <a:xfrm>
            <a:off x="6569529" y="2198914"/>
            <a:ext cx="1440000"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a:off x="5032829" y="3722914"/>
            <a:ext cx="1440000"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47061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xit" presetSubtype="21" fill="hold" nodeType="clickEffect">
                                  <p:stCondLst>
                                    <p:cond delay="0"/>
                                  </p:stCondLst>
                                  <p:childTnLst>
                                    <p:animEffect transition="out" filter="barn(inVertical)">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par>
                                <p:cTn id="25" presetID="16" presetClass="exit" presetSubtype="21" fill="hold" nodeType="withEffect">
                                  <p:stCondLst>
                                    <p:cond delay="0"/>
                                  </p:stCondLst>
                                  <p:childTnLst>
                                    <p:animEffect transition="out" filter="barn(inVertical)">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par>
                          <p:cTn id="28" fill="hold">
                            <p:stCondLst>
                              <p:cond delay="500"/>
                            </p:stCondLst>
                            <p:childTnLst>
                              <p:par>
                                <p:cTn id="29" presetID="42"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ppt_x</p:attrName>
                                        </p:attrNameLst>
                                      </p:cBhvr>
                                      <p:tavLst>
                                        <p:tav tm="0">
                                          <p:val>
                                            <p:strVal val="#ppt_x"/>
                                          </p:val>
                                        </p:tav>
                                        <p:tav tm="100000">
                                          <p:val>
                                            <p:strVal val="#ppt_x"/>
                                          </p:val>
                                        </p:tav>
                                      </p:tavLst>
                                    </p:anim>
                                    <p:anim calcmode="lin" valueType="num">
                                      <p:cBhvr>
                                        <p:cTn id="4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350517982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5" y="1477840"/>
            <a:ext cx="7975638" cy="3456110"/>
          </a:xfrm>
          <a:prstGeom prst="rect">
            <a:avLst/>
          </a:prstGeom>
        </p:spPr>
      </p:pic>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開始建立模型</a:t>
            </a:r>
          </a:p>
        </p:txBody>
      </p:sp>
      <p:sp>
        <p:nvSpPr>
          <p:cNvPr id="6" name="文字方塊 5"/>
          <p:cNvSpPr txBox="1"/>
          <p:nvPr/>
        </p:nvSpPr>
        <p:spPr>
          <a:xfrm>
            <a:off x="7620000" y="1630050"/>
            <a:ext cx="2635250"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使用線性堆疊模型</a:t>
            </a:r>
          </a:p>
        </p:txBody>
      </p:sp>
      <p:sp>
        <p:nvSpPr>
          <p:cNvPr id="8" name="文字方塊 7"/>
          <p:cNvSpPr txBox="1"/>
          <p:nvPr/>
        </p:nvSpPr>
        <p:spPr>
          <a:xfrm>
            <a:off x="7620000" y="2462075"/>
            <a:ext cx="4470400" cy="1569660"/>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設定第</a:t>
            </a:r>
            <a:r>
              <a:rPr lang="en-US" altLang="zh-TW" sz="2400" dirty="0">
                <a:solidFill>
                  <a:schemeClr val="bg1"/>
                </a:solidFill>
                <a:latin typeface="微軟正黑體" panose="020B0604030504040204" pitchFamily="34" charset="-120"/>
                <a:ea typeface="微軟正黑體" panose="020B0604030504040204" pitchFamily="34" charset="-120"/>
              </a:rPr>
              <a:t>1</a:t>
            </a:r>
            <a:r>
              <a:rPr lang="zh-TW" altLang="en-US" sz="2400" dirty="0">
                <a:solidFill>
                  <a:schemeClr val="bg1"/>
                </a:solidFill>
                <a:latin typeface="微軟正黑體" panose="020B0604030504040204" pitchFamily="34" charset="-120"/>
                <a:ea typeface="微軟正黑體" panose="020B0604030504040204" pitchFamily="34" charset="-120"/>
              </a:rPr>
              <a:t>、</a:t>
            </a:r>
            <a:r>
              <a:rPr lang="en-US" altLang="zh-TW" sz="2400" dirty="0">
                <a:solidFill>
                  <a:schemeClr val="bg1"/>
                </a:solidFill>
                <a:latin typeface="微軟正黑體" panose="020B0604030504040204" pitchFamily="34" charset="-120"/>
                <a:ea typeface="微軟正黑體" panose="020B0604030504040204" pitchFamily="34" charset="-120"/>
              </a:rPr>
              <a:t>2</a:t>
            </a:r>
            <a:r>
              <a:rPr lang="zh-TW" altLang="en-US" sz="2400" dirty="0">
                <a:solidFill>
                  <a:schemeClr val="bg1"/>
                </a:solidFill>
                <a:latin typeface="微軟正黑體" panose="020B0604030504040204" pitchFamily="34" charset="-120"/>
                <a:ea typeface="微軟正黑體" panose="020B0604030504040204" pitchFamily="34" charset="-120"/>
              </a:rPr>
              <a:t>層間的參數，像是輸入的資料是</a:t>
            </a:r>
            <a:r>
              <a:rPr lang="en-US" altLang="zh-TW" sz="2400" dirty="0">
                <a:solidFill>
                  <a:schemeClr val="bg1"/>
                </a:solidFill>
                <a:latin typeface="微軟正黑體" panose="020B0604030504040204" pitchFamily="34" charset="-120"/>
                <a:ea typeface="微軟正黑體" panose="020B0604030504040204" pitchFamily="34" charset="-120"/>
              </a:rPr>
              <a:t>32*32</a:t>
            </a:r>
            <a:r>
              <a:rPr lang="zh-TW" altLang="en-US" sz="2400" dirty="0">
                <a:solidFill>
                  <a:schemeClr val="bg1"/>
                </a:solidFill>
                <a:latin typeface="微軟正黑體" panose="020B0604030504040204" pitchFamily="34" charset="-120"/>
                <a:ea typeface="微軟正黑體" panose="020B0604030504040204" pitchFamily="34" charset="-120"/>
              </a:rPr>
              <a:t>的彩色圖片、用來處理卷積運算的特徵值是</a:t>
            </a:r>
            <a:r>
              <a:rPr lang="en-US" altLang="zh-TW" sz="2400" dirty="0">
                <a:solidFill>
                  <a:schemeClr val="bg1"/>
                </a:solidFill>
                <a:latin typeface="微軟正黑體" panose="020B0604030504040204" pitchFamily="34" charset="-120"/>
                <a:ea typeface="微軟正黑體" panose="020B0604030504040204" pitchFamily="34" charset="-120"/>
              </a:rPr>
              <a:t>3*3</a:t>
            </a:r>
            <a:r>
              <a:rPr lang="zh-TW" altLang="en-US" sz="2400" dirty="0">
                <a:solidFill>
                  <a:schemeClr val="bg1"/>
                </a:solidFill>
                <a:latin typeface="微軟正黑體" panose="020B0604030504040204" pitchFamily="34" charset="-120"/>
                <a:ea typeface="微軟正黑體" panose="020B0604030504040204" pitchFamily="34" charset="-120"/>
              </a:rPr>
              <a:t>以及激發函數等設定</a:t>
            </a:r>
          </a:p>
        </p:txBody>
      </p:sp>
      <p:sp>
        <p:nvSpPr>
          <p:cNvPr id="10" name="文字方塊 9"/>
          <p:cNvSpPr txBox="1"/>
          <p:nvPr/>
        </p:nvSpPr>
        <p:spPr>
          <a:xfrm>
            <a:off x="7620000" y="4301330"/>
            <a:ext cx="4470400"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設定第</a:t>
            </a:r>
            <a:r>
              <a:rPr lang="en-US" altLang="zh-TW" sz="2400" dirty="0">
                <a:solidFill>
                  <a:schemeClr val="bg1"/>
                </a:solidFill>
                <a:latin typeface="微軟正黑體" panose="020B0604030504040204" pitchFamily="34" charset="-120"/>
                <a:ea typeface="微軟正黑體" panose="020B0604030504040204" pitchFamily="34" charset="-120"/>
              </a:rPr>
              <a:t>2</a:t>
            </a:r>
            <a:r>
              <a:rPr lang="zh-TW" altLang="en-US" sz="2400" dirty="0">
                <a:solidFill>
                  <a:schemeClr val="bg1"/>
                </a:solidFill>
                <a:latin typeface="微軟正黑體" panose="020B0604030504040204" pitchFamily="34" charset="-120"/>
                <a:ea typeface="微軟正黑體" panose="020B0604030504040204" pitchFamily="34" charset="-120"/>
              </a:rPr>
              <a:t>、</a:t>
            </a:r>
            <a:r>
              <a:rPr lang="en-US" altLang="zh-TW" sz="2400" dirty="0">
                <a:solidFill>
                  <a:schemeClr val="bg1"/>
                </a:solidFill>
                <a:latin typeface="微軟正黑體" panose="020B0604030504040204" pitchFamily="34" charset="-120"/>
                <a:ea typeface="微軟正黑體" panose="020B0604030504040204" pitchFamily="34" charset="-120"/>
              </a:rPr>
              <a:t>3</a:t>
            </a:r>
            <a:r>
              <a:rPr lang="zh-TW" altLang="en-US" sz="2400" dirty="0">
                <a:solidFill>
                  <a:schemeClr val="bg1"/>
                </a:solidFill>
                <a:latin typeface="微軟正黑體" panose="020B0604030504040204" pitchFamily="34" charset="-120"/>
                <a:ea typeface="微軟正黑體" panose="020B0604030504040204" pitchFamily="34" charset="-120"/>
              </a:rPr>
              <a:t>層間的參數，這邊只有一個重要的設定，就是設定每次池化的大小是</a:t>
            </a:r>
            <a:r>
              <a:rPr lang="en-US" altLang="zh-TW" sz="2400" dirty="0">
                <a:solidFill>
                  <a:schemeClr val="bg1"/>
                </a:solidFill>
                <a:latin typeface="微軟正黑體" panose="020B0604030504040204" pitchFamily="34" charset="-120"/>
                <a:ea typeface="微軟正黑體" panose="020B0604030504040204" pitchFamily="34" charset="-120"/>
              </a:rPr>
              <a:t>2*2</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15078869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開始建立模型</a:t>
            </a:r>
          </a:p>
        </p:txBody>
      </p:sp>
      <p:sp>
        <p:nvSpPr>
          <p:cNvPr id="6" name="文字方塊 5"/>
          <p:cNvSpPr txBox="1"/>
          <p:nvPr/>
        </p:nvSpPr>
        <p:spPr>
          <a:xfrm>
            <a:off x="7620000" y="1880274"/>
            <a:ext cx="2971800"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再一次</a:t>
            </a:r>
            <a:r>
              <a:rPr lang="en-US" altLang="zh-TW" sz="2400" dirty="0">
                <a:solidFill>
                  <a:schemeClr val="bg1"/>
                </a:solidFill>
                <a:latin typeface="微軟正黑體" panose="020B0604030504040204" pitchFamily="34" charset="-120"/>
                <a:ea typeface="微軟正黑體" panose="020B0604030504040204" pitchFamily="34" charset="-120"/>
              </a:rPr>
              <a:t>? </a:t>
            </a:r>
            <a:r>
              <a:rPr lang="zh-TW" altLang="en-US" sz="2400" dirty="0">
                <a:solidFill>
                  <a:schemeClr val="bg1"/>
                </a:solidFill>
                <a:latin typeface="微軟正黑體" panose="020B0604030504040204" pitchFamily="34" charset="-120"/>
                <a:ea typeface="微軟正黑體" panose="020B0604030504040204" pitchFamily="34" charset="-120"/>
              </a:rPr>
              <a:t>是的，沒錯</a:t>
            </a:r>
          </a:p>
        </p:txBody>
      </p:sp>
      <p:sp>
        <p:nvSpPr>
          <p:cNvPr id="8" name="文字方塊 7"/>
          <p:cNvSpPr txBox="1"/>
          <p:nvPr/>
        </p:nvSpPr>
        <p:spPr>
          <a:xfrm>
            <a:off x="7620000" y="2787383"/>
            <a:ext cx="4470400"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設定第</a:t>
            </a:r>
            <a:r>
              <a:rPr lang="en-US" altLang="zh-TW" sz="2400" dirty="0">
                <a:solidFill>
                  <a:schemeClr val="bg1"/>
                </a:solidFill>
                <a:latin typeface="微軟正黑體" panose="020B0604030504040204" pitchFamily="34" charset="-120"/>
                <a:ea typeface="微軟正黑體" panose="020B0604030504040204" pitchFamily="34" charset="-120"/>
              </a:rPr>
              <a:t>3</a:t>
            </a:r>
            <a:r>
              <a:rPr lang="zh-TW" altLang="en-US" sz="2400" dirty="0">
                <a:solidFill>
                  <a:schemeClr val="bg1"/>
                </a:solidFill>
                <a:latin typeface="微軟正黑體" panose="020B0604030504040204" pitchFamily="34" charset="-120"/>
                <a:ea typeface="微軟正黑體" panose="020B0604030504040204" pitchFamily="34" charset="-120"/>
              </a:rPr>
              <a:t>、</a:t>
            </a:r>
            <a:r>
              <a:rPr lang="en-US" altLang="zh-TW" sz="2400" dirty="0">
                <a:solidFill>
                  <a:schemeClr val="bg1"/>
                </a:solidFill>
                <a:latin typeface="微軟正黑體" panose="020B0604030504040204" pitchFamily="34" charset="-120"/>
                <a:ea typeface="微軟正黑體" panose="020B0604030504040204" pitchFamily="34" charset="-120"/>
              </a:rPr>
              <a:t>4</a:t>
            </a:r>
            <a:r>
              <a:rPr lang="zh-TW" altLang="en-US" sz="2400" dirty="0">
                <a:solidFill>
                  <a:schemeClr val="bg1"/>
                </a:solidFill>
                <a:latin typeface="微軟正黑體" panose="020B0604030504040204" pitchFamily="34" charset="-120"/>
                <a:ea typeface="微軟正黑體" panose="020B0604030504040204" pitchFamily="34" charset="-120"/>
              </a:rPr>
              <a:t>層間的參數，我們再做一次卷積運算</a:t>
            </a:r>
          </a:p>
        </p:txBody>
      </p:sp>
      <p:sp>
        <p:nvSpPr>
          <p:cNvPr id="10" name="文字方塊 9"/>
          <p:cNvSpPr txBox="1"/>
          <p:nvPr/>
        </p:nvSpPr>
        <p:spPr>
          <a:xfrm>
            <a:off x="7620000" y="3913034"/>
            <a:ext cx="4470400"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設定第</a:t>
            </a:r>
            <a:r>
              <a:rPr lang="en-US" altLang="zh-TW" sz="2400" dirty="0">
                <a:solidFill>
                  <a:schemeClr val="bg1"/>
                </a:solidFill>
                <a:latin typeface="微軟正黑體" panose="020B0604030504040204" pitchFamily="34" charset="-120"/>
                <a:ea typeface="微軟正黑體" panose="020B0604030504040204" pitchFamily="34" charset="-120"/>
              </a:rPr>
              <a:t>4</a:t>
            </a:r>
            <a:r>
              <a:rPr lang="zh-TW" altLang="en-US" sz="2400" dirty="0">
                <a:solidFill>
                  <a:schemeClr val="bg1"/>
                </a:solidFill>
                <a:latin typeface="微軟正黑體" panose="020B0604030504040204" pitchFamily="34" charset="-120"/>
                <a:ea typeface="微軟正黑體" panose="020B0604030504040204" pitchFamily="34" charset="-120"/>
              </a:rPr>
              <a:t>、</a:t>
            </a:r>
            <a:r>
              <a:rPr lang="en-US" altLang="zh-TW" sz="2400" dirty="0">
                <a:solidFill>
                  <a:schemeClr val="bg1"/>
                </a:solidFill>
                <a:latin typeface="微軟正黑體" panose="020B0604030504040204" pitchFamily="34" charset="-120"/>
                <a:ea typeface="微軟正黑體" panose="020B0604030504040204" pitchFamily="34" charset="-120"/>
              </a:rPr>
              <a:t>5</a:t>
            </a:r>
            <a:r>
              <a:rPr lang="zh-TW" altLang="en-US" sz="2400" dirty="0">
                <a:solidFill>
                  <a:schemeClr val="bg1"/>
                </a:solidFill>
                <a:latin typeface="微軟正黑體" panose="020B0604030504040204" pitchFamily="34" charset="-120"/>
                <a:ea typeface="微軟正黑體" panose="020B0604030504040204" pitchFamily="34" charset="-120"/>
              </a:rPr>
              <a:t>層間的參數，我們一樣再做一次池化運算</a:t>
            </a:r>
          </a:p>
        </p:txBody>
      </p:sp>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2360"/>
            <a:ext cx="7571559" cy="2212040"/>
          </a:xfrm>
          <a:prstGeom prst="rect">
            <a:avLst/>
          </a:prstGeom>
        </p:spPr>
      </p:pic>
    </p:spTree>
    <p:extLst>
      <p:ext uri="{BB962C8B-B14F-4D97-AF65-F5344CB8AC3E}">
        <p14:creationId xmlns:p14="http://schemas.microsoft.com/office/powerpoint/2010/main" val="34661446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開始建立模型</a:t>
            </a:r>
          </a:p>
        </p:txBody>
      </p:sp>
      <p:sp>
        <p:nvSpPr>
          <p:cNvPr id="6" name="文字方塊 5"/>
          <p:cNvSpPr txBox="1"/>
          <p:nvPr/>
        </p:nvSpPr>
        <p:spPr>
          <a:xfrm>
            <a:off x="7620000" y="1713630"/>
            <a:ext cx="4470400"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接下來這層會把多維的資料轉換成神經網路所需要的一維資料</a:t>
            </a:r>
          </a:p>
        </p:txBody>
      </p:sp>
      <p:sp>
        <p:nvSpPr>
          <p:cNvPr id="8" name="文字方塊 7"/>
          <p:cNvSpPr txBox="1"/>
          <p:nvPr/>
        </p:nvSpPr>
        <p:spPr>
          <a:xfrm>
            <a:off x="7620000" y="2699075"/>
            <a:ext cx="4470400"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然後設定神經網路神經元個數和激發函數</a:t>
            </a:r>
          </a:p>
        </p:txBody>
      </p:sp>
      <p:sp>
        <p:nvSpPr>
          <p:cNvPr id="10" name="文字方塊 9"/>
          <p:cNvSpPr txBox="1"/>
          <p:nvPr/>
        </p:nvSpPr>
        <p:spPr>
          <a:xfrm>
            <a:off x="7620000" y="3684520"/>
            <a:ext cx="4470400"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因為只有十個輸出種類，所以最後這層一定要設定成十個輸出的神經元個數</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812" y="2111106"/>
            <a:ext cx="7332610" cy="2590126"/>
          </a:xfrm>
          <a:prstGeom prst="rect">
            <a:avLst/>
          </a:prstGeom>
        </p:spPr>
      </p:pic>
      <p:sp>
        <p:nvSpPr>
          <p:cNvPr id="9" name="文字方塊 8"/>
          <p:cNvSpPr txBox="1"/>
          <p:nvPr/>
        </p:nvSpPr>
        <p:spPr>
          <a:xfrm>
            <a:off x="3331029" y="5602100"/>
            <a:ext cx="5219193"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這樣子就設定好模型的外觀及參數了</a:t>
            </a:r>
          </a:p>
        </p:txBody>
      </p:sp>
    </p:spTree>
    <p:extLst>
      <p:ext uri="{BB962C8B-B14F-4D97-AF65-F5344CB8AC3E}">
        <p14:creationId xmlns:p14="http://schemas.microsoft.com/office/powerpoint/2010/main" val="9623522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開始建立模型</a:t>
            </a:r>
          </a:p>
        </p:txBody>
      </p:sp>
      <p:sp>
        <p:nvSpPr>
          <p:cNvPr id="8" name="文字方塊 7"/>
          <p:cNvSpPr txBox="1"/>
          <p:nvPr/>
        </p:nvSpPr>
        <p:spPr>
          <a:xfrm>
            <a:off x="406401" y="227983"/>
            <a:ext cx="8437562"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建立好模型之後，我們可以使用這個函式來看一下模型的簡介</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4800" y="948132"/>
            <a:ext cx="6916737" cy="5630467"/>
          </a:xfrm>
          <a:prstGeom prst="rect">
            <a:avLst/>
          </a:prstGeom>
        </p:spPr>
      </p:pic>
    </p:spTree>
    <p:extLst>
      <p:ext uri="{BB962C8B-B14F-4D97-AF65-F5344CB8AC3E}">
        <p14:creationId xmlns:p14="http://schemas.microsoft.com/office/powerpoint/2010/main" val="37668386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199012536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2452915" y="2650258"/>
            <a:ext cx="7111999" cy="584775"/>
          </a:xfrm>
          <a:prstGeom prst="rect">
            <a:avLst/>
          </a:prstGeom>
          <a:solidFill>
            <a:schemeClr val="accent5"/>
          </a:solidFill>
          <a:ln w="50800">
            <a:noFill/>
          </a:ln>
        </p:spPr>
        <p:txBody>
          <a:bodyPr wrap="square" rtlCol="0">
            <a:spAutoFit/>
          </a:bodyPr>
          <a:lstStyle/>
          <a:p>
            <a:r>
              <a:rPr lang="zh-TW" altLang="en-US" sz="3200" dirty="0">
                <a:solidFill>
                  <a:schemeClr val="bg1"/>
                </a:solidFill>
                <a:latin typeface="微軟正黑體" panose="020B0604030504040204" pitchFamily="34" charset="-120"/>
                <a:ea typeface="微軟正黑體" panose="020B0604030504040204" pitchFamily="34" charset="-120"/>
              </a:rPr>
              <a:t>建立好模型後，就可以開始訓練模型了</a:t>
            </a:r>
          </a:p>
        </p:txBody>
      </p:sp>
    </p:spTree>
    <p:extLst>
      <p:ext uri="{BB962C8B-B14F-4D97-AF65-F5344CB8AC3E}">
        <p14:creationId xmlns:p14="http://schemas.microsoft.com/office/powerpoint/2010/main" val="42701378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2173515" y="2523258"/>
            <a:ext cx="7821385" cy="1569660"/>
          </a:xfrm>
          <a:prstGeom prst="rect">
            <a:avLst/>
          </a:prstGeom>
          <a:solidFill>
            <a:schemeClr val="accent5"/>
          </a:solidFill>
          <a:ln w="50800">
            <a:noFill/>
          </a:ln>
        </p:spPr>
        <p:txBody>
          <a:bodyPr wrap="square" rtlCol="0">
            <a:spAutoFit/>
          </a:bodyPr>
          <a:lstStyle/>
          <a:p>
            <a:r>
              <a:rPr lang="zh-TW" altLang="en-US" sz="3200" dirty="0">
                <a:solidFill>
                  <a:schemeClr val="bg1"/>
                </a:solidFill>
                <a:latin typeface="微軟正黑體" panose="020B0604030504040204" pitchFamily="34" charset="-120"/>
                <a:ea typeface="微軟正黑體" panose="020B0604030504040204" pitchFamily="34" charset="-120"/>
              </a:rPr>
              <a:t>相較於</a:t>
            </a:r>
            <a:r>
              <a:rPr lang="en-US" altLang="zh-TW" sz="3200" dirty="0">
                <a:solidFill>
                  <a:schemeClr val="bg1"/>
                </a:solidFill>
                <a:latin typeface="微軟正黑體" panose="020B0604030504040204" pitchFamily="34" charset="-120"/>
                <a:ea typeface="微軟正黑體" panose="020B0604030504040204" pitchFamily="34" charset="-120"/>
              </a:rPr>
              <a:t>MNIST</a:t>
            </a:r>
            <a:r>
              <a:rPr lang="zh-TW" altLang="en-US" sz="3200" dirty="0">
                <a:solidFill>
                  <a:schemeClr val="bg1"/>
                </a:solidFill>
                <a:latin typeface="微軟正黑體" panose="020B0604030504040204" pitchFamily="34" charset="-120"/>
                <a:ea typeface="微軟正黑體" panose="020B0604030504040204" pitchFamily="34" charset="-120"/>
              </a:rPr>
              <a:t>的</a:t>
            </a:r>
            <a:r>
              <a:rPr lang="en-US" altLang="zh-TW" sz="3200" dirty="0">
                <a:solidFill>
                  <a:schemeClr val="bg1"/>
                </a:solidFill>
                <a:latin typeface="微軟正黑體" panose="020B0604030504040204" pitchFamily="34" charset="-120"/>
                <a:ea typeface="微軟正黑體" panose="020B0604030504040204" pitchFamily="34" charset="-120"/>
              </a:rPr>
              <a:t>203530</a:t>
            </a:r>
            <a:r>
              <a:rPr lang="zh-TW" altLang="en-US" sz="3200" dirty="0">
                <a:solidFill>
                  <a:schemeClr val="bg1"/>
                </a:solidFill>
                <a:latin typeface="微軟正黑體" panose="020B0604030504040204" pitchFamily="34" charset="-120"/>
                <a:ea typeface="微軟正黑體" panose="020B0604030504040204" pitchFamily="34" charset="-120"/>
              </a:rPr>
              <a:t>，這次的</a:t>
            </a:r>
            <a:r>
              <a:rPr lang="en-US" altLang="zh-TW" sz="3200" dirty="0">
                <a:solidFill>
                  <a:schemeClr val="bg1"/>
                </a:solidFill>
                <a:latin typeface="微軟正黑體" panose="020B0604030504040204" pitchFamily="34" charset="-120"/>
                <a:ea typeface="微軟正黑體" panose="020B0604030504040204" pitchFamily="34" charset="-120"/>
              </a:rPr>
              <a:t>CIFAR</a:t>
            </a:r>
            <a:r>
              <a:rPr lang="zh-TW" altLang="en-US" sz="3200" dirty="0">
                <a:solidFill>
                  <a:schemeClr val="bg1"/>
                </a:solidFill>
                <a:latin typeface="微軟正黑體" panose="020B0604030504040204" pitchFamily="34" charset="-120"/>
                <a:ea typeface="微軟正黑體" panose="020B0604030504040204" pitchFamily="34" charset="-120"/>
              </a:rPr>
              <a:t>竟然有</a:t>
            </a:r>
            <a:r>
              <a:rPr lang="en-US" altLang="zh-TW" sz="3200" dirty="0">
                <a:solidFill>
                  <a:schemeClr val="bg1"/>
                </a:solidFill>
                <a:latin typeface="微軟正黑體" panose="020B0604030504040204" pitchFamily="34" charset="-120"/>
                <a:ea typeface="微軟正黑體" panose="020B0604030504040204" pitchFamily="34" charset="-120"/>
              </a:rPr>
              <a:t>4224970</a:t>
            </a:r>
            <a:r>
              <a:rPr lang="zh-TW" altLang="en-US" sz="3200" dirty="0">
                <a:solidFill>
                  <a:schemeClr val="bg1"/>
                </a:solidFill>
                <a:latin typeface="微軟正黑體" panose="020B0604030504040204" pitchFamily="34" charset="-120"/>
                <a:ea typeface="微軟正黑體" panose="020B0604030504040204" pitchFamily="34" charset="-120"/>
              </a:rPr>
              <a:t>個可訓練參數（</a:t>
            </a:r>
            <a:r>
              <a:rPr lang="en-US" altLang="zh-TW" sz="3200" dirty="0">
                <a:solidFill>
                  <a:schemeClr val="bg1"/>
                </a:solidFill>
                <a:latin typeface="微軟正黑體" panose="020B0604030504040204" pitchFamily="34" charset="-120"/>
                <a:ea typeface="微軟正黑體" panose="020B0604030504040204" pitchFamily="34" charset="-120"/>
              </a:rPr>
              <a:t>20</a:t>
            </a:r>
            <a:r>
              <a:rPr lang="zh-TW" altLang="en-US" sz="3200" dirty="0">
                <a:solidFill>
                  <a:schemeClr val="bg1"/>
                </a:solidFill>
                <a:latin typeface="微軟正黑體" panose="020B0604030504040204" pitchFamily="34" charset="-120"/>
                <a:ea typeface="微軟正黑體" panose="020B0604030504040204" pitchFamily="34" charset="-120"/>
              </a:rPr>
              <a:t>倍以上），所以應該是可以預期到要等比較久的時間</a:t>
            </a:r>
          </a:p>
        </p:txBody>
      </p:sp>
    </p:spTree>
    <p:extLst>
      <p:ext uri="{BB962C8B-B14F-4D97-AF65-F5344CB8AC3E}">
        <p14:creationId xmlns:p14="http://schemas.microsoft.com/office/powerpoint/2010/main" val="40382798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D429FF-31FA-F6BE-C032-42289EA099F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0B95A29-8A6E-1306-69F9-785F7CA03BA1}"/>
              </a:ext>
            </a:extLst>
          </p:cNvPr>
          <p:cNvSpPr>
            <a:spLocks noGrp="1"/>
          </p:cNvSpPr>
          <p:nvPr>
            <p:ph idx="1"/>
          </p:nvPr>
        </p:nvSpPr>
        <p:spPr/>
        <p:txBody>
          <a:bodyPr>
            <a:normAutofit/>
          </a:bodyPr>
          <a:lstStyle/>
          <a:p>
            <a:r>
              <a:rPr lang="en-US" altLang="zh-TW" sz="2400" dirty="0"/>
              <a:t>CPU vs GPU</a:t>
            </a:r>
          </a:p>
          <a:p>
            <a:pPr lvl="1"/>
            <a:r>
              <a:rPr lang="en-US" altLang="zh-TW" sz="2000" dirty="0"/>
              <a:t>23m vs 37s</a:t>
            </a:r>
            <a:endParaRPr lang="zh-TW" altLang="en-US" sz="2000" dirty="0"/>
          </a:p>
        </p:txBody>
      </p:sp>
    </p:spTree>
    <p:extLst>
      <p:ext uri="{BB962C8B-B14F-4D97-AF65-F5344CB8AC3E}">
        <p14:creationId xmlns:p14="http://schemas.microsoft.com/office/powerpoint/2010/main" val="485242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開始訓練模型</a:t>
            </a:r>
          </a:p>
        </p:txBody>
      </p:sp>
      <p:sp>
        <p:nvSpPr>
          <p:cNvPr id="4" name="文字方塊 3"/>
          <p:cNvSpPr txBox="1"/>
          <p:nvPr/>
        </p:nvSpPr>
        <p:spPr>
          <a:xfrm>
            <a:off x="60324" y="1202812"/>
            <a:ext cx="12042776"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和</a:t>
            </a:r>
            <a:r>
              <a:rPr lang="en-US" altLang="zh-TW" sz="2400" dirty="0">
                <a:solidFill>
                  <a:schemeClr val="bg1"/>
                </a:solidFill>
                <a:latin typeface="微軟正黑體" panose="020B0604030504040204" pitchFamily="34" charset="-120"/>
                <a:ea typeface="微軟正黑體" panose="020B0604030504040204" pitchFamily="34" charset="-120"/>
              </a:rPr>
              <a:t>MNIST</a:t>
            </a:r>
            <a:r>
              <a:rPr lang="zh-TW" altLang="en-US" sz="2400" dirty="0">
                <a:solidFill>
                  <a:schemeClr val="bg1"/>
                </a:solidFill>
                <a:latin typeface="微軟正黑體" panose="020B0604030504040204" pitchFamily="34" charset="-120"/>
                <a:ea typeface="微軟正黑體" panose="020B0604030504040204" pitchFamily="34" charset="-120"/>
              </a:rPr>
              <a:t>的多層感知專題一樣，我們需要給予這個訓練程序一些設定，這些設定都會影響到剛剛提到的神經元權重及偏差調整過程</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8949" y="3667326"/>
            <a:ext cx="8620125" cy="2209800"/>
          </a:xfrm>
          <a:prstGeom prst="rect">
            <a:avLst/>
          </a:prstGeom>
        </p:spPr>
      </p:pic>
      <p:sp>
        <p:nvSpPr>
          <p:cNvPr id="7" name="文字方塊 6"/>
          <p:cNvSpPr txBox="1"/>
          <p:nvPr/>
        </p:nvSpPr>
        <p:spPr>
          <a:xfrm>
            <a:off x="47624" y="2250403"/>
            <a:ext cx="12042776"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在不同的應用中如何選擇不同的參數，這其實就涉及一些數學推導及實驗，由於課程時間有限及主要目標是帶領同學們學會使用工具，因此我們就都使用預設或是常用的參數就好</a:t>
            </a:r>
          </a:p>
        </p:txBody>
      </p:sp>
    </p:spTree>
    <p:extLst>
      <p:ext uri="{BB962C8B-B14F-4D97-AF65-F5344CB8AC3E}">
        <p14:creationId xmlns:p14="http://schemas.microsoft.com/office/powerpoint/2010/main" val="50180580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開始訓練模型</a:t>
            </a:r>
          </a:p>
        </p:txBody>
      </p:sp>
      <p:sp>
        <p:nvSpPr>
          <p:cNvPr id="5" name="文字方塊 4"/>
          <p:cNvSpPr txBox="1"/>
          <p:nvPr/>
        </p:nvSpPr>
        <p:spPr>
          <a:xfrm>
            <a:off x="261935" y="1081179"/>
            <a:ext cx="11828464"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上面兩個</a:t>
            </a:r>
            <a:r>
              <a:rPr lang="en-US" altLang="zh-TW" sz="2400" dirty="0">
                <a:solidFill>
                  <a:schemeClr val="bg1"/>
                </a:solidFill>
                <a:latin typeface="微軟正黑體" panose="020B0604030504040204" pitchFamily="34" charset="-120"/>
                <a:ea typeface="微軟正黑體" panose="020B0604030504040204" pitchFamily="34" charset="-120"/>
              </a:rPr>
              <a:t>cell</a:t>
            </a:r>
            <a:r>
              <a:rPr lang="zh-TW" altLang="en-US" sz="2400" dirty="0">
                <a:solidFill>
                  <a:schemeClr val="bg1"/>
                </a:solidFill>
                <a:latin typeface="微軟正黑體" panose="020B0604030504040204" pitchFamily="34" charset="-120"/>
                <a:ea typeface="微軟正黑體" panose="020B0604030504040204" pitchFamily="34" charset="-120"/>
              </a:rPr>
              <a:t>就是關於訓練的設定及開始訓練流程的指令，所以執行時間會比較久一點，加上這次的可訓練參數又是</a:t>
            </a:r>
            <a:r>
              <a:rPr lang="en-US" altLang="zh-TW" sz="2400" dirty="0">
                <a:solidFill>
                  <a:schemeClr val="bg1"/>
                </a:solidFill>
                <a:latin typeface="微軟正黑體" panose="020B0604030504040204" pitchFamily="34" charset="-120"/>
                <a:ea typeface="微軟正黑體" panose="020B0604030504040204" pitchFamily="34" charset="-120"/>
              </a:rPr>
              <a:t>20</a:t>
            </a:r>
            <a:r>
              <a:rPr lang="zh-TW" altLang="en-US" sz="2400" dirty="0">
                <a:solidFill>
                  <a:schemeClr val="bg1"/>
                </a:solidFill>
                <a:latin typeface="微軟正黑體" panose="020B0604030504040204" pitchFamily="34" charset="-120"/>
                <a:ea typeface="微軟正黑體" panose="020B0604030504040204" pitchFamily="34" charset="-120"/>
              </a:rPr>
              <a:t>倍以上的數量，所以就只能等等等</a:t>
            </a:r>
            <a:r>
              <a:rPr lang="en-US" altLang="zh-TW" sz="2400" dirty="0">
                <a:solidFill>
                  <a:schemeClr val="bg1"/>
                </a:solidFill>
                <a:latin typeface="微軟正黑體" panose="020B0604030504040204" pitchFamily="34" charset="-120"/>
                <a:ea typeface="微軟正黑體" panose="020B0604030504040204" pitchFamily="34" charset="-120"/>
              </a:rPr>
              <a:t>……</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
        <p:nvSpPr>
          <p:cNvPr id="6" name="文字方塊 5"/>
          <p:cNvSpPr txBox="1"/>
          <p:nvPr/>
        </p:nvSpPr>
        <p:spPr>
          <a:xfrm>
            <a:off x="7754937" y="3999710"/>
            <a:ext cx="4335462"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等待它們執行完後，就代表訓練完成了，我們就可以來看看成果了</a:t>
            </a:r>
          </a:p>
        </p:txBody>
      </p:sp>
      <p:sp>
        <p:nvSpPr>
          <p:cNvPr id="7" name="文字方塊 6"/>
          <p:cNvSpPr txBox="1"/>
          <p:nvPr/>
        </p:nvSpPr>
        <p:spPr>
          <a:xfrm>
            <a:off x="261935" y="5361322"/>
            <a:ext cx="11841163"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使用</a:t>
            </a:r>
            <a:r>
              <a:rPr lang="en-US" altLang="zh-TW" sz="2400" dirty="0" err="1">
                <a:solidFill>
                  <a:schemeClr val="bg1"/>
                </a:solidFill>
                <a:latin typeface="微軟正黑體" panose="020B0604030504040204" pitchFamily="34" charset="-120"/>
                <a:ea typeface="微軟正黑體" panose="020B0604030504040204" pitchFamily="34" charset="-120"/>
              </a:rPr>
              <a:t>model.evaluate</a:t>
            </a:r>
            <a:r>
              <a:rPr lang="en-US" altLang="zh-TW" sz="2400" dirty="0">
                <a:solidFill>
                  <a:schemeClr val="bg1"/>
                </a:solidFill>
                <a:latin typeface="微軟正黑體" panose="020B0604030504040204" pitchFamily="34" charset="-120"/>
                <a:ea typeface="微軟正黑體" panose="020B0604030504040204" pitchFamily="34" charset="-120"/>
              </a:rPr>
              <a:t>()</a:t>
            </a:r>
            <a:r>
              <a:rPr lang="zh-TW" altLang="en-US" sz="2400" dirty="0">
                <a:solidFill>
                  <a:schemeClr val="bg1"/>
                </a:solidFill>
                <a:latin typeface="微軟正黑體" panose="020B0604030504040204" pitchFamily="34" charset="-120"/>
                <a:ea typeface="微軟正黑體" panose="020B0604030504040204" pitchFamily="34" charset="-120"/>
              </a:rPr>
              <a:t>這個函式，分別將測試資料及測試資料的標籤代入，就能夠知道整體的準確率是多少</a:t>
            </a:r>
          </a:p>
        </p:txBody>
      </p:sp>
      <p:pic>
        <p:nvPicPr>
          <p:cNvPr id="4" name="圖片 3">
            <a:extLst>
              <a:ext uri="{FF2B5EF4-FFF2-40B4-BE49-F238E27FC236}">
                <a16:creationId xmlns:a16="http://schemas.microsoft.com/office/drawing/2014/main" id="{127F7634-CD8A-5065-D397-01417EFF05C6}"/>
              </a:ext>
            </a:extLst>
          </p:cNvPr>
          <p:cNvPicPr>
            <a:picLocks noChangeAspect="1"/>
          </p:cNvPicPr>
          <p:nvPr/>
        </p:nvPicPr>
        <p:blipFill>
          <a:blip r:embed="rId2"/>
          <a:stretch>
            <a:fillRect/>
          </a:stretch>
        </p:blipFill>
        <p:spPr>
          <a:xfrm>
            <a:off x="279369" y="2017599"/>
            <a:ext cx="11793596" cy="1876687"/>
          </a:xfrm>
          <a:prstGeom prst="rect">
            <a:avLst/>
          </a:prstGeom>
        </p:spPr>
      </p:pic>
    </p:spTree>
    <p:extLst>
      <p:ext uri="{BB962C8B-B14F-4D97-AF65-F5344CB8AC3E}">
        <p14:creationId xmlns:p14="http://schemas.microsoft.com/office/powerpoint/2010/main" val="13079842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開始訓練模型</a:t>
            </a:r>
          </a:p>
        </p:txBody>
      </p:sp>
      <p:sp>
        <p:nvSpPr>
          <p:cNvPr id="5" name="文字方塊 4"/>
          <p:cNvSpPr txBox="1"/>
          <p:nvPr/>
        </p:nvSpPr>
        <p:spPr>
          <a:xfrm>
            <a:off x="152400" y="677519"/>
            <a:ext cx="10399714"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我們也能代入自己想要拿來預測的資料，像是這邊是代入測試資料集的部份</a:t>
            </a:r>
          </a:p>
        </p:txBody>
      </p:sp>
      <p:pic>
        <p:nvPicPr>
          <p:cNvPr id="4" name="圖片 3">
            <a:extLst>
              <a:ext uri="{FF2B5EF4-FFF2-40B4-BE49-F238E27FC236}">
                <a16:creationId xmlns:a16="http://schemas.microsoft.com/office/drawing/2014/main" id="{002158E8-1281-3352-EF01-4531A56DA39A}"/>
              </a:ext>
            </a:extLst>
          </p:cNvPr>
          <p:cNvPicPr>
            <a:picLocks noChangeAspect="1"/>
          </p:cNvPicPr>
          <p:nvPr/>
        </p:nvPicPr>
        <p:blipFill>
          <a:blip r:embed="rId2"/>
          <a:stretch>
            <a:fillRect/>
          </a:stretch>
        </p:blipFill>
        <p:spPr>
          <a:xfrm>
            <a:off x="152400" y="1266138"/>
            <a:ext cx="8030696" cy="2372056"/>
          </a:xfrm>
          <a:prstGeom prst="rect">
            <a:avLst/>
          </a:prstGeom>
        </p:spPr>
      </p:pic>
    </p:spTree>
    <p:extLst>
      <p:ext uri="{BB962C8B-B14F-4D97-AF65-F5344CB8AC3E}">
        <p14:creationId xmlns:p14="http://schemas.microsoft.com/office/powerpoint/2010/main" val="35835223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開始訓練模型</a:t>
            </a:r>
          </a:p>
        </p:txBody>
      </p:sp>
      <p:sp>
        <p:nvSpPr>
          <p:cNvPr id="5" name="文字方塊 4"/>
          <p:cNvSpPr txBox="1"/>
          <p:nvPr/>
        </p:nvSpPr>
        <p:spPr>
          <a:xfrm>
            <a:off x="152400" y="677519"/>
            <a:ext cx="10399714"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我們也能代入自己想要拿來預測的資料，像是這邊是代入測試資料集的部份</a:t>
            </a:r>
          </a:p>
        </p:txBody>
      </p:sp>
      <p:sp>
        <p:nvSpPr>
          <p:cNvPr id="8" name="文字方塊 7"/>
          <p:cNvSpPr txBox="1"/>
          <p:nvPr/>
        </p:nvSpPr>
        <p:spPr>
          <a:xfrm>
            <a:off x="5916197" y="1841809"/>
            <a:ext cx="3479800"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接著印出預測後的答案，就可以跟一開始的標準答案比對了</a:t>
            </a:r>
          </a:p>
        </p:txBody>
      </p:sp>
      <p:sp>
        <p:nvSpPr>
          <p:cNvPr id="10" name="文字方塊 9"/>
          <p:cNvSpPr txBox="1"/>
          <p:nvPr/>
        </p:nvSpPr>
        <p:spPr>
          <a:xfrm>
            <a:off x="5916197" y="3484042"/>
            <a:ext cx="4365592"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正確答案在這裡。</a:t>
            </a:r>
            <a:endParaRPr lang="en-US" altLang="zh-TW" sz="2400" dirty="0">
              <a:solidFill>
                <a:schemeClr val="bg1"/>
              </a:solidFill>
              <a:latin typeface="微軟正黑體" panose="020B0604030504040204" pitchFamily="34" charset="-120"/>
              <a:ea typeface="微軟正黑體" panose="020B0604030504040204" pitchFamily="34" charset="-120"/>
            </a:endParaRPr>
          </a:p>
          <a:p>
            <a:r>
              <a:rPr lang="zh-TW" altLang="en-US" sz="2400" dirty="0">
                <a:solidFill>
                  <a:schemeClr val="bg1"/>
                </a:solidFill>
                <a:latin typeface="微軟正黑體" panose="020B0604030504040204" pitchFamily="34" charset="-120"/>
                <a:ea typeface="微軟正黑體" panose="020B0604030504040204" pitchFamily="34" charset="-120"/>
              </a:rPr>
              <a:t>這邊可以看到上面的預測答案有一個錯了</a:t>
            </a:r>
          </a:p>
        </p:txBody>
      </p:sp>
      <p:pic>
        <p:nvPicPr>
          <p:cNvPr id="12" name="圖片 11">
            <a:extLst>
              <a:ext uri="{FF2B5EF4-FFF2-40B4-BE49-F238E27FC236}">
                <a16:creationId xmlns:a16="http://schemas.microsoft.com/office/drawing/2014/main" id="{3FB114E1-3BFA-736C-618D-1F52AEAF3B31}"/>
              </a:ext>
            </a:extLst>
          </p:cNvPr>
          <p:cNvPicPr>
            <a:picLocks noChangeAspect="1"/>
          </p:cNvPicPr>
          <p:nvPr/>
        </p:nvPicPr>
        <p:blipFill>
          <a:blip r:embed="rId2"/>
          <a:stretch>
            <a:fillRect/>
          </a:stretch>
        </p:blipFill>
        <p:spPr>
          <a:xfrm>
            <a:off x="152400" y="1266138"/>
            <a:ext cx="5420481" cy="5430008"/>
          </a:xfrm>
          <a:prstGeom prst="rect">
            <a:avLst/>
          </a:prstGeom>
        </p:spPr>
      </p:pic>
    </p:spTree>
    <p:extLst>
      <p:ext uri="{BB962C8B-B14F-4D97-AF65-F5344CB8AC3E}">
        <p14:creationId xmlns:p14="http://schemas.microsoft.com/office/powerpoint/2010/main" val="268831365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25532776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習題</a:t>
            </a:r>
          </a:p>
        </p:txBody>
      </p:sp>
      <p:sp>
        <p:nvSpPr>
          <p:cNvPr id="3" name="內容版面配置區 2"/>
          <p:cNvSpPr>
            <a:spLocks noGrp="1"/>
          </p:cNvSpPr>
          <p:nvPr>
            <p:ph idx="1"/>
          </p:nvPr>
        </p:nvSpPr>
        <p:spPr/>
        <p:txBody>
          <a:bodyPr>
            <a:normAutofit/>
          </a:bodyPr>
          <a:lstStyle/>
          <a:p>
            <a:r>
              <a:rPr lang="zh-TW" altLang="en-US" sz="2400" dirty="0"/>
              <a:t>實作出一個函式，利用測試資料集中的</a:t>
            </a:r>
            <a:r>
              <a:rPr lang="en-US" altLang="zh-TW" sz="2400" dirty="0"/>
              <a:t>image</a:t>
            </a:r>
            <a:r>
              <a:rPr lang="zh-TW" altLang="en-US" sz="2400" dirty="0"/>
              <a:t>和</a:t>
            </a:r>
            <a:r>
              <a:rPr lang="en-US" altLang="zh-TW" sz="2400" dirty="0"/>
              <a:t>label</a:t>
            </a:r>
            <a:r>
              <a:rPr lang="zh-TW" altLang="en-US" sz="2400" dirty="0"/>
              <a:t>以及</a:t>
            </a:r>
            <a:r>
              <a:rPr lang="en-US" altLang="zh-TW" sz="2400" dirty="0"/>
              <a:t>prediction</a:t>
            </a:r>
            <a:r>
              <a:rPr lang="zh-TW" altLang="en-US" sz="2400" dirty="0"/>
              <a:t>加上</a:t>
            </a:r>
            <a:r>
              <a:rPr lang="en-US" altLang="zh-TW" sz="2400" dirty="0"/>
              <a:t>python</a:t>
            </a:r>
            <a:r>
              <a:rPr lang="zh-TW" altLang="en-US" sz="2400" dirty="0"/>
              <a:t>的</a:t>
            </a:r>
            <a:r>
              <a:rPr lang="en-US" altLang="zh-TW" sz="2400" dirty="0"/>
              <a:t>dictionary</a:t>
            </a:r>
            <a:r>
              <a:rPr lang="zh-TW" altLang="en-US" sz="2400" dirty="0"/>
              <a:t>功能完成右下圖</a:t>
            </a:r>
            <a:endParaRPr lang="en-US" altLang="zh-TW" sz="2400" dirty="0"/>
          </a:p>
          <a:p>
            <a:pPr lvl="1"/>
            <a:r>
              <a:rPr lang="en-US" altLang="zh-TW" sz="2200" dirty="0" err="1"/>
              <a:t>idx</a:t>
            </a:r>
            <a:r>
              <a:rPr lang="zh-TW" altLang="en-US" sz="2200" dirty="0"/>
              <a:t>要可以隨意指定</a:t>
            </a:r>
            <a:endParaRPr lang="en-US" altLang="zh-TW" sz="2200"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0195" y="4150090"/>
            <a:ext cx="4975906" cy="2589146"/>
          </a:xfrm>
          <a:prstGeom prst="rect">
            <a:avLst/>
          </a:prstGeom>
          <a:ln w="50800">
            <a:solidFill>
              <a:srgbClr val="FF0000"/>
            </a:solidFill>
          </a:ln>
        </p:spPr>
      </p:pic>
    </p:spTree>
    <p:extLst>
      <p:ext uri="{BB962C8B-B14F-4D97-AF65-F5344CB8AC3E}">
        <p14:creationId xmlns:p14="http://schemas.microsoft.com/office/powerpoint/2010/main" val="11197167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習題</a:t>
            </a:r>
          </a:p>
        </p:txBody>
      </p:sp>
      <p:sp>
        <p:nvSpPr>
          <p:cNvPr id="3" name="內容版面配置區 2"/>
          <p:cNvSpPr>
            <a:spLocks noGrp="1"/>
          </p:cNvSpPr>
          <p:nvPr>
            <p:ph idx="1"/>
          </p:nvPr>
        </p:nvSpPr>
        <p:spPr/>
        <p:txBody>
          <a:bodyPr>
            <a:normAutofit/>
          </a:bodyPr>
          <a:lstStyle/>
          <a:p>
            <a:r>
              <a:rPr lang="zh-TW" altLang="en-US" sz="2400" dirty="0"/>
              <a:t>將本專案作為範例，修改成“一個捲積層</a:t>
            </a:r>
            <a:r>
              <a:rPr lang="en-US" altLang="zh-TW" sz="2400" dirty="0"/>
              <a:t>+</a:t>
            </a:r>
            <a:r>
              <a:rPr lang="zh-TW" altLang="en-US" sz="2400" dirty="0"/>
              <a:t>一個池化層”和“三個捲積層</a:t>
            </a:r>
            <a:r>
              <a:rPr lang="en-US" altLang="zh-TW" sz="2400" dirty="0"/>
              <a:t>+</a:t>
            </a:r>
            <a:r>
              <a:rPr lang="zh-TW" altLang="en-US" sz="2400" dirty="0"/>
              <a:t>三個池化層”的模型</a:t>
            </a:r>
            <a:endParaRPr lang="en-US" altLang="zh-TW" sz="2400" dirty="0"/>
          </a:p>
          <a:p>
            <a:pPr lvl="1"/>
            <a:r>
              <a:rPr lang="zh-TW" altLang="en-US" sz="2200" dirty="0"/>
              <a:t>利用下圖的函式，重新測試新模型的準確度，有差很多嗎</a:t>
            </a:r>
            <a:r>
              <a:rPr lang="en-US" altLang="zh-TW" sz="2200" dirty="0"/>
              <a:t>?</a:t>
            </a:r>
          </a:p>
          <a:p>
            <a:pPr lvl="1"/>
            <a:r>
              <a:rPr lang="zh-TW" altLang="en-US" sz="2400" dirty="0"/>
              <a:t>所以會有“三個”專案來檢查</a:t>
            </a:r>
            <a:endParaRPr lang="en-US" altLang="zh-TW" sz="2400" dirty="0"/>
          </a:p>
        </p:txBody>
      </p:sp>
      <p:pic>
        <p:nvPicPr>
          <p:cNvPr id="4" name="圖片 3">
            <a:extLst>
              <a:ext uri="{FF2B5EF4-FFF2-40B4-BE49-F238E27FC236}">
                <a16:creationId xmlns:a16="http://schemas.microsoft.com/office/drawing/2014/main" id="{322D6F17-8963-332F-50AB-776B150C2955}"/>
              </a:ext>
            </a:extLst>
          </p:cNvPr>
          <p:cNvPicPr>
            <a:picLocks noChangeAspect="1"/>
          </p:cNvPicPr>
          <p:nvPr/>
        </p:nvPicPr>
        <p:blipFill>
          <a:blip r:embed="rId2"/>
          <a:stretch>
            <a:fillRect/>
          </a:stretch>
        </p:blipFill>
        <p:spPr>
          <a:xfrm>
            <a:off x="199202" y="4371713"/>
            <a:ext cx="11793596" cy="1876687"/>
          </a:xfrm>
          <a:prstGeom prst="rect">
            <a:avLst/>
          </a:prstGeom>
        </p:spPr>
      </p:pic>
    </p:spTree>
    <p:extLst>
      <p:ext uri="{BB962C8B-B14F-4D97-AF65-F5344CB8AC3E}">
        <p14:creationId xmlns:p14="http://schemas.microsoft.com/office/powerpoint/2010/main" val="24525325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93090" y="1808956"/>
            <a:ext cx="5557837"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86983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多面向">
  <a:themeElements>
    <a:clrScheme name="多面向">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多面向">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多面向">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2194</TotalTime>
  <Words>1189</Words>
  <Application>Microsoft Office PowerPoint</Application>
  <PresentationFormat>寬螢幕</PresentationFormat>
  <Paragraphs>87</Paragraphs>
  <Slides>30</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30</vt:i4>
      </vt:variant>
    </vt:vector>
  </HeadingPairs>
  <TitlesOfParts>
    <vt:vector size="36" baseType="lpstr">
      <vt:lpstr>微軟正黑體</vt:lpstr>
      <vt:lpstr>Arial</vt:lpstr>
      <vt:lpstr>Calibri</vt:lpstr>
      <vt:lpstr>Trebuchet MS</vt:lpstr>
      <vt:lpstr>Wingdings 3</vt:lpstr>
      <vt:lpstr>多面向</vt:lpstr>
      <vt:lpstr>人工智慧概論與實務</vt:lpstr>
      <vt:lpstr>專題實作：圖片物件辨識 CIFAR</vt:lpstr>
      <vt:lpstr>專題實作：圖片物件辨識 CIFAR</vt:lpstr>
      <vt:lpstr>專題實作：圖片物件辨識 CIFAR</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習題</vt:lpstr>
      <vt:lpstr>習題</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人工智慧與深度學習</dc:title>
  <dc:creator>Ray</dc:creator>
  <cp:lastModifiedBy>張哲誠</cp:lastModifiedBy>
  <cp:revision>91</cp:revision>
  <dcterms:created xsi:type="dcterms:W3CDTF">2018-09-25T15:01:53Z</dcterms:created>
  <dcterms:modified xsi:type="dcterms:W3CDTF">2026-04-23T14:20:12Z</dcterms:modified>
</cp:coreProperties>
</file>