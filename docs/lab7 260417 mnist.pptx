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2" r:id="rId1"/>
  </p:sldMasterIdLst>
  <p:notesMasterIdLst>
    <p:notesMasterId r:id="rId17"/>
  </p:notesMasterIdLst>
  <p:sldIdLst>
    <p:sldId id="256" r:id="rId2"/>
    <p:sldId id="412" r:id="rId3"/>
    <p:sldId id="413" r:id="rId4"/>
    <p:sldId id="414" r:id="rId5"/>
    <p:sldId id="406" r:id="rId6"/>
    <p:sldId id="407" r:id="rId7"/>
    <p:sldId id="408" r:id="rId8"/>
    <p:sldId id="409" r:id="rId9"/>
    <p:sldId id="415" r:id="rId10"/>
    <p:sldId id="410" r:id="rId11"/>
    <p:sldId id="411" r:id="rId12"/>
    <p:sldId id="404" r:id="rId13"/>
    <p:sldId id="333" r:id="rId14"/>
    <p:sldId id="416" r:id="rId15"/>
    <p:sldId id="259" r:id="rId1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18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DD2AE1-4F1C-4587-8B81-76212F264A12}" type="datetimeFigureOut">
              <a:rPr lang="zh-TW" altLang="en-US" smtClean="0"/>
              <a:t>2025/3/25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A9203B-478A-4F15-9385-772DE2E1D5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6580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2025/3/25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2604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2025/3/25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0743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2025/3/25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3568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2025/3/25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48287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2025/3/25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7034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2025/3/25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9870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2025/3/25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4297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2025/3/25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52152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2025/3/25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1930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2025/3/25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8261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2025/3/25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335198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2025/3/25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42502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2025/3/25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96228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2025/3/25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22792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2025/3/25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21489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2025/3/25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2767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CA501A-E6BD-46D2-BD25-59A76987027A}" type="datetimeFigureOut">
              <a:rPr lang="zh-TW" altLang="en-US" smtClean="0"/>
              <a:t>2025/3/25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069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  <p:sldLayoutId id="2147483814" r:id="rId12"/>
    <p:sldLayoutId id="2147483815" r:id="rId13"/>
    <p:sldLayoutId id="2147483816" r:id="rId14"/>
    <p:sldLayoutId id="2147483817" r:id="rId15"/>
    <p:sldLayoutId id="214748381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人工智慧概論與實務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3088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CF646129-507F-DFDB-8397-24BCF7EBA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521" y="2109604"/>
            <a:ext cx="7582958" cy="263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527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E9624D96-1569-BC27-B978-20D40B6CC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206" y="1809524"/>
            <a:ext cx="7087589" cy="323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758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0951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015"/>
          <a:stretch/>
        </p:blipFill>
        <p:spPr>
          <a:xfrm>
            <a:off x="293007" y="420914"/>
            <a:ext cx="10629900" cy="2865664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6542447" y="3545592"/>
            <a:ext cx="5301209" cy="830997"/>
          </a:xfrm>
          <a:prstGeom prst="rect">
            <a:avLst/>
          </a:prstGeom>
          <a:solidFill>
            <a:schemeClr val="accent2"/>
          </a:solidFill>
          <a:ln w="50800">
            <a:noFill/>
          </a:ln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試著寫一個函式，讓它可以同時顯示圖像以及對應的預測結果及標準答案</a:t>
            </a:r>
          </a:p>
        </p:txBody>
      </p:sp>
      <p:sp>
        <p:nvSpPr>
          <p:cNvPr id="11" name="文字方塊 10"/>
          <p:cNvSpPr txBox="1"/>
          <p:nvPr/>
        </p:nvSpPr>
        <p:spPr>
          <a:xfrm>
            <a:off x="6542446" y="4547735"/>
            <a:ext cx="5301209" cy="1569660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考量我們的需求，所以在這個函式裡面，需要幾個參數來代入：圖像、標籤、預測結果、要印第幾筆資料以及一次印幾筆資料</a:t>
            </a:r>
          </a:p>
        </p:txBody>
      </p:sp>
    </p:spTree>
    <p:extLst>
      <p:ext uri="{BB962C8B-B14F-4D97-AF65-F5344CB8AC3E}">
        <p14:creationId xmlns:p14="http://schemas.microsoft.com/office/powerpoint/2010/main" val="2995861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901" y="204107"/>
            <a:ext cx="8582025" cy="3924300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8930658" y="92549"/>
            <a:ext cx="2051668" cy="830997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這裡就是需要的參數來源</a:t>
            </a:r>
          </a:p>
        </p:txBody>
      </p:sp>
      <p:cxnSp>
        <p:nvCxnSpPr>
          <p:cNvPr id="6" name="直線接點 5"/>
          <p:cNvCxnSpPr/>
          <p:nvPr/>
        </p:nvCxnSpPr>
        <p:spPr>
          <a:xfrm flipV="1">
            <a:off x="5032961" y="750635"/>
            <a:ext cx="360000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 flipV="1">
            <a:off x="1511523" y="1227807"/>
            <a:ext cx="324000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1511523" y="1484982"/>
            <a:ext cx="216000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4915780" y="1023317"/>
            <a:ext cx="5399795" cy="461665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設定畫布大小以及對應最大可印資料量</a:t>
            </a:r>
          </a:p>
        </p:txBody>
      </p:sp>
      <p:sp>
        <p:nvSpPr>
          <p:cNvPr id="4" name="左大括弧 3"/>
          <p:cNvSpPr/>
          <p:nvPr/>
        </p:nvSpPr>
        <p:spPr>
          <a:xfrm>
            <a:off x="298450" y="1622656"/>
            <a:ext cx="698500" cy="2009544"/>
          </a:xfrm>
          <a:prstGeom prst="leftBrace">
            <a:avLst>
              <a:gd name="adj1" fmla="val 8333"/>
              <a:gd name="adj2" fmla="val 50741"/>
            </a:avLst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193901" y="4228178"/>
            <a:ext cx="11731399" cy="1938992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由於我們希望最多畫出</a:t>
            </a:r>
            <a:r>
              <a:rPr lang="en-US" altLang="zh-TW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25</a:t>
            </a:r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筆資料，所以就從</a:t>
            </a:r>
            <a:r>
              <a:rPr lang="en-US" altLang="zh-TW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5*5</a:t>
            </a:r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中，第</a:t>
            </a:r>
            <a:r>
              <a:rPr lang="en-US" altLang="zh-TW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1+i</a:t>
            </a:r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個項目依序開始畫（</a:t>
            </a:r>
            <a:r>
              <a:rPr lang="en-US" altLang="zh-TW" sz="2400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</a:t>
            </a:r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為迴圈遞加值）</a:t>
            </a:r>
            <a:endParaRPr lang="en-US" altLang="zh-TW" sz="24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接著</a:t>
            </a:r>
            <a:r>
              <a:rPr lang="en-US" altLang="zh-TW" sz="2400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idx</a:t>
            </a:r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就是預計要印資料的起始位置（</a:t>
            </a:r>
            <a:r>
              <a:rPr lang="en-US" altLang="zh-TW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index</a:t>
            </a:r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），顏色類型一樣選擇灰階的</a:t>
            </a:r>
            <a:r>
              <a:rPr lang="en-US" altLang="zh-TW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binary</a:t>
            </a:r>
          </a:p>
          <a:p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在各個子圖像上面，使用對應的</a:t>
            </a:r>
            <a:r>
              <a:rPr lang="en-US" altLang="zh-TW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index</a:t>
            </a:r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印出標籤及預測結果，並設成好字體相關屬性</a:t>
            </a:r>
            <a:endParaRPr lang="en-US" altLang="zh-TW" sz="24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最後記得</a:t>
            </a:r>
            <a:r>
              <a:rPr lang="en-US" altLang="zh-TW" sz="2400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idx</a:t>
            </a:r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也要加</a:t>
            </a:r>
            <a:r>
              <a:rPr lang="en-US" altLang="zh-TW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，才能在下一圈得到正確的資料</a:t>
            </a:r>
          </a:p>
        </p:txBody>
      </p:sp>
    </p:spTree>
    <p:extLst>
      <p:ext uri="{BB962C8B-B14F-4D97-AF65-F5344CB8AC3E}">
        <p14:creationId xmlns:p14="http://schemas.microsoft.com/office/powerpoint/2010/main" val="323369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4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015"/>
          <a:stretch/>
        </p:blipFill>
        <p:spPr>
          <a:xfrm>
            <a:off x="293007" y="738414"/>
            <a:ext cx="8280000" cy="2232166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293007" y="116592"/>
            <a:ext cx="7301593" cy="461665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所以從</a:t>
            </a:r>
            <a:r>
              <a:rPr lang="en-US" altLang="zh-TW" sz="2400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idx</a:t>
            </a:r>
            <a:r>
              <a:rPr lang="en-US" altLang="zh-TW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=0</a:t>
            </a:r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開始印起，連續</a:t>
            </a:r>
            <a:r>
              <a:rPr lang="en-US" altLang="zh-TW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筆，就是下面這個成果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907" y="3130737"/>
            <a:ext cx="8280000" cy="2378536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1905907" y="5669430"/>
            <a:ext cx="10184493" cy="830997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如果從</a:t>
            </a:r>
            <a:r>
              <a:rPr lang="en-US" altLang="zh-TW" sz="2400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idx</a:t>
            </a:r>
            <a:r>
              <a:rPr lang="en-US" altLang="zh-TW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=1</a:t>
            </a:r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開始印起，連續</a:t>
            </a:r>
            <a:r>
              <a:rPr lang="en-US" altLang="zh-TW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筆，就是上面這個成果，很明顯符合我們的需求</a:t>
            </a:r>
          </a:p>
        </p:txBody>
      </p:sp>
    </p:spTree>
    <p:extLst>
      <p:ext uri="{BB962C8B-B14F-4D97-AF65-F5344CB8AC3E}">
        <p14:creationId xmlns:p14="http://schemas.microsoft.com/office/powerpoint/2010/main" val="1736245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170089" y="116592"/>
            <a:ext cx="10534649" cy="461665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這時候也可以來找找看預測錯誤的資料，像是下面兩筆資料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089" y="646566"/>
            <a:ext cx="10506075" cy="3038475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13" y="3753350"/>
            <a:ext cx="10563225" cy="3000375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3006498" y="2302116"/>
            <a:ext cx="6137502" cy="461665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上面這筆就是標籤是</a:t>
            </a:r>
            <a:r>
              <a:rPr lang="en-US" altLang="zh-TW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，但是預測出來卻是</a:t>
            </a:r>
            <a:r>
              <a:rPr lang="en-US" altLang="zh-TW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endParaRPr lang="zh-TW" altLang="en-US" sz="24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3006498" y="5253537"/>
            <a:ext cx="6137502" cy="461665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下面這筆標籤也是</a:t>
            </a:r>
            <a:r>
              <a:rPr lang="en-US" altLang="zh-TW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，但是預測出來是</a:t>
            </a:r>
            <a:r>
              <a:rPr lang="en-US" altLang="zh-TW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9</a:t>
            </a:r>
            <a:endParaRPr lang="zh-TW" altLang="en-US" sz="24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44657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3596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66639DFC-0951-231A-3A82-6CAB65AE6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21" y="966201"/>
            <a:ext cx="7582958" cy="2638793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6904719" y="174649"/>
            <a:ext cx="5156654" cy="461665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也可以來試試另一種互動介面的方式</a:t>
            </a:r>
          </a:p>
        </p:txBody>
      </p:sp>
      <p:cxnSp>
        <p:nvCxnSpPr>
          <p:cNvPr id="9" name="直線接點 8"/>
          <p:cNvCxnSpPr/>
          <p:nvPr/>
        </p:nvCxnSpPr>
        <p:spPr>
          <a:xfrm flipV="1">
            <a:off x="1279295" y="3415382"/>
            <a:ext cx="432000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6039985" y="3101365"/>
            <a:ext cx="3612015" cy="461665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需要再加入另一個函式庫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754" y="3843565"/>
            <a:ext cx="11134725" cy="1028700"/>
          </a:xfrm>
          <a:prstGeom prst="rect">
            <a:avLst/>
          </a:prstGeom>
          <a:ln w="50800">
            <a:solidFill>
              <a:srgbClr val="FF0000"/>
            </a:solidFill>
          </a:ln>
        </p:spPr>
      </p:pic>
      <p:sp>
        <p:nvSpPr>
          <p:cNvPr id="11" name="文字方塊 10"/>
          <p:cNvSpPr txBox="1"/>
          <p:nvPr/>
        </p:nvSpPr>
        <p:spPr>
          <a:xfrm>
            <a:off x="241754" y="5110836"/>
            <a:ext cx="11134725" cy="830997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然後使用現有的函式，在外面再定義一層，讓它可以使用</a:t>
            </a:r>
            <a:r>
              <a:rPr lang="en-US" altLang="zh-TW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index</a:t>
            </a:r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來控制要顯示第幾筆資料（資料範圍還是一樣要先指定在原先的測試資料範圍內）</a:t>
            </a:r>
          </a:p>
        </p:txBody>
      </p:sp>
    </p:spTree>
    <p:extLst>
      <p:ext uri="{BB962C8B-B14F-4D97-AF65-F5344CB8AC3E}">
        <p14:creationId xmlns:p14="http://schemas.microsoft.com/office/powerpoint/2010/main" val="341167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754" y="556744"/>
            <a:ext cx="6315075" cy="2038350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6904719" y="174649"/>
            <a:ext cx="5156654" cy="461665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也可以來試試另一種互動介面的方式</a:t>
            </a:r>
          </a:p>
        </p:txBody>
      </p:sp>
      <p:cxnSp>
        <p:nvCxnSpPr>
          <p:cNvPr id="9" name="直線接點 8"/>
          <p:cNvCxnSpPr/>
          <p:nvPr/>
        </p:nvCxnSpPr>
        <p:spPr>
          <a:xfrm flipV="1">
            <a:off x="2986315" y="1093096"/>
            <a:ext cx="144000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6904719" y="874885"/>
            <a:ext cx="5156654" cy="1569660"/>
          </a:xfrm>
          <a:prstGeom prst="rect">
            <a:avLst/>
          </a:prstGeom>
          <a:solidFill>
            <a:schemeClr val="accent2"/>
          </a:solidFill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利用</a:t>
            </a:r>
            <a:r>
              <a:rPr lang="en-US" altLang="zh-TW" sz="2400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interact_manual</a:t>
            </a:r>
            <a:r>
              <a:rPr lang="en-US" altLang="zh-TW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 )</a:t>
            </a:r>
            <a:r>
              <a:rPr lang="zh-TW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這個互動功能，前半代入想要使用的函式，後半代入函式的參數及範圍，就能使用下方的拖曳介面</a:t>
            </a:r>
          </a:p>
        </p:txBody>
      </p:sp>
      <p:cxnSp>
        <p:nvCxnSpPr>
          <p:cNvPr id="12" name="直線接點 11"/>
          <p:cNvCxnSpPr/>
          <p:nvPr/>
        </p:nvCxnSpPr>
        <p:spPr>
          <a:xfrm flipV="1">
            <a:off x="4599985" y="1093096"/>
            <a:ext cx="180000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圖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4" y="2833665"/>
            <a:ext cx="5400000" cy="3534841"/>
          </a:xfrm>
          <a:prstGeom prst="rect">
            <a:avLst/>
          </a:prstGeom>
          <a:ln w="50800">
            <a:solidFill>
              <a:srgbClr val="FF0000"/>
            </a:solidFill>
          </a:ln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9985" y="2833665"/>
            <a:ext cx="5400000" cy="3529518"/>
          </a:xfrm>
          <a:prstGeom prst="rect">
            <a:avLst/>
          </a:prstGeom>
          <a:ln w="508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95605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517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習題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/>
              <a:t>設計一個迴圈，自動地從資料集找出所有誤判的組合並顯示出來</a:t>
            </a:r>
            <a:endParaRPr lang="en-US" altLang="zh-TW" sz="2400" dirty="0"/>
          </a:p>
          <a:p>
            <a:pPr lvl="1"/>
            <a:r>
              <a:rPr lang="en-US" altLang="zh-TW" sz="2200" dirty="0" err="1"/>
              <a:t>plot_images_labels_prediction</a:t>
            </a:r>
            <a:r>
              <a:rPr lang="en-US" altLang="zh-TW" sz="2200" dirty="0"/>
              <a:t>(</a:t>
            </a:r>
            <a:r>
              <a:rPr lang="en-US" altLang="zh-TW" sz="2200" dirty="0" err="1"/>
              <a:t>x_test_image</a:t>
            </a:r>
            <a:r>
              <a:rPr lang="en-US" altLang="zh-TW" sz="2200" dirty="0"/>
              <a:t>, </a:t>
            </a:r>
            <a:r>
              <a:rPr lang="en-US" altLang="zh-TW" sz="2200" dirty="0" err="1"/>
              <a:t>y_test_label</a:t>
            </a:r>
            <a:r>
              <a:rPr lang="en-US" altLang="zh-TW" sz="2200" dirty="0"/>
              <a:t>, prediction, </a:t>
            </a:r>
            <a:r>
              <a:rPr lang="zh-TW" altLang="en-US" sz="2200" dirty="0"/>
              <a:t>答案</a:t>
            </a:r>
            <a:r>
              <a:rPr lang="en-US" altLang="zh-TW" sz="2200" dirty="0"/>
              <a:t>, </a:t>
            </a:r>
            <a:r>
              <a:rPr lang="zh-TW" altLang="en-US" sz="2200" dirty="0"/>
              <a:t>預測錯誤的值</a:t>
            </a:r>
            <a:r>
              <a:rPr lang="en-US" altLang="zh-TW" sz="2200" dirty="0"/>
              <a:t>, </a:t>
            </a:r>
            <a:r>
              <a:rPr lang="en-US" altLang="zh-TW" sz="2200" dirty="0" err="1"/>
              <a:t>num</a:t>
            </a:r>
            <a:r>
              <a:rPr lang="en-US" altLang="zh-TW" sz="2200" dirty="0"/>
              <a:t>)</a:t>
            </a:r>
          </a:p>
          <a:p>
            <a:pPr lvl="1"/>
            <a:r>
              <a:rPr lang="en-US" altLang="zh-TW" sz="2200" dirty="0" err="1"/>
              <a:t>num</a:t>
            </a:r>
            <a:r>
              <a:rPr lang="zh-TW" altLang="en-US" sz="2200" dirty="0"/>
              <a:t>一樣設最大</a:t>
            </a:r>
            <a:r>
              <a:rPr lang="en-US" altLang="zh-TW" sz="2200" dirty="0"/>
              <a:t>25</a:t>
            </a:r>
            <a:r>
              <a:rPr lang="zh-TW" altLang="en-US" sz="2200" dirty="0"/>
              <a:t>就可以了</a:t>
            </a:r>
            <a:endParaRPr lang="en-US" altLang="zh-TW" sz="2200" dirty="0"/>
          </a:p>
          <a:p>
            <a:pPr lvl="1"/>
            <a:r>
              <a:rPr lang="zh-TW" altLang="en-US" sz="2200" dirty="0">
                <a:solidFill>
                  <a:srgbClr val="FF0000"/>
                </a:solidFill>
              </a:rPr>
              <a:t>輸出格式需依照下圖的範例</a:t>
            </a:r>
            <a:endParaRPr lang="en-US" altLang="zh-TW" sz="2200" dirty="0">
              <a:solidFill>
                <a:srgbClr val="FF0000"/>
              </a:solidFill>
            </a:endParaRPr>
          </a:p>
          <a:p>
            <a:pPr lvl="1"/>
            <a:endParaRPr lang="en-US" altLang="zh-TW" sz="2200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015"/>
          <a:stretch/>
        </p:blipFill>
        <p:spPr>
          <a:xfrm>
            <a:off x="4788807" y="104481"/>
            <a:ext cx="7200000" cy="1941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716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習題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/>
              <a:t>設計一個迴圈，自動地從資料集找出所有誤判的組合並顯示出來</a:t>
            </a:r>
            <a:endParaRPr lang="en-US" altLang="zh-TW" sz="2400" dirty="0"/>
          </a:p>
          <a:p>
            <a:pPr lvl="1"/>
            <a:r>
              <a:rPr lang="en-US" altLang="zh-TW" sz="2200" dirty="0" err="1"/>
              <a:t>plot_images_labels_prediction</a:t>
            </a:r>
            <a:r>
              <a:rPr lang="en-US" altLang="zh-TW" sz="2200" dirty="0"/>
              <a:t>(</a:t>
            </a:r>
            <a:r>
              <a:rPr lang="en-US" altLang="zh-TW" sz="2200" dirty="0" err="1"/>
              <a:t>x_test_image</a:t>
            </a:r>
            <a:r>
              <a:rPr lang="en-US" altLang="zh-TW" sz="2200" dirty="0"/>
              <a:t>, </a:t>
            </a:r>
            <a:r>
              <a:rPr lang="en-US" altLang="zh-TW" sz="2200" dirty="0" err="1"/>
              <a:t>y_test_label</a:t>
            </a:r>
            <a:r>
              <a:rPr lang="en-US" altLang="zh-TW" sz="2200" dirty="0"/>
              <a:t>, prediction, 5, 3, 1)</a:t>
            </a:r>
          </a:p>
          <a:p>
            <a:pPr lvl="1"/>
            <a:endParaRPr lang="en-US" altLang="zh-TW" sz="2200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015"/>
          <a:stretch/>
        </p:blipFill>
        <p:spPr>
          <a:xfrm>
            <a:off x="4788807" y="104481"/>
            <a:ext cx="7200000" cy="1941014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207" y="4093501"/>
            <a:ext cx="2880000" cy="2412679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1737168" y="4093501"/>
            <a:ext cx="2501900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zh-TW" dirty="0"/>
              <a:t>id=340, label=5, pre=3</a:t>
            </a:r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6535" y="4093500"/>
            <a:ext cx="2880000" cy="2412679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6249796" y="4105075"/>
            <a:ext cx="1717232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/>
              <a:t>=340, l=5, p=3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74095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090" y="1808956"/>
            <a:ext cx="5557837" cy="324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18698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多面向">
  <a:themeElements>
    <a:clrScheme name="多面向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多面向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多面向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2080</TotalTime>
  <Words>494</Words>
  <Application>Microsoft Office PowerPoint</Application>
  <PresentationFormat>寬螢幕</PresentationFormat>
  <Paragraphs>29</Paragraphs>
  <Slides>15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1" baseType="lpstr">
      <vt:lpstr>微軟正黑體</vt:lpstr>
      <vt:lpstr>Arial</vt:lpstr>
      <vt:lpstr>Calibri</vt:lpstr>
      <vt:lpstr>Trebuchet MS</vt:lpstr>
      <vt:lpstr>Wingdings 3</vt:lpstr>
      <vt:lpstr>多面向</vt:lpstr>
      <vt:lpstr>人工智慧概論與實務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習題</vt:lpstr>
      <vt:lpstr>習題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人工智慧與深度學習</dc:title>
  <dc:creator>Ray</dc:creator>
  <cp:lastModifiedBy>張哲誠</cp:lastModifiedBy>
  <cp:revision>85</cp:revision>
  <dcterms:created xsi:type="dcterms:W3CDTF">2018-09-25T15:01:53Z</dcterms:created>
  <dcterms:modified xsi:type="dcterms:W3CDTF">2025-03-24T18:06:27Z</dcterms:modified>
</cp:coreProperties>
</file>