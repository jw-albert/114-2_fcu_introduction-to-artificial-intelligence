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4"/>
  </p:notesMasterIdLst>
  <p:sldIdLst>
    <p:sldId id="256" r:id="rId2"/>
    <p:sldId id="365" r:id="rId3"/>
    <p:sldId id="366" r:id="rId4"/>
    <p:sldId id="367" r:id="rId5"/>
    <p:sldId id="368" r:id="rId6"/>
    <p:sldId id="369" r:id="rId7"/>
    <p:sldId id="370" r:id="rId8"/>
    <p:sldId id="371" r:id="rId9"/>
    <p:sldId id="339" r:id="rId10"/>
    <p:sldId id="333" r:id="rId11"/>
    <p:sldId id="259" r:id="rId12"/>
    <p:sldId id="30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A93C9C-D7CB-4F44-A8A3-46CDD43B37BC}" v="102" dt="2022-03-09T04:56:14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cchang@o365.fcu.edu.tw" userId="5d6e92af-707e-44d9-a48f-9a80309f0b3d" providerId="ADAL" clId="{B4A93C9C-D7CB-4F44-A8A3-46CDD43B37BC}"/>
    <pc:docChg chg="custSel delSld modSld">
      <pc:chgData name="checchang@o365.fcu.edu.tw" userId="5d6e92af-707e-44d9-a48f-9a80309f0b3d" providerId="ADAL" clId="{B4A93C9C-D7CB-4F44-A8A3-46CDD43B37BC}" dt="2022-03-09T04:56:26.413" v="332" actId="20577"/>
      <pc:docMkLst>
        <pc:docMk/>
      </pc:docMkLst>
      <pc:sldChg chg="delSp modSp mod">
        <pc:chgData name="checchang@o365.fcu.edu.tw" userId="5d6e92af-707e-44d9-a48f-9a80309f0b3d" providerId="ADAL" clId="{B4A93C9C-D7CB-4F44-A8A3-46CDD43B37BC}" dt="2022-03-09T04:56:26.413" v="332" actId="20577"/>
        <pc:sldMkLst>
          <pc:docMk/>
          <pc:sldMk cId="1119716787" sldId="333"/>
        </pc:sldMkLst>
        <pc:spChg chg="mod">
          <ac:chgData name="checchang@o365.fcu.edu.tw" userId="5d6e92af-707e-44d9-a48f-9a80309f0b3d" providerId="ADAL" clId="{B4A93C9C-D7CB-4F44-A8A3-46CDD43B37BC}" dt="2022-03-09T04:56:26.413" v="332" actId="20577"/>
          <ac:spMkLst>
            <pc:docMk/>
            <pc:sldMk cId="1119716787" sldId="333"/>
            <ac:spMk id="3" creationId="{00000000-0000-0000-0000-000000000000}"/>
          </ac:spMkLst>
        </pc:spChg>
        <pc:graphicFrameChg chg="del">
          <ac:chgData name="checchang@o365.fcu.edu.tw" userId="5d6e92af-707e-44d9-a48f-9a80309f0b3d" providerId="ADAL" clId="{B4A93C9C-D7CB-4F44-A8A3-46CDD43B37BC}" dt="2022-03-09T04:52:45.017" v="2" actId="478"/>
          <ac:graphicFrameMkLst>
            <pc:docMk/>
            <pc:sldMk cId="1119716787" sldId="333"/>
            <ac:graphicFrameMk id="6" creationId="{00000000-0000-0000-0000-000000000000}"/>
          </ac:graphicFrameMkLst>
        </pc:graphicFrameChg>
        <pc:picChg chg="del">
          <ac:chgData name="checchang@o365.fcu.edu.tw" userId="5d6e92af-707e-44d9-a48f-9a80309f0b3d" providerId="ADAL" clId="{B4A93C9C-D7CB-4F44-A8A3-46CDD43B37BC}" dt="2022-03-09T04:52:42.833" v="1" actId="478"/>
          <ac:picMkLst>
            <pc:docMk/>
            <pc:sldMk cId="1119716787" sldId="333"/>
            <ac:picMk id="4" creationId="{00000000-0000-0000-0000-000000000000}"/>
          </ac:picMkLst>
        </pc:picChg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2035441451" sldId="372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1077343336" sldId="373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1812099070" sldId="374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2945739158" sldId="375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4271915246" sldId="376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1398311974" sldId="377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4192030768" sldId="378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89311460" sldId="379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325774475" sldId="380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2586825255" sldId="381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2122015966" sldId="382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4037423895" sldId="383"/>
        </pc:sldMkLst>
      </pc:sldChg>
      <pc:sldChg chg="del">
        <pc:chgData name="checchang@o365.fcu.edu.tw" userId="5d6e92af-707e-44d9-a48f-9a80309f0b3d" providerId="ADAL" clId="{B4A93C9C-D7CB-4F44-A8A3-46CDD43B37BC}" dt="2022-03-09T04:52:39.070" v="0" actId="47"/>
        <pc:sldMkLst>
          <pc:docMk/>
          <pc:sldMk cId="4142254300" sldId="3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D2AE1-4F1C-4587-8B81-76212F264A12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9203B-478A-4F15-9385-772DE2E1D5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58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74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6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2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87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215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9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2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51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2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27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14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6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501A-E6BD-46D2-BD25-59A76987027A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人工智慧概論與實務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非監督式學習範例實作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分群演算法</a:t>
            </a:r>
            <a:endParaRPr lang="en-US" altLang="zh-TW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是一個非監督式的學習方法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事前設定群集數量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隨機挑選群集中心，其餘各點依距離決定所屬群集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經由各群集質量中心為依據，更改群集中心，其餘各點再次依距離決定所屬群集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重覆以上步驟，當分群不再變動時，即達到分群最佳化</a:t>
            </a:r>
          </a:p>
        </p:txBody>
      </p:sp>
      <p:cxnSp>
        <p:nvCxnSpPr>
          <p:cNvPr id="4" name="直線接點 3"/>
          <p:cNvCxnSpPr/>
          <p:nvPr/>
        </p:nvCxnSpPr>
        <p:spPr>
          <a:xfrm flipV="1">
            <a:off x="806104" y="4042569"/>
            <a:ext cx="893248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1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505700" y="236137"/>
            <a:ext cx="4598752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所以我們就來假設一個有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個點的小分群問題，利用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分成兩群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37" y="1143000"/>
            <a:ext cx="8608302" cy="36703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000850" y="1406025"/>
            <a:ext cx="23778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載入需要的函式庫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975950" y="2129925"/>
            <a:ext cx="27334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個點整理至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之中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175350" y="2795307"/>
            <a:ext cx="446065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sz="20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sklearn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的內建功能進行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分群，並將預設分群數設為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498950" y="3617493"/>
            <a:ext cx="30509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最後將分群的結果印出來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7505700" y="4182342"/>
            <a:ext cx="3979525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可以發現前七個是在第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群，然後後七個是在另外一群</a:t>
            </a:r>
          </a:p>
        </p:txBody>
      </p:sp>
    </p:spTree>
    <p:extLst>
      <p:ext uri="{BB962C8B-B14F-4D97-AF65-F5344CB8AC3E}">
        <p14:creationId xmlns:p14="http://schemas.microsoft.com/office/powerpoint/2010/main" val="395192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2" y="236137"/>
            <a:ext cx="8319675" cy="629533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750300" y="236137"/>
            <a:ext cx="3354152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是不是只用數字來看會比較沒有感覺，所以我們就利用同一個範例來進行圖解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4594450" y="453893"/>
            <a:ext cx="331765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載入需要的函式庫（這次多了一個輔助製圖的函式庫）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353650" y="1530839"/>
            <a:ext cx="27334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個點整理至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之中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594450" y="2127938"/>
            <a:ext cx="2077907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個點畫出來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5633403" y="4121838"/>
            <a:ext cx="5999797" cy="1015663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這邊可以看得出來，由於我們一開始是故意將兩個分群假設的比較分散，所以其實肉眼也能看得出來應該要怎麼分群</a:t>
            </a:r>
          </a:p>
        </p:txBody>
      </p:sp>
    </p:spTree>
    <p:extLst>
      <p:ext uri="{BB962C8B-B14F-4D97-AF65-F5344CB8AC3E}">
        <p14:creationId xmlns:p14="http://schemas.microsoft.com/office/powerpoint/2010/main" val="240392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8" y="236136"/>
            <a:ext cx="7634985" cy="641866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750300" y="236137"/>
            <a:ext cx="3354152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是不是只用數字來看會比較沒有感覺，所以我們就利用同一個範例來進行圖解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4810350" y="136025"/>
            <a:ext cx="3406550" cy="1015663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sz="20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sklearn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的內建功能進行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分群，並將預設分群數設為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810350" y="1746938"/>
            <a:ext cx="340655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個點畫出來，同時顏色改採用分群的標籤來指定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5750401" y="4617138"/>
            <a:ext cx="5999797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的兩個分群就完成了（兩個不同顏色），有沒有跟你原先想像的一樣</a:t>
            </a:r>
          </a:p>
        </p:txBody>
      </p:sp>
    </p:spTree>
    <p:extLst>
      <p:ext uri="{BB962C8B-B14F-4D97-AF65-F5344CB8AC3E}">
        <p14:creationId xmlns:p14="http://schemas.microsoft.com/office/powerpoint/2010/main" val="254160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8750300" y="236137"/>
            <a:ext cx="3354152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最後，我們再將這個範例往下延伸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4" y="128587"/>
            <a:ext cx="6340475" cy="663567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013532" y="390025"/>
            <a:ext cx="2314368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載入需要的函式庫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067364" y="1387641"/>
            <a:ext cx="60481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這次不是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個點，我們改用隨機的方式產生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5013532" y="1932766"/>
            <a:ext cx="2454068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將這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個點畫出來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5664200" y="4194628"/>
            <a:ext cx="411480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個點的話，應該沒有辦法用肉眼看出來應該要怎麼分群了吧（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2381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7" y="184988"/>
            <a:ext cx="7612793" cy="639361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750300" y="236137"/>
            <a:ext cx="3354152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最後，我們再將這個範例往下延伸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4810350" y="313825"/>
            <a:ext cx="3406550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利用內建功能進行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分群，並將預設分群數設為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810350" y="1746938"/>
            <a:ext cx="62640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個點畫出來，同時顏色改採用分群的標籤來指定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6182201" y="3842438"/>
            <a:ext cx="4650899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的兩個分群就完成了（兩個不同顏色），有沒有跟你原先想像的一樣</a:t>
            </a:r>
          </a:p>
        </p:txBody>
      </p:sp>
    </p:spTree>
    <p:extLst>
      <p:ext uri="{BB962C8B-B14F-4D97-AF65-F5344CB8AC3E}">
        <p14:creationId xmlns:p14="http://schemas.microsoft.com/office/powerpoint/2010/main" val="91828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4" y="236137"/>
            <a:ext cx="7394575" cy="638103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750300" y="236137"/>
            <a:ext cx="3354152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最後，我們再將這個範例往下延伸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4810350" y="543913"/>
            <a:ext cx="34065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這時候把預設分群數改設為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72475" y="1385774"/>
            <a:ext cx="3571650" cy="40011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一樣用分群的標籤來指定顏色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6287712" y="3944038"/>
            <a:ext cx="3076099" cy="707886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的五個分群就完成了，有沒有很方便呢</a:t>
            </a:r>
          </a:p>
        </p:txBody>
      </p:sp>
    </p:spTree>
    <p:extLst>
      <p:ext uri="{BB962C8B-B14F-4D97-AF65-F5344CB8AC3E}">
        <p14:creationId xmlns:p14="http://schemas.microsoft.com/office/powerpoint/2010/main" val="274970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32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設計一個</a:t>
            </a:r>
            <a:r>
              <a:rPr lang="en-US" altLang="zh-TW" sz="2400" dirty="0"/>
              <a:t>function</a:t>
            </a:r>
            <a:r>
              <a:rPr lang="zh-TW" altLang="en-US" sz="2400" dirty="0"/>
              <a:t>，讓我們可以快速地指定：</a:t>
            </a:r>
            <a:endParaRPr lang="en-US" altLang="zh-TW" sz="2400" dirty="0"/>
          </a:p>
          <a:p>
            <a:pPr lvl="1"/>
            <a:r>
              <a:rPr lang="zh-TW" altLang="en-US" sz="2000" dirty="0"/>
              <a:t>指定樣本範圍（</a:t>
            </a:r>
            <a:r>
              <a:rPr lang="en-US" altLang="zh-TW" sz="2000" dirty="0"/>
              <a:t>x</a:t>
            </a:r>
            <a:r>
              <a:rPr lang="zh-TW" altLang="en-US" sz="2000" dirty="0"/>
              <a:t>、</a:t>
            </a:r>
            <a:r>
              <a:rPr lang="en-US" altLang="zh-TW" sz="2000" dirty="0"/>
              <a:t>y</a:t>
            </a:r>
            <a:r>
              <a:rPr lang="zh-TW" altLang="en-US" sz="2000" dirty="0"/>
              <a:t>軸）</a:t>
            </a:r>
            <a:endParaRPr lang="en-US" altLang="zh-TW" sz="2000" dirty="0"/>
          </a:p>
          <a:p>
            <a:pPr lvl="1"/>
            <a:r>
              <a:rPr lang="zh-TW" altLang="en-US" sz="2000" dirty="0"/>
              <a:t>指定隨機樣本數</a:t>
            </a:r>
            <a:endParaRPr lang="en-US" altLang="zh-TW" sz="2000" dirty="0"/>
          </a:p>
          <a:p>
            <a:pPr lvl="1"/>
            <a:r>
              <a:rPr lang="zh-TW" altLang="en-US" sz="2000" dirty="0"/>
              <a:t>指定分群數（</a:t>
            </a:r>
            <a:r>
              <a:rPr lang="en-US" altLang="zh-TW" sz="2000" dirty="0"/>
              <a:t>k</a:t>
            </a:r>
            <a:r>
              <a:rPr lang="zh-TW" altLang="en-US" sz="2000" dirty="0"/>
              <a:t>值）</a:t>
            </a:r>
            <a:endParaRPr lang="en-US" altLang="zh-TW" sz="2000" dirty="0"/>
          </a:p>
          <a:p>
            <a:pPr lvl="1"/>
            <a:r>
              <a:rPr lang="en-US" altLang="zh-TW" sz="2000" dirty="0" err="1"/>
              <a:t>abc</a:t>
            </a:r>
            <a:r>
              <a:rPr lang="en-US" altLang="zh-TW" sz="2000" dirty="0"/>
              <a:t>(x</a:t>
            </a:r>
            <a:r>
              <a:rPr lang="zh-TW" altLang="en-US" sz="2000" dirty="0"/>
              <a:t>下限</a:t>
            </a:r>
            <a:r>
              <a:rPr lang="en-US" altLang="zh-TW" sz="2000" dirty="0"/>
              <a:t>, x</a:t>
            </a:r>
            <a:r>
              <a:rPr lang="zh-TW" altLang="en-US" sz="2000" dirty="0"/>
              <a:t>上限</a:t>
            </a:r>
            <a:r>
              <a:rPr lang="en-US" altLang="zh-TW" sz="2000" dirty="0"/>
              <a:t>, y</a:t>
            </a:r>
            <a:r>
              <a:rPr lang="zh-TW" altLang="en-US" sz="2000" dirty="0"/>
              <a:t>下限</a:t>
            </a:r>
            <a:r>
              <a:rPr lang="en-US" altLang="zh-TW" sz="2000" dirty="0"/>
              <a:t>, y</a:t>
            </a:r>
            <a:r>
              <a:rPr lang="zh-TW" altLang="en-US" sz="2000" dirty="0"/>
              <a:t>上限</a:t>
            </a:r>
            <a:r>
              <a:rPr lang="en-US" altLang="zh-TW" sz="2000" dirty="0"/>
              <a:t>, </a:t>
            </a:r>
            <a:r>
              <a:rPr lang="zh-TW" altLang="en-US" sz="2000" dirty="0"/>
              <a:t>隨機樣本數</a:t>
            </a:r>
            <a:r>
              <a:rPr lang="en-US" altLang="zh-TW" sz="2000" dirty="0"/>
              <a:t>, </a:t>
            </a:r>
            <a:r>
              <a:rPr lang="zh-TW" altLang="en-US" sz="2000" dirty="0"/>
              <a:t>分群數</a:t>
            </a:r>
            <a:r>
              <a:rPr lang="en-US" altLang="zh-TW" sz="2000" dirty="0"/>
              <a:t>)</a:t>
            </a:r>
          </a:p>
          <a:p>
            <a:pPr lvl="1"/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11971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399"/>
            <a:ext cx="5627214" cy="4559131"/>
          </a:xfrm>
        </p:spPr>
      </p:pic>
      <p:sp>
        <p:nvSpPr>
          <p:cNvPr id="5" name="文字方塊 4"/>
          <p:cNvSpPr txBox="1"/>
          <p:nvPr/>
        </p:nvSpPr>
        <p:spPr>
          <a:xfrm>
            <a:off x="6447033" y="2456933"/>
            <a:ext cx="372888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函式定義及呼叫方法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7170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1852</TotalTime>
  <Words>559</Words>
  <Application>Microsoft Office PowerPoint</Application>
  <PresentationFormat>寬螢幕</PresentationFormat>
  <Paragraphs>44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Arial</vt:lpstr>
      <vt:lpstr>Calibri</vt:lpstr>
      <vt:lpstr>Trebuchet MS</vt:lpstr>
      <vt:lpstr>Wingdings 3</vt:lpstr>
      <vt:lpstr>多面向</vt:lpstr>
      <vt:lpstr>人工智慧概論與實務</vt:lpstr>
      <vt:lpstr>非監督式學習範例實作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習題</vt:lpstr>
      <vt:lpstr>PowerPoint 簡報</vt:lpstr>
      <vt:lpstr>操作說明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人工智慧與深度學習</dc:title>
  <dc:creator>Ray</dc:creator>
  <cp:lastModifiedBy>張哲誠</cp:lastModifiedBy>
  <cp:revision>77</cp:revision>
  <dcterms:created xsi:type="dcterms:W3CDTF">2018-09-25T15:01:53Z</dcterms:created>
  <dcterms:modified xsi:type="dcterms:W3CDTF">2025-03-05T04:13:12Z</dcterms:modified>
</cp:coreProperties>
</file>