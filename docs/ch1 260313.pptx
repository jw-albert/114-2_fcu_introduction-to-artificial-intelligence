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8" r:id="rId1"/>
  </p:sldMasterIdLst>
  <p:notesMasterIdLst>
    <p:notesMasterId r:id="rId49"/>
  </p:notesMasterIdLst>
  <p:sldIdLst>
    <p:sldId id="256" r:id="rId2"/>
    <p:sldId id="257" r:id="rId3"/>
    <p:sldId id="258" r:id="rId4"/>
    <p:sldId id="259" r:id="rId5"/>
    <p:sldId id="260" r:id="rId6"/>
    <p:sldId id="261" r:id="rId7"/>
    <p:sldId id="262" r:id="rId8"/>
    <p:sldId id="264" r:id="rId9"/>
    <p:sldId id="263" r:id="rId10"/>
    <p:sldId id="267" r:id="rId11"/>
    <p:sldId id="269" r:id="rId12"/>
    <p:sldId id="279" r:id="rId13"/>
    <p:sldId id="280" r:id="rId14"/>
    <p:sldId id="281" r:id="rId15"/>
    <p:sldId id="282" r:id="rId16"/>
    <p:sldId id="283" r:id="rId17"/>
    <p:sldId id="287" r:id="rId18"/>
    <p:sldId id="274" r:id="rId19"/>
    <p:sldId id="288" r:id="rId20"/>
    <p:sldId id="289" r:id="rId21"/>
    <p:sldId id="290" r:id="rId22"/>
    <p:sldId id="291" r:id="rId23"/>
    <p:sldId id="299" r:id="rId24"/>
    <p:sldId id="300" r:id="rId25"/>
    <p:sldId id="292" r:id="rId26"/>
    <p:sldId id="293" r:id="rId27"/>
    <p:sldId id="294" r:id="rId28"/>
    <p:sldId id="295" r:id="rId29"/>
    <p:sldId id="296" r:id="rId30"/>
    <p:sldId id="297" r:id="rId31"/>
    <p:sldId id="298" r:id="rId32"/>
    <p:sldId id="301" r:id="rId33"/>
    <p:sldId id="302" r:id="rId34"/>
    <p:sldId id="303" r:id="rId35"/>
    <p:sldId id="314" r:id="rId36"/>
    <p:sldId id="317" r:id="rId37"/>
    <p:sldId id="304" r:id="rId38"/>
    <p:sldId id="315" r:id="rId39"/>
    <p:sldId id="316" r:id="rId40"/>
    <p:sldId id="305" r:id="rId41"/>
    <p:sldId id="306" r:id="rId42"/>
    <p:sldId id="318" r:id="rId43"/>
    <p:sldId id="319" r:id="rId44"/>
    <p:sldId id="320" r:id="rId45"/>
    <p:sldId id="321" r:id="rId46"/>
    <p:sldId id="322" r:id="rId47"/>
    <p:sldId id="323" r:id="rId48"/>
  </p:sldIdLst>
  <p:sldSz cx="12192000" cy="6858000"/>
  <p:notesSz cx="6858000" cy="9144000"/>
  <p:defaultTextStyle>
    <a:defPPr>
      <a:defRPr lang="zh-TW"/>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154488A-906C-4088-B0F5-06958C159057}" v="1" dt="2026-03-05T15:13:11.054"/>
  </p1510:revLst>
</p1510:revInfo>
</file>

<file path=ppt/tableStyles.xml><?xml version="1.0" encoding="utf-8"?>
<a:tblStyleLst xmlns:a="http://schemas.openxmlformats.org/drawingml/2006/main" def="{5C22544A-7EE6-4342-B048-85BDC9FD1C3A}">
  <a:tblStyle styleId="{5C22544A-7EE6-4342-B048-85BDC9FD1C3A}" styleName="中等深淺樣式 2 - 輔色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BC89EF96-8CEA-46FF-86C4-4CE0E7609802}" styleName="淺色樣式 3 - 輔色 1">
    <a:wholeTbl>
      <a:tcTxStyle>
        <a:fontRef idx="minor">
          <a:scrgbClr r="0" g="0" b="0"/>
        </a:fontRef>
        <a:schemeClr val="tx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w="12700" cmpd="sng">
              <a:solidFill>
                <a:schemeClr val="accent1"/>
              </a:solidFill>
            </a:ln>
          </a:insideV>
        </a:tcBdr>
        <a:fill>
          <a:noFill/>
        </a:fill>
      </a:tcStyle>
    </a:wholeTbl>
    <a:band1H>
      <a:tcStyle>
        <a:tcBdr/>
        <a:fill>
          <a:solidFill>
            <a:schemeClr val="accent1">
              <a:alpha val="20000"/>
            </a:schemeClr>
          </a:solidFill>
        </a:fill>
      </a:tcStyle>
    </a:band1H>
    <a:band1V>
      <a:tcStyle>
        <a:tcBdr/>
        <a:fill>
          <a:solidFill>
            <a:schemeClr val="accent1">
              <a:alpha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noFill/>
        </a:fill>
      </a:tcStyle>
    </a:lastRow>
    <a:firstRow>
      <a:tcTxStyle b="on"/>
      <a:tcStyle>
        <a:tcBdr>
          <a:bottom>
            <a:ln w="25400" cmpd="sng">
              <a:solidFill>
                <a:schemeClr val="accent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89111" autoAdjust="0"/>
  </p:normalViewPr>
  <p:slideViewPr>
    <p:cSldViewPr snapToGrid="0">
      <p:cViewPr>
        <p:scale>
          <a:sx n="66" d="100"/>
          <a:sy n="66" d="100"/>
        </p:scale>
        <p:origin x="2274" y="91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presProps" Target="presProps.xml"/><Relationship Id="rId55" Type="http://schemas.microsoft.com/office/2015/10/relationships/revisionInfo" Target="revisionInfo.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tableStyles" Target="tableStyles.xml"/><Relationship Id="rId5" Type="http://schemas.openxmlformats.org/officeDocument/2006/relationships/slide" Target="slides/slide4.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8" Type="http://schemas.openxmlformats.org/officeDocument/2006/relationships/slide" Target="slides/slide7.xml"/><Relationship Id="rId51" Type="http://schemas.openxmlformats.org/officeDocument/2006/relationships/viewProps" Target="view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0" Type="http://schemas.openxmlformats.org/officeDocument/2006/relationships/slide" Target="slides/slide19.xml"/><Relationship Id="rId41" Type="http://schemas.openxmlformats.org/officeDocument/2006/relationships/slide" Target="slides/slide40.xml"/><Relationship Id="rId54" Type="http://schemas.microsoft.com/office/2016/11/relationships/changesInfo" Target="changesInfos/changesInfo1.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notesMaster" Target="notesMasters/notesMaster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張哲誠" userId="5d6e92af-707e-44d9-a48f-9a80309f0b3d" providerId="ADAL" clId="{87957148-FB1E-4665-A019-A686AD00C742}"/>
    <pc:docChg chg="delSld modSld">
      <pc:chgData name="張哲誠" userId="5d6e92af-707e-44d9-a48f-9a80309f0b3d" providerId="ADAL" clId="{87957148-FB1E-4665-A019-A686AD00C742}" dt="2026-03-05T15:13:34.468" v="25" actId="1035"/>
      <pc:docMkLst>
        <pc:docMk/>
      </pc:docMkLst>
      <pc:sldChg chg="del">
        <pc:chgData name="張哲誠" userId="5d6e92af-707e-44d9-a48f-9a80309f0b3d" providerId="ADAL" clId="{87957148-FB1E-4665-A019-A686AD00C742}" dt="2026-03-05T15:10:34.751" v="0" actId="47"/>
        <pc:sldMkLst>
          <pc:docMk/>
          <pc:sldMk cId="1556785287" sldId="268"/>
        </pc:sldMkLst>
      </pc:sldChg>
      <pc:sldChg chg="del">
        <pc:chgData name="張哲誠" userId="5d6e92af-707e-44d9-a48f-9a80309f0b3d" providerId="ADAL" clId="{87957148-FB1E-4665-A019-A686AD00C742}" dt="2026-03-05T15:10:36.523" v="2" actId="47"/>
        <pc:sldMkLst>
          <pc:docMk/>
          <pc:sldMk cId="1813911186" sldId="276"/>
        </pc:sldMkLst>
      </pc:sldChg>
      <pc:sldChg chg="del">
        <pc:chgData name="張哲誠" userId="5d6e92af-707e-44d9-a48f-9a80309f0b3d" providerId="ADAL" clId="{87957148-FB1E-4665-A019-A686AD00C742}" dt="2026-03-05T15:10:35.709" v="1" actId="47"/>
        <pc:sldMkLst>
          <pc:docMk/>
          <pc:sldMk cId="1377435452" sldId="277"/>
        </pc:sldMkLst>
      </pc:sldChg>
      <pc:sldChg chg="addSp modSp mod">
        <pc:chgData name="張哲誠" userId="5d6e92af-707e-44d9-a48f-9a80309f0b3d" providerId="ADAL" clId="{87957148-FB1E-4665-A019-A686AD00C742}" dt="2026-03-05T15:13:34.468" v="25" actId="1035"/>
        <pc:sldMkLst>
          <pc:docMk/>
          <pc:sldMk cId="3726890588" sldId="282"/>
        </pc:sldMkLst>
        <pc:spChg chg="add mod">
          <ac:chgData name="張哲誠" userId="5d6e92af-707e-44d9-a48f-9a80309f0b3d" providerId="ADAL" clId="{87957148-FB1E-4665-A019-A686AD00C742}" dt="2026-03-05T15:13:34.468" v="25" actId="1035"/>
          <ac:spMkLst>
            <pc:docMk/>
            <pc:sldMk cId="3726890588" sldId="282"/>
            <ac:spMk id="2" creationId="{0C0DABC6-E706-7B97-3470-9A853D94A09F}"/>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頁首版面配置區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TW" altLang="en-US"/>
          </a:p>
        </p:txBody>
      </p:sp>
      <p:sp>
        <p:nvSpPr>
          <p:cNvPr id="3" name="日期版面配置區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EEC2E46C-1491-4BA9-92F0-B7A573D65F14}" type="datetimeFigureOut">
              <a:rPr lang="zh-TW" altLang="en-US" smtClean="0"/>
              <a:t>2026/3/5</a:t>
            </a:fld>
            <a:endParaRPr lang="zh-TW" altLang="en-US"/>
          </a:p>
        </p:txBody>
      </p:sp>
      <p:sp>
        <p:nvSpPr>
          <p:cNvPr id="4" name="投影片圖像版面配置區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TW" altLang="en-US"/>
          </a:p>
        </p:txBody>
      </p:sp>
      <p:sp>
        <p:nvSpPr>
          <p:cNvPr id="5" name="備忘稿版面配置區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p>
        </p:txBody>
      </p:sp>
      <p:sp>
        <p:nvSpPr>
          <p:cNvPr id="6" name="頁尾版面配置區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TW" altLang="en-US"/>
          </a:p>
        </p:txBody>
      </p:sp>
      <p:sp>
        <p:nvSpPr>
          <p:cNvPr id="7" name="投影片編號版面配置區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FD4DA1C-903D-4734-9FD4-63059C5936E9}" type="slidenum">
              <a:rPr lang="zh-TW" altLang="en-US" smtClean="0"/>
              <a:t>‹#›</a:t>
            </a:fld>
            <a:endParaRPr lang="zh-TW" altLang="en-US"/>
          </a:p>
        </p:txBody>
      </p:sp>
    </p:spTree>
    <p:extLst>
      <p:ext uri="{BB962C8B-B14F-4D97-AF65-F5344CB8AC3E}">
        <p14:creationId xmlns:p14="http://schemas.microsoft.com/office/powerpoint/2010/main" val="245173460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3" Type="http://schemas.openxmlformats.org/officeDocument/2006/relationships/hyperlink" Target="https://zh-classical.m.wikipedia.org/wiki/%E6%AA%94%E6%A1%88:Alphago_logo_Reversed.svg" TargetMode="External"/><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3" Type="http://schemas.openxmlformats.org/officeDocument/2006/relationships/hyperlink" Target="https://www.flickr.com/photos/kenming_wang/25721485935" TargetMode="External"/><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3" Type="http://schemas.openxmlformats.org/officeDocument/2006/relationships/hyperlink" Target="https://zh.wikipedia.org/wiki/File:Alan_Turing_Aged_16_(cropped).jpg" TargetMode="External"/><Relationship Id="rId2" Type="http://schemas.openxmlformats.org/officeDocument/2006/relationships/slide" Target="../slides/slide11.xml"/><Relationship Id="rId1" Type="http://schemas.openxmlformats.org/officeDocument/2006/relationships/notesMaster" Target="../notesMasters/notesMaster1.xml"/><Relationship Id="rId4" Type="http://schemas.openxmlformats.org/officeDocument/2006/relationships/hyperlink" Target="https://expert-programming-tutor.com/blog/index.php?entry=entry150201-174407" TargetMode="Externa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3" Type="http://schemas.openxmlformats.org/officeDocument/2006/relationships/hyperlink" Target="https://pixabay.com/zh/illustrations/communication-internet-1927706/" TargetMode="External"/><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3" Type="http://schemas.openxmlformats.org/officeDocument/2006/relationships/hyperlink" Target="https://svgsilh.com/image/1299179.html" TargetMode="External"/><Relationship Id="rId2" Type="http://schemas.openxmlformats.org/officeDocument/2006/relationships/slide" Target="../slides/slide33.xml"/><Relationship Id="rId1" Type="http://schemas.openxmlformats.org/officeDocument/2006/relationships/notesMaster" Target="../notesMasters/notesMaster1.xml"/><Relationship Id="rId4" Type="http://schemas.openxmlformats.org/officeDocument/2006/relationships/hyperlink" Target="https://www.needpix.com/photo/101811/display-lcd-led-monitor-plasma-television" TargetMode="External"/></Relationships>
</file>

<file path=ppt/notesSlides/_rels/notesSlide9.xml.rels><?xml version="1.0" encoding="UTF-8" standalone="yes"?>
<Relationships xmlns="http://schemas.openxmlformats.org/package/2006/relationships"><Relationship Id="rId3" Type="http://schemas.openxmlformats.org/officeDocument/2006/relationships/hyperlink" Target="https://commons.wikimedia.org/wiki/File:CUDA.png" TargetMode="External"/><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https://zh-classical.m.wikipedia.org/wiki/%E6%AA%94%E6%A1%88:Alphago_logo_Reversed.svg</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2</a:t>
            </a:fld>
            <a:endParaRPr lang="zh-TW" altLang="en-US"/>
          </a:p>
        </p:txBody>
      </p:sp>
    </p:spTree>
    <p:extLst>
      <p:ext uri="{BB962C8B-B14F-4D97-AF65-F5344CB8AC3E}">
        <p14:creationId xmlns:p14="http://schemas.microsoft.com/office/powerpoint/2010/main" val="197210039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https://www.flickr.com/photos/kenming_wang/25721485935</a:t>
            </a:r>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3</a:t>
            </a:fld>
            <a:endParaRPr lang="zh-TW" altLang="en-US"/>
          </a:p>
        </p:txBody>
      </p:sp>
    </p:spTree>
    <p:extLst>
      <p:ext uri="{BB962C8B-B14F-4D97-AF65-F5344CB8AC3E}">
        <p14:creationId xmlns:p14="http://schemas.microsoft.com/office/powerpoint/2010/main" val="25575553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4</a:t>
            </a:fld>
            <a:endParaRPr lang="zh-TW" altLang="en-US"/>
          </a:p>
        </p:txBody>
      </p:sp>
    </p:spTree>
    <p:extLst>
      <p:ext uri="{BB962C8B-B14F-4D97-AF65-F5344CB8AC3E}">
        <p14:creationId xmlns:p14="http://schemas.microsoft.com/office/powerpoint/2010/main" val="15137054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5</a:t>
            </a:fld>
            <a:endParaRPr lang="zh-TW" altLang="en-US"/>
          </a:p>
        </p:txBody>
      </p:sp>
    </p:spTree>
    <p:extLst>
      <p:ext uri="{BB962C8B-B14F-4D97-AF65-F5344CB8AC3E}">
        <p14:creationId xmlns:p14="http://schemas.microsoft.com/office/powerpoint/2010/main" val="382114784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https://zh.wikipedia.org/wiki/File:Alan_Turing_Aged_16_(cropped).jpg</a:t>
            </a:r>
            <a:endParaRPr lang="en-US" altLang="zh-TW" dirty="0"/>
          </a:p>
          <a:p>
            <a:r>
              <a:rPr lang="en-US" altLang="zh-TW" dirty="0">
                <a:hlinkClick r:id="rId4"/>
              </a:rPr>
              <a:t>https://expert-programming-tutor.com/blog/index.php?entry=entry150201-174407</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11</a:t>
            </a:fld>
            <a:endParaRPr lang="zh-TW" altLang="en-US"/>
          </a:p>
        </p:txBody>
      </p:sp>
    </p:spTree>
    <p:extLst>
      <p:ext uri="{BB962C8B-B14F-4D97-AF65-F5344CB8AC3E}">
        <p14:creationId xmlns:p14="http://schemas.microsoft.com/office/powerpoint/2010/main" val="83705716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12</a:t>
            </a:fld>
            <a:endParaRPr lang="zh-TW" altLang="en-US"/>
          </a:p>
        </p:txBody>
      </p:sp>
    </p:spTree>
    <p:extLst>
      <p:ext uri="{BB962C8B-B14F-4D97-AF65-F5344CB8AC3E}">
        <p14:creationId xmlns:p14="http://schemas.microsoft.com/office/powerpoint/2010/main" val="3271955227"/>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https://pixabay.com/zh/illustrations/communication-internet-1927706/</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30</a:t>
            </a:fld>
            <a:endParaRPr lang="zh-TW" altLang="en-US"/>
          </a:p>
        </p:txBody>
      </p:sp>
    </p:spTree>
    <p:extLst>
      <p:ext uri="{BB962C8B-B14F-4D97-AF65-F5344CB8AC3E}">
        <p14:creationId xmlns:p14="http://schemas.microsoft.com/office/powerpoint/2010/main" val="22131669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https://svgsilh.com/image/1299179.html</a:t>
            </a:r>
            <a:endParaRPr lang="en-US" altLang="zh-TW" dirty="0"/>
          </a:p>
          <a:p>
            <a:r>
              <a:rPr lang="en-US" altLang="zh-TW" dirty="0">
                <a:hlinkClick r:id="rId4"/>
              </a:rPr>
              <a:t>https://www.needpix.com/photo/101811/display-lcd-led-monitor-plasma-television</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33</a:t>
            </a:fld>
            <a:endParaRPr lang="zh-TW" altLang="en-US"/>
          </a:p>
        </p:txBody>
      </p:sp>
    </p:spTree>
    <p:extLst>
      <p:ext uri="{BB962C8B-B14F-4D97-AF65-F5344CB8AC3E}">
        <p14:creationId xmlns:p14="http://schemas.microsoft.com/office/powerpoint/2010/main" val="301559289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圖像版面配置區 1"/>
          <p:cNvSpPr>
            <a:spLocks noGrp="1" noRot="1" noChangeAspect="1"/>
          </p:cNvSpPr>
          <p:nvPr>
            <p:ph type="sldImg"/>
          </p:nvPr>
        </p:nvSpPr>
        <p:spPr/>
      </p:sp>
      <p:sp>
        <p:nvSpPr>
          <p:cNvPr id="3" name="備忘稿版面配置區 2"/>
          <p:cNvSpPr>
            <a:spLocks noGrp="1"/>
          </p:cNvSpPr>
          <p:nvPr>
            <p:ph type="body" idx="1"/>
          </p:nvPr>
        </p:nvSpPr>
        <p:spPr/>
        <p:txBody>
          <a:bodyPr/>
          <a:lstStyle/>
          <a:p>
            <a:r>
              <a:rPr lang="en-US" altLang="zh-TW" dirty="0">
                <a:hlinkClick r:id="rId3"/>
              </a:rPr>
              <a:t>https://commons.wikimedia.org/wiki/File:CUDA.png</a:t>
            </a:r>
            <a:endParaRPr lang="en-US" altLang="zh-TW" dirty="0"/>
          </a:p>
          <a:p>
            <a:endParaRPr lang="zh-TW" altLang="en-US" dirty="0"/>
          </a:p>
        </p:txBody>
      </p:sp>
      <p:sp>
        <p:nvSpPr>
          <p:cNvPr id="4" name="投影片編號版面配置區 3"/>
          <p:cNvSpPr>
            <a:spLocks noGrp="1"/>
          </p:cNvSpPr>
          <p:nvPr>
            <p:ph type="sldNum" sz="quarter" idx="10"/>
          </p:nvPr>
        </p:nvSpPr>
        <p:spPr/>
        <p:txBody>
          <a:bodyPr/>
          <a:lstStyle/>
          <a:p>
            <a:fld id="{6FD4DA1C-903D-4734-9FD4-63059C5936E9}" type="slidenum">
              <a:rPr lang="zh-TW" altLang="en-US" smtClean="0"/>
              <a:t>40</a:t>
            </a:fld>
            <a:endParaRPr lang="zh-TW" altLang="en-US"/>
          </a:p>
        </p:txBody>
      </p:sp>
    </p:spTree>
    <p:extLst>
      <p:ext uri="{BB962C8B-B14F-4D97-AF65-F5344CB8AC3E}">
        <p14:creationId xmlns:p14="http://schemas.microsoft.com/office/powerpoint/2010/main" val="1446434826"/>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標題投影片">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zh-TW" altLang="en-US"/>
              <a:t>按一下以編輯母片標題樣式</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TW" altLang="en-US"/>
              <a:t>按一下以編輯母片副標題樣式</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03872059-2B87-4DC7-8B67-4E1111268401}" type="datetimeFigureOut">
              <a:rPr lang="zh-TW" altLang="en-US" smtClean="0"/>
              <a:t>2026/3/5</a:t>
            </a:fld>
            <a:endParaRPr lang="zh-TW" altLang="en-US"/>
          </a:p>
        </p:txBody>
      </p:sp>
      <p:sp>
        <p:nvSpPr>
          <p:cNvPr id="5" name="Footer Placeholder 4"/>
          <p:cNvSpPr>
            <a:spLocks noGrp="1"/>
          </p:cNvSpPr>
          <p:nvPr>
            <p:ph type="ftr" sz="quarter" idx="11"/>
          </p:nvPr>
        </p:nvSpPr>
        <p:spPr>
          <a:xfrm>
            <a:off x="1876424" y="5410201"/>
            <a:ext cx="5124886" cy="365125"/>
          </a:xfrm>
        </p:spPr>
        <p:txBody>
          <a:bodyPr/>
          <a:lstStyle/>
          <a:p>
            <a:endParaRPr lang="zh-TW" altLang="en-US"/>
          </a:p>
        </p:txBody>
      </p:sp>
      <p:sp>
        <p:nvSpPr>
          <p:cNvPr id="6" name="Slide Number Placeholder 5"/>
          <p:cNvSpPr>
            <a:spLocks noGrp="1"/>
          </p:cNvSpPr>
          <p:nvPr>
            <p:ph type="sldNum" sz="quarter" idx="12"/>
          </p:nvPr>
        </p:nvSpPr>
        <p:spPr>
          <a:xfrm>
            <a:off x="9896911" y="5410199"/>
            <a:ext cx="771089" cy="365125"/>
          </a:xfrm>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79613976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標題及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idx="1"/>
          </p:nvPr>
        </p:nvSpPr>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07556265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章節標題">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zh-TW" altLang="en-US"/>
              <a:t>按一下以編輯母片標題樣式</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TW" altLang="en-US"/>
              <a:t>編輯母片文字樣式</a:t>
            </a:r>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96496232"/>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兩項物件">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36808655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對">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zh-TW" altLang="en-US"/>
              <a:t>按一下以編輯母片標題樣式</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4" name="Content Placeholder 3"/>
          <p:cNvSpPr>
            <a:spLocks noGrp="1"/>
          </p:cNvSpPr>
          <p:nvPr>
            <p:ph sz="half" idx="2"/>
          </p:nvPr>
        </p:nvSpPr>
        <p:spPr>
          <a:xfrm>
            <a:off x="1141410" y="3073397"/>
            <a:ext cx="4878391" cy="271780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6" name="Content Placeholder 5"/>
          <p:cNvSpPr>
            <a:spLocks noGrp="1"/>
          </p:cNvSpPr>
          <p:nvPr>
            <p:ph sz="quarter" idx="4"/>
          </p:nvPr>
        </p:nvSpPr>
        <p:spPr>
          <a:xfrm>
            <a:off x="6172200" y="3073397"/>
            <a:ext cx="4875210" cy="2717801"/>
          </a:xfrm>
        </p:spPr>
        <p:txBody>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7" name="Date Placeholder 6"/>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8" name="Footer Placeholder 7"/>
          <p:cNvSpPr>
            <a:spLocks noGrp="1"/>
          </p:cNvSpPr>
          <p:nvPr>
            <p:ph type="ftr" sz="quarter" idx="11"/>
          </p:nvPr>
        </p:nvSpPr>
        <p:spPr/>
        <p:txBody>
          <a:bodyPr/>
          <a:lstStyle/>
          <a:p>
            <a:endParaRPr lang="zh-TW" altLang="en-US"/>
          </a:p>
        </p:txBody>
      </p:sp>
      <p:sp>
        <p:nvSpPr>
          <p:cNvPr id="9" name="Slide Number Placeholder 8"/>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22602020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只有標題">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Date Placeholder 2"/>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6712264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3" name="Footer Placeholder 2"/>
          <p:cNvSpPr>
            <a:spLocks noGrp="1"/>
          </p:cNvSpPr>
          <p:nvPr>
            <p:ph type="ftr" sz="quarter" idx="11"/>
          </p:nvPr>
        </p:nvSpPr>
        <p:spPr/>
        <p:txBody>
          <a:bodyPr/>
          <a:lstStyle/>
          <a:p>
            <a:endParaRPr lang="zh-TW" altLang="en-US"/>
          </a:p>
        </p:txBody>
      </p:sp>
      <p:sp>
        <p:nvSpPr>
          <p:cNvPr id="4" name="Slide Number Placeholder 3"/>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12296661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含標題的內容">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zh-TW" altLang="en-US"/>
              <a:t>按一下以編輯母片標題樣式</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100723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含標題的圖片">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zh-TW" altLang="en-US"/>
              <a:t>按一下圖示以新增圖片</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42598766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全景圖片 (含標題)">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zh-TW" altLang="en-US"/>
              <a:t>按一下以編輯母片標題樣式</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zh-TW" altLang="en-US"/>
              <a:t>按一下圖示以新增圖片</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037713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標題與說明文字">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79454842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引述 (含標題)">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zh-TW" altLang="en-US"/>
              <a:t>按一下以編輯母片標題樣式</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994639383"/>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名片">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zh-TW" altLang="en-US"/>
              <a:t>按一下以編輯母片標題樣式</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zh-TW" altLang="en-US"/>
              <a:t>編輯母片文字樣式</a:t>
            </a:r>
          </a:p>
        </p:txBody>
      </p:sp>
      <p:sp>
        <p:nvSpPr>
          <p:cNvPr id="5" name="Date Placeholder 4"/>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6" name="Footer Placeholder 5"/>
          <p:cNvSpPr>
            <a:spLocks noGrp="1"/>
          </p:cNvSpPr>
          <p:nvPr>
            <p:ph type="ftr" sz="quarter" idx="11"/>
          </p:nvPr>
        </p:nvSpPr>
        <p:spPr/>
        <p:txBody>
          <a:bodyPr/>
          <a:lstStyle/>
          <a:p>
            <a:endParaRPr lang="zh-TW" altLang="en-US"/>
          </a:p>
        </p:txBody>
      </p:sp>
      <p:sp>
        <p:nvSpPr>
          <p:cNvPr id="7" name="Slide Number Placeholder 6"/>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02159137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欄">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zh-TW" altLang="en-US"/>
              <a:t>按一下以編輯母片標題樣式</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346133016"/>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圖片欄">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zh-TW" altLang="en-US"/>
              <a:t>按一下以編輯母片標題樣式</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TW" altLang="en-US"/>
              <a:t>編輯母片文字樣式</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zh-TW" altLang="en-US"/>
              <a:t>按一下圖示以新增圖片</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TW" altLang="en-US"/>
              <a:t>編輯母片文字樣式</a:t>
            </a:r>
          </a:p>
        </p:txBody>
      </p:sp>
      <p:sp>
        <p:nvSpPr>
          <p:cNvPr id="3" name="Date Placeholder 2"/>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4" name="Footer Placeholder 3"/>
          <p:cNvSpPr>
            <a:spLocks noGrp="1"/>
          </p:cNvSpPr>
          <p:nvPr>
            <p:ph type="ftr" sz="quarter" idx="11"/>
          </p:nvPr>
        </p:nvSpPr>
        <p:spPr/>
        <p:txBody>
          <a:bodyPr/>
          <a:lstStyle/>
          <a:p>
            <a:endParaRPr lang="zh-TW" altLang="en-US"/>
          </a:p>
        </p:txBody>
      </p:sp>
      <p:sp>
        <p:nvSpPr>
          <p:cNvPr id="5" name="Slide Number Placeholder 4"/>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12482393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標題及直排文字">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zh-TW" altLang="en-US"/>
              <a:t>按一下以編輯母片標題樣式</a:t>
            </a:r>
            <a:endParaRPr lang="en-US" dirty="0"/>
          </a:p>
        </p:txBody>
      </p:sp>
      <p:sp>
        <p:nvSpPr>
          <p:cNvPr id="3" name="Vertical Text Placeholder 2"/>
          <p:cNvSpPr>
            <a:spLocks noGrp="1"/>
          </p:cNvSpPr>
          <p:nvPr>
            <p:ph type="body" orient="vert" idx="1"/>
          </p:nvPr>
        </p:nvSpPr>
        <p:spPr/>
        <p:txBody>
          <a:bodyPr vert="eaVert" ancho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67756124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直排標題及文字">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zh-TW" altLang="en-US"/>
              <a:t>按一下以編輯母片標題樣式</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10"/>
          </p:nvPr>
        </p:nvSpPr>
        <p:spPr/>
        <p:txBody>
          <a:bodyPr/>
          <a:lstStyle/>
          <a:p>
            <a:fld id="{03872059-2B87-4DC7-8B67-4E1111268401}" type="datetimeFigureOut">
              <a:rPr lang="zh-TW" altLang="en-US" smtClean="0"/>
              <a:t>2026/3/5</a:t>
            </a:fld>
            <a:endParaRPr lang="zh-TW" altLang="en-US"/>
          </a:p>
        </p:txBody>
      </p:sp>
      <p:sp>
        <p:nvSpPr>
          <p:cNvPr id="5" name="Footer Placeholder 4"/>
          <p:cNvSpPr>
            <a:spLocks noGrp="1"/>
          </p:cNvSpPr>
          <p:nvPr>
            <p:ph type="ftr" sz="quarter" idx="11"/>
          </p:nvPr>
        </p:nvSpPr>
        <p:spPr/>
        <p:txBody>
          <a:bodyPr/>
          <a:lstStyle/>
          <a:p>
            <a:endParaRPr lang="zh-TW" altLang="en-US"/>
          </a:p>
        </p:txBody>
      </p:sp>
      <p:sp>
        <p:nvSpPr>
          <p:cNvPr id="6" name="Slide Number Placeholder 5"/>
          <p:cNvSpPr>
            <a:spLocks noGrp="1"/>
          </p:cNvSpPr>
          <p:nvPr>
            <p:ph type="sldNum" sz="quarter" idx="12"/>
          </p:nvPr>
        </p:nvSpPr>
        <p:spPr/>
        <p:txBody>
          <a:body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111638647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txBody>
              <a:bodyPr/>
              <a:lstStyle/>
              <a:p>
                <a:endParaRPr lang="zh-TW" altLang="en-US"/>
              </a:p>
            </p:txBody>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TW" altLang="en-US"/>
              </a:p>
            </p:txBody>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txBody>
              <a:bodyPr/>
              <a:lstStyle/>
              <a:p>
                <a:endParaRPr lang="zh-TW" altLang="en-US"/>
              </a:p>
            </p:txBody>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zh-TW" altLang="en-US"/>
              <a:t>編輯母片文字樣式</a:t>
            </a:r>
          </a:p>
          <a:p>
            <a:pPr lvl="1"/>
            <a:r>
              <a:rPr lang="zh-TW" altLang="en-US"/>
              <a:t>第二層</a:t>
            </a:r>
          </a:p>
          <a:p>
            <a:pPr lvl="2"/>
            <a:r>
              <a:rPr lang="zh-TW" altLang="en-US"/>
              <a:t>第三層</a:t>
            </a:r>
          </a:p>
          <a:p>
            <a:pPr lvl="3"/>
            <a:r>
              <a:rPr lang="zh-TW" altLang="en-US"/>
              <a:t>第四層</a:t>
            </a:r>
          </a:p>
          <a:p>
            <a:pPr lvl="4"/>
            <a:r>
              <a:rPr lang="zh-TW" altLang="en-US"/>
              <a:t>第五層</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03872059-2B87-4DC7-8B67-4E1111268401}" type="datetimeFigureOut">
              <a:rPr lang="zh-TW" altLang="en-US" smtClean="0"/>
              <a:t>2026/3/5</a:t>
            </a:fld>
            <a:endParaRPr lang="zh-TW" alt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zh-TW" alt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3D9A1BCB-C2DF-4C22-BAA8-F276E632711F}" type="slidenum">
              <a:rPr lang="zh-TW" altLang="en-US" smtClean="0"/>
              <a:t>‹#›</a:t>
            </a:fld>
            <a:endParaRPr lang="zh-TW" altLang="en-US"/>
          </a:p>
        </p:txBody>
      </p:sp>
    </p:spTree>
    <p:extLst>
      <p:ext uri="{BB962C8B-B14F-4D97-AF65-F5344CB8AC3E}">
        <p14:creationId xmlns:p14="http://schemas.microsoft.com/office/powerpoint/2010/main" val="3155322253"/>
      </p:ext>
    </p:extLst>
  </p:cSld>
  <p:clrMap bg1="dk1" tx1="lt1" bg2="dk2" tx2="lt2" accent1="accent1" accent2="accent2" accent3="accent3" accent4="accent4" accent5="accent5" accent6="accent6" hlink="hlink" folHlink="folHlink"/>
  <p:sldLayoutIdLst>
    <p:sldLayoutId id="2147483679" r:id="rId1"/>
    <p:sldLayoutId id="2147483680" r:id="rId2"/>
    <p:sldLayoutId id="2147483681" r:id="rId3"/>
    <p:sldLayoutId id="2147483682" r:id="rId4"/>
    <p:sldLayoutId id="2147483683" r:id="rId5"/>
    <p:sldLayoutId id="2147483684" r:id="rId6"/>
    <p:sldLayoutId id="2147483685" r:id="rId7"/>
    <p:sldLayoutId id="2147483686" r:id="rId8"/>
    <p:sldLayoutId id="2147483687" r:id="rId9"/>
    <p:sldLayoutId id="2147483688" r:id="rId10"/>
    <p:sldLayoutId id="2147483689" r:id="rId11"/>
    <p:sldLayoutId id="2147483690" r:id="rId12"/>
    <p:sldLayoutId id="2147483691" r:id="rId13"/>
    <p:sldLayoutId id="2147483692" r:id="rId14"/>
    <p:sldLayoutId id="2147483693" r:id="rId15"/>
    <p:sldLayoutId id="2147483694" r:id="rId16"/>
    <p:sldLayoutId id="2147483695" r:id="rId17"/>
  </p:sldLayoutIdLst>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notesSlide" Target="../notesSlides/notesSlide5.xml"/><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12.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10.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ctrTitle"/>
          </p:nvPr>
        </p:nvSpPr>
        <p:spPr/>
        <p:txBody>
          <a:bodyPr/>
          <a:lstStyle/>
          <a:p>
            <a:r>
              <a:rPr lang="zh-TW" altLang="en-US" dirty="0">
                <a:latin typeface="微軟正黑體" panose="020B0604030504040204" pitchFamily="34" charset="-120"/>
                <a:ea typeface="微軟正黑體" panose="020B0604030504040204" pitchFamily="34" charset="-120"/>
              </a:rPr>
              <a:t>人工智慧概論與實務</a:t>
            </a:r>
          </a:p>
        </p:txBody>
      </p:sp>
      <p:sp>
        <p:nvSpPr>
          <p:cNvPr id="3" name="副標題 2"/>
          <p:cNvSpPr>
            <a:spLocks noGrp="1"/>
          </p:cNvSpPr>
          <p:nvPr>
            <p:ph type="subTitle" idx="1"/>
          </p:nvPr>
        </p:nvSpPr>
        <p:spPr/>
        <p:txBody>
          <a:bodyPr/>
          <a:lstStyle/>
          <a:p>
            <a:r>
              <a:rPr lang="zh-TW" altLang="en-US" dirty="0">
                <a:solidFill>
                  <a:schemeClr val="tx1"/>
                </a:solidFill>
                <a:latin typeface="微軟正黑體" panose="020B0604030504040204" pitchFamily="34" charset="-120"/>
                <a:ea typeface="微軟正黑體" panose="020B0604030504040204" pitchFamily="34" charset="-120"/>
              </a:rPr>
              <a:t>逢甲大學  資訊工程學系  張哲誠</a:t>
            </a:r>
          </a:p>
        </p:txBody>
      </p:sp>
    </p:spTree>
    <p:extLst>
      <p:ext uri="{BB962C8B-B14F-4D97-AF65-F5344CB8AC3E}">
        <p14:creationId xmlns:p14="http://schemas.microsoft.com/office/powerpoint/2010/main" val="29231358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簡介</a:t>
            </a:r>
          </a:p>
        </p:txBody>
      </p:sp>
      <p:sp>
        <p:nvSpPr>
          <p:cNvPr id="3" name="內容版面配置區 2"/>
          <p:cNvSpPr>
            <a:spLocks noGrp="1"/>
          </p:cNvSpPr>
          <p:nvPr>
            <p:ph idx="1"/>
          </p:nvPr>
        </p:nvSpPr>
        <p:spPr/>
        <p:txBody>
          <a:bodyPr/>
          <a:lstStyle/>
          <a:p>
            <a:r>
              <a:rPr lang="en-US" altLang="zh-TW" dirty="0" err="1">
                <a:latin typeface="微軟正黑體" panose="020B0604030504040204" pitchFamily="34" charset="-120"/>
                <a:ea typeface="微軟正黑體" panose="020B0604030504040204" pitchFamily="34" charset="-120"/>
              </a:rPr>
              <a:t>AlphaGo</a:t>
            </a:r>
            <a:endParaRPr lang="zh-TW" altLang="en-US" dirty="0">
              <a:latin typeface="微軟正黑體" panose="020B0604030504040204" pitchFamily="34" charset="-120"/>
              <a:ea typeface="微軟正黑體" panose="020B0604030504040204" pitchFamily="34" charset="-120"/>
            </a:endParaRPr>
          </a:p>
        </p:txBody>
      </p:sp>
      <p:pic>
        <p:nvPicPr>
          <p:cNvPr id="1026" name="Picture 2" descr="檔案:Alphago logo Reversed.svg"/>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62514" y="1905696"/>
            <a:ext cx="5037211" cy="1322269"/>
          </a:xfrm>
          <a:prstGeom prst="rect">
            <a:avLst/>
          </a:prstGeom>
          <a:solidFill>
            <a:schemeClr val="tx1">
              <a:alpha val="90000"/>
            </a:schemeClr>
          </a:solidFill>
        </p:spPr>
      </p:pic>
    </p:spTree>
    <p:extLst>
      <p:ext uri="{BB962C8B-B14F-4D97-AF65-F5344CB8AC3E}">
        <p14:creationId xmlns:p14="http://schemas.microsoft.com/office/powerpoint/2010/main" val="308768458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簡介</a:t>
            </a:r>
          </a:p>
        </p:txBody>
      </p:sp>
      <p:sp>
        <p:nvSpPr>
          <p:cNvPr id="3" name="內容版面配置區 2"/>
          <p:cNvSpPr>
            <a:spLocks noGrp="1"/>
          </p:cNvSpPr>
          <p:nvPr>
            <p:ph idx="1"/>
          </p:nvPr>
        </p:nvSpPr>
        <p:spPr/>
        <p:txBody>
          <a:bodyPr/>
          <a:lstStyle/>
          <a:p>
            <a:r>
              <a:rPr lang="en-US" altLang="zh-TW" dirty="0" err="1">
                <a:latin typeface="微軟正黑體" panose="020B0604030504040204" pitchFamily="34" charset="-120"/>
                <a:ea typeface="微軟正黑體" panose="020B0604030504040204" pitchFamily="34" charset="-120"/>
              </a:rPr>
              <a:t>AlphaGo</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Google DeepMind</a:t>
            </a:r>
          </a:p>
          <a:p>
            <a:pPr lvl="1"/>
            <a:r>
              <a:rPr lang="en-US" altLang="zh-TW" dirty="0">
                <a:latin typeface="微軟正黑體" panose="020B0604030504040204" pitchFamily="34" charset="-120"/>
                <a:ea typeface="微軟正黑體" panose="020B0604030504040204" pitchFamily="34" charset="-120"/>
              </a:rPr>
              <a:t>Go</a:t>
            </a:r>
            <a:r>
              <a:rPr lang="zh-TW" altLang="en-US" dirty="0">
                <a:latin typeface="微軟正黑體" panose="020B0604030504040204" pitchFamily="34" charset="-120"/>
                <a:ea typeface="微軟正黑體" panose="020B0604030504040204" pitchFamily="34" charset="-120"/>
              </a:rPr>
              <a:t>（圍棋）</a:t>
            </a:r>
          </a:p>
        </p:txBody>
      </p:sp>
      <p:pic>
        <p:nvPicPr>
          <p:cNvPr id="2050" name="Picture 2" descr="「alphago」的圖片搜尋結果"/>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451351" y="1867286"/>
            <a:ext cx="3235324" cy="342710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7021357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簡介</a:t>
            </a:r>
          </a:p>
        </p:txBody>
      </p:sp>
      <p:sp>
        <p:nvSpPr>
          <p:cNvPr id="3" name="內容版面配置區 2"/>
          <p:cNvSpPr>
            <a:spLocks noGrp="1"/>
          </p:cNvSpPr>
          <p:nvPr>
            <p:ph idx="1"/>
          </p:nvPr>
        </p:nvSpPr>
        <p:spPr/>
        <p:txBody>
          <a:bodyPr/>
          <a:lstStyle/>
          <a:p>
            <a:r>
              <a:rPr lang="en-US" altLang="zh-TW" dirty="0" err="1">
                <a:latin typeface="微軟正黑體" panose="020B0604030504040204" pitchFamily="34" charset="-120"/>
                <a:ea typeface="微軟正黑體" panose="020B0604030504040204" pitchFamily="34" charset="-120"/>
              </a:rPr>
              <a:t>AlphaGo</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Google DeepMind</a:t>
            </a:r>
          </a:p>
          <a:p>
            <a:pPr lvl="1"/>
            <a:r>
              <a:rPr lang="en-US" altLang="zh-TW" dirty="0">
                <a:latin typeface="微軟正黑體" panose="020B0604030504040204" pitchFamily="34" charset="-120"/>
                <a:ea typeface="微軟正黑體" panose="020B0604030504040204" pitchFamily="34" charset="-120"/>
              </a:rPr>
              <a:t>Go</a:t>
            </a:r>
            <a:r>
              <a:rPr lang="zh-TW" altLang="en-US" dirty="0">
                <a:latin typeface="微軟正黑體" panose="020B0604030504040204" pitchFamily="34" charset="-120"/>
                <a:ea typeface="微軟正黑體" panose="020B0604030504040204" pitchFamily="34" charset="-120"/>
              </a:rPr>
              <a:t>（圍棋）</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Artificial Intelligence</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AI</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Machine Learning</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ML</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Deep Learning</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DL</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1324711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簡介</a:t>
            </a:r>
          </a:p>
        </p:txBody>
      </p:sp>
      <p:sp>
        <p:nvSpPr>
          <p:cNvPr id="3" name="內容版面配置區 2"/>
          <p:cNvSpPr>
            <a:spLocks noGrp="1"/>
          </p:cNvSpPr>
          <p:nvPr>
            <p:ph idx="1"/>
          </p:nvPr>
        </p:nvSpPr>
        <p:spPr/>
        <p:txBody>
          <a:bodyPr/>
          <a:lstStyle/>
          <a:p>
            <a:r>
              <a:rPr lang="en-US" altLang="zh-TW" dirty="0" err="1">
                <a:latin typeface="微軟正黑體" panose="020B0604030504040204" pitchFamily="34" charset="-120"/>
                <a:ea typeface="微軟正黑體" panose="020B0604030504040204" pitchFamily="34" charset="-120"/>
              </a:rPr>
              <a:t>AlphaGo</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Google DeepMind</a:t>
            </a:r>
          </a:p>
          <a:p>
            <a:pPr lvl="1"/>
            <a:r>
              <a:rPr lang="en-US" altLang="zh-TW" dirty="0">
                <a:latin typeface="微軟正黑體" panose="020B0604030504040204" pitchFamily="34" charset="-120"/>
                <a:ea typeface="微軟正黑體" panose="020B0604030504040204" pitchFamily="34" charset="-120"/>
              </a:rPr>
              <a:t>Go</a:t>
            </a:r>
            <a:r>
              <a:rPr lang="zh-TW" altLang="en-US" dirty="0">
                <a:latin typeface="微軟正黑體" panose="020B0604030504040204" pitchFamily="34" charset="-120"/>
                <a:ea typeface="微軟正黑體" panose="020B0604030504040204" pitchFamily="34" charset="-120"/>
              </a:rPr>
              <a:t>（圍棋）</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Artificial Intelligence</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AI</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Machine Learning</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ML</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Deep Learning</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DL</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p:txBody>
      </p:sp>
      <p:sp>
        <p:nvSpPr>
          <p:cNvPr id="4" name="矩形圖說文字 3"/>
          <p:cNvSpPr/>
          <p:nvPr/>
        </p:nvSpPr>
        <p:spPr>
          <a:xfrm>
            <a:off x="6001752" y="3361823"/>
            <a:ext cx="3351798" cy="2197769"/>
          </a:xfrm>
          <a:prstGeom prst="wedgeRectCallout">
            <a:avLst>
              <a:gd name="adj1" fmla="val -74509"/>
              <a:gd name="adj2" fmla="val -8929"/>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000" dirty="0">
                <a:solidFill>
                  <a:schemeClr val="bg1"/>
                </a:solidFill>
                <a:latin typeface="微軟正黑體" panose="020B0604030504040204" pitchFamily="34" charset="-120"/>
                <a:ea typeface="微軟正黑體" panose="020B0604030504040204" pitchFamily="34" charset="-120"/>
              </a:rPr>
              <a:t>但是</a:t>
            </a:r>
            <a:r>
              <a:rPr lang="en-US" altLang="zh-TW" sz="2000" dirty="0">
                <a:solidFill>
                  <a:schemeClr val="bg1"/>
                </a:solidFill>
                <a:latin typeface="微軟正黑體" panose="020B0604030504040204" pitchFamily="34" charset="-120"/>
                <a:ea typeface="微軟正黑體" panose="020B0604030504040204" pitchFamily="34" charset="-120"/>
              </a:rPr>
              <a:t>…  </a:t>
            </a:r>
            <a:r>
              <a:rPr lang="zh-TW" altLang="en-US" sz="2000" dirty="0">
                <a:solidFill>
                  <a:schemeClr val="bg1"/>
                </a:solidFill>
                <a:latin typeface="微軟正黑體" panose="020B0604030504040204" pitchFamily="34" charset="-120"/>
                <a:ea typeface="微軟正黑體" panose="020B0604030504040204" pitchFamily="34" charset="-120"/>
              </a:rPr>
              <a:t>實際上，這三個名詞所指的技術並不完全相同</a:t>
            </a:r>
          </a:p>
        </p:txBody>
      </p:sp>
    </p:spTree>
    <p:extLst>
      <p:ext uri="{BB962C8B-B14F-4D97-AF65-F5344CB8AC3E}">
        <p14:creationId xmlns:p14="http://schemas.microsoft.com/office/powerpoint/2010/main" val="22692144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9550" y="1085850"/>
            <a:ext cx="11734800" cy="5505450"/>
          </a:xfrm>
          <a:prstGeom prst="rect">
            <a:avLst/>
          </a:prstGeom>
          <a:solidFill>
            <a:schemeClr val="accent1">
              <a:alpha val="5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8" name="文字方塊 7"/>
          <p:cNvSpPr txBox="1"/>
          <p:nvPr/>
        </p:nvSpPr>
        <p:spPr>
          <a:xfrm>
            <a:off x="2552700" y="476250"/>
            <a:ext cx="7048500" cy="461665"/>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人工智慧：試著用機器來實現人類智慧的一門學問</a:t>
            </a:r>
          </a:p>
        </p:txBody>
      </p:sp>
      <p:sp>
        <p:nvSpPr>
          <p:cNvPr id="11" name="橢圓 10"/>
          <p:cNvSpPr/>
          <p:nvPr/>
        </p:nvSpPr>
        <p:spPr>
          <a:xfrm>
            <a:off x="4996950" y="4145550"/>
            <a:ext cx="2160000" cy="2160000"/>
          </a:xfrm>
          <a:prstGeom prst="ellipse">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TW" altLang="en-US" sz="4800" dirty="0">
                <a:latin typeface="微軟正黑體" panose="020B0604030504040204" pitchFamily="34" charset="-120"/>
                <a:ea typeface="微軟正黑體" panose="020B0604030504040204" pitchFamily="34" charset="-120"/>
              </a:rPr>
              <a:t>統計</a:t>
            </a:r>
          </a:p>
        </p:txBody>
      </p:sp>
      <p:sp>
        <p:nvSpPr>
          <p:cNvPr id="12" name="橢圓 11"/>
          <p:cNvSpPr/>
          <p:nvPr/>
        </p:nvSpPr>
        <p:spPr>
          <a:xfrm>
            <a:off x="3256050" y="2214150"/>
            <a:ext cx="2160000" cy="2160000"/>
          </a:xfrm>
          <a:prstGeom prst="ellipse">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sz="4800" dirty="0">
                <a:latin typeface="微軟正黑體" panose="020B0604030504040204" pitchFamily="34" charset="-120"/>
                <a:ea typeface="微軟正黑體" panose="020B0604030504040204" pitchFamily="34" charset="-120"/>
              </a:rPr>
              <a:t>推論</a:t>
            </a:r>
          </a:p>
        </p:txBody>
      </p:sp>
      <p:sp>
        <p:nvSpPr>
          <p:cNvPr id="13" name="橢圓 12"/>
          <p:cNvSpPr/>
          <p:nvPr/>
        </p:nvSpPr>
        <p:spPr>
          <a:xfrm>
            <a:off x="1028700" y="4145550"/>
            <a:ext cx="2160000" cy="2160000"/>
          </a:xfrm>
          <a:prstGeom prst="ellipse">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4800" dirty="0">
                <a:latin typeface="微軟正黑體" panose="020B0604030504040204" pitchFamily="34" charset="-120"/>
                <a:ea typeface="微軟正黑體" panose="020B0604030504040204" pitchFamily="34" charset="-120"/>
              </a:rPr>
              <a:t>機率</a:t>
            </a:r>
          </a:p>
        </p:txBody>
      </p:sp>
      <p:sp>
        <p:nvSpPr>
          <p:cNvPr id="14" name="橢圓 13"/>
          <p:cNvSpPr/>
          <p:nvPr/>
        </p:nvSpPr>
        <p:spPr>
          <a:xfrm>
            <a:off x="740025" y="1535700"/>
            <a:ext cx="2160000" cy="2160000"/>
          </a:xfrm>
          <a:prstGeom prst="ellipse">
            <a:avLst/>
          </a:prstGeom>
        </p:spPr>
        <p:style>
          <a:lnRef idx="2">
            <a:schemeClr val="accent6">
              <a:shade val="50000"/>
            </a:schemeClr>
          </a:lnRef>
          <a:fillRef idx="1">
            <a:schemeClr val="accent6"/>
          </a:fillRef>
          <a:effectRef idx="0">
            <a:schemeClr val="accent6"/>
          </a:effectRef>
          <a:fontRef idx="minor">
            <a:schemeClr val="lt1"/>
          </a:fontRef>
        </p:style>
        <p:txBody>
          <a:bodyPr rtlCol="0" anchor="ctr"/>
          <a:lstStyle/>
          <a:p>
            <a:pPr algn="ctr"/>
            <a:r>
              <a:rPr lang="zh-TW" altLang="en-US" sz="4800" dirty="0">
                <a:latin typeface="微軟正黑體" panose="020B0604030504040204" pitchFamily="34" charset="-120"/>
                <a:ea typeface="微軟正黑體" panose="020B0604030504040204" pitchFamily="34" charset="-120"/>
              </a:rPr>
              <a:t>邏輯</a:t>
            </a:r>
          </a:p>
        </p:txBody>
      </p:sp>
      <p:sp>
        <p:nvSpPr>
          <p:cNvPr id="15" name="矩形 14"/>
          <p:cNvSpPr/>
          <p:nvPr/>
        </p:nvSpPr>
        <p:spPr>
          <a:xfrm>
            <a:off x="7486650" y="1314450"/>
            <a:ext cx="4229100" cy="4991100"/>
          </a:xfrm>
          <a:prstGeom prst="rect">
            <a:avLst/>
          </a:prstGeom>
        </p:spPr>
        <p:style>
          <a:lnRef idx="2">
            <a:schemeClr val="accent4">
              <a:shade val="50000"/>
            </a:schemeClr>
          </a:lnRef>
          <a:fillRef idx="1">
            <a:schemeClr val="accent4"/>
          </a:fillRef>
          <a:effectRef idx="0">
            <a:schemeClr val="accent4"/>
          </a:effectRef>
          <a:fontRef idx="minor">
            <a:schemeClr val="lt1"/>
          </a:fontRef>
        </p:style>
        <p:txBody>
          <a:bodyPr rtlCol="0" anchor="ctr"/>
          <a:lstStyle/>
          <a:p>
            <a:pPr algn="ctr"/>
            <a:endParaRPr lang="zh-TW" altLang="en-US" dirty="0">
              <a:latin typeface="微軟正黑體" panose="020B0604030504040204" pitchFamily="34" charset="-120"/>
              <a:ea typeface="微軟正黑體" panose="020B0604030504040204" pitchFamily="34" charset="-120"/>
            </a:endParaRPr>
          </a:p>
        </p:txBody>
      </p:sp>
      <p:sp>
        <p:nvSpPr>
          <p:cNvPr id="16" name="文字方塊 15"/>
          <p:cNvSpPr txBox="1"/>
          <p:nvPr/>
        </p:nvSpPr>
        <p:spPr>
          <a:xfrm>
            <a:off x="7639050" y="1535700"/>
            <a:ext cx="1504950" cy="461665"/>
          </a:xfrm>
          <a:prstGeom prst="rect">
            <a:avLst/>
          </a:prstGeom>
          <a:noFill/>
        </p:spPr>
        <p:txBody>
          <a:bodyPr wrap="square" rtlCol="0">
            <a:spAutoFit/>
          </a:bodyPr>
          <a:lstStyle/>
          <a:p>
            <a:r>
              <a:rPr lang="zh-TW" altLang="en-US" sz="2400" dirty="0">
                <a:latin typeface="微軟正黑體" panose="020B0604030504040204" pitchFamily="34" charset="-120"/>
                <a:ea typeface="微軟正黑體" panose="020B0604030504040204" pitchFamily="34" charset="-120"/>
              </a:rPr>
              <a:t>機器學習</a:t>
            </a:r>
          </a:p>
        </p:txBody>
      </p:sp>
      <p:sp>
        <p:nvSpPr>
          <p:cNvPr id="17" name="圓角矩形 16"/>
          <p:cNvSpPr/>
          <p:nvPr/>
        </p:nvSpPr>
        <p:spPr>
          <a:xfrm>
            <a:off x="7704000" y="2225965"/>
            <a:ext cx="1440000" cy="1440000"/>
          </a:xfrm>
          <a:prstGeom prst="roundRect">
            <a:avLst/>
          </a:prstGeom>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r>
              <a:rPr lang="zh-TW" altLang="en-US" sz="2400" dirty="0">
                <a:latin typeface="微軟正黑體" panose="020B0604030504040204" pitchFamily="34" charset="-120"/>
                <a:ea typeface="微軟正黑體" panose="020B0604030504040204" pitchFamily="34" charset="-120"/>
              </a:rPr>
              <a:t>線性回歸</a:t>
            </a:r>
          </a:p>
        </p:txBody>
      </p:sp>
      <p:sp>
        <p:nvSpPr>
          <p:cNvPr id="18" name="圓角矩形 17"/>
          <p:cNvSpPr/>
          <p:nvPr/>
        </p:nvSpPr>
        <p:spPr>
          <a:xfrm>
            <a:off x="9601200" y="1766532"/>
            <a:ext cx="1440000" cy="1440000"/>
          </a:xfrm>
          <a:prstGeom prst="roundRec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r>
              <a:rPr lang="zh-TW" altLang="en-US" sz="2400" dirty="0">
                <a:latin typeface="微軟正黑體" panose="020B0604030504040204" pitchFamily="34" charset="-120"/>
                <a:ea typeface="微軟正黑體" panose="020B0604030504040204" pitchFamily="34" charset="-120"/>
              </a:rPr>
              <a:t>分群演算法</a:t>
            </a:r>
            <a:endParaRPr lang="en-US" altLang="zh-TW" sz="2400" dirty="0">
              <a:latin typeface="微軟正黑體" panose="020B0604030504040204" pitchFamily="34" charset="-120"/>
              <a:ea typeface="微軟正黑體" panose="020B0604030504040204" pitchFamily="34" charset="-120"/>
            </a:endParaRPr>
          </a:p>
        </p:txBody>
      </p:sp>
      <p:sp>
        <p:nvSpPr>
          <p:cNvPr id="19" name="圓角矩形 18"/>
          <p:cNvSpPr/>
          <p:nvPr/>
        </p:nvSpPr>
        <p:spPr>
          <a:xfrm>
            <a:off x="9872250" y="3654150"/>
            <a:ext cx="1440000" cy="1440000"/>
          </a:xfrm>
          <a:prstGeom prst="roundRect">
            <a:avLst/>
          </a:prstGeom>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zh-TW" altLang="en-US" sz="2400" dirty="0">
                <a:latin typeface="微軟正黑體" panose="020B0604030504040204" pitchFamily="34" charset="-120"/>
                <a:ea typeface="微軟正黑體" panose="020B0604030504040204" pitchFamily="34" charset="-120"/>
              </a:rPr>
              <a:t>深度學習</a:t>
            </a:r>
          </a:p>
        </p:txBody>
      </p:sp>
      <p:sp>
        <p:nvSpPr>
          <p:cNvPr id="20" name="圓角矩形 19"/>
          <p:cNvSpPr/>
          <p:nvPr/>
        </p:nvSpPr>
        <p:spPr>
          <a:xfrm>
            <a:off x="7959450" y="4374150"/>
            <a:ext cx="1440000" cy="1440000"/>
          </a:xfrm>
          <a:prstGeom prst="roundRect">
            <a:avLst/>
          </a:prstGeom>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r>
              <a:rPr lang="zh-TW" altLang="en-US" sz="2400" dirty="0">
                <a:latin typeface="微軟正黑體" panose="020B0604030504040204" pitchFamily="34" charset="-120"/>
                <a:ea typeface="微軟正黑體" panose="020B0604030504040204" pitchFamily="34" charset="-120"/>
              </a:rPr>
              <a:t>類神經網路</a:t>
            </a:r>
          </a:p>
        </p:txBody>
      </p:sp>
    </p:spTree>
    <p:extLst>
      <p:ext uri="{BB962C8B-B14F-4D97-AF65-F5344CB8AC3E}">
        <p14:creationId xmlns:p14="http://schemas.microsoft.com/office/powerpoint/2010/main" val="408595816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7"/>
                                        </p:tgtEl>
                                        <p:attrNameLst>
                                          <p:attrName>style.visibility</p:attrName>
                                        </p:attrNameLst>
                                      </p:cBhvr>
                                      <p:to>
                                        <p:strVal val="visible"/>
                                      </p:to>
                                    </p:set>
                                    <p:anim calcmode="lin" valueType="num">
                                      <p:cBhvr>
                                        <p:cTn id="7" dur="500" fill="hold"/>
                                        <p:tgtEl>
                                          <p:spTgt spid="7"/>
                                        </p:tgtEl>
                                        <p:attrNameLst>
                                          <p:attrName>ppt_w</p:attrName>
                                        </p:attrNameLst>
                                      </p:cBhvr>
                                      <p:tavLst>
                                        <p:tav tm="0">
                                          <p:val>
                                            <p:fltVal val="0"/>
                                          </p:val>
                                        </p:tav>
                                        <p:tav tm="100000">
                                          <p:val>
                                            <p:strVal val="#ppt_w"/>
                                          </p:val>
                                        </p:tav>
                                      </p:tavLst>
                                    </p:anim>
                                    <p:anim calcmode="lin" valueType="num">
                                      <p:cBhvr>
                                        <p:cTn id="8" dur="500" fill="hold"/>
                                        <p:tgtEl>
                                          <p:spTgt spid="7"/>
                                        </p:tgtEl>
                                        <p:attrNameLst>
                                          <p:attrName>ppt_h</p:attrName>
                                        </p:attrNameLst>
                                      </p:cBhvr>
                                      <p:tavLst>
                                        <p:tav tm="0">
                                          <p:val>
                                            <p:fltVal val="0"/>
                                          </p:val>
                                        </p:tav>
                                        <p:tav tm="100000">
                                          <p:val>
                                            <p:strVal val="#ppt_h"/>
                                          </p:val>
                                        </p:tav>
                                      </p:tavLst>
                                    </p:anim>
                                    <p:animEffect transition="in" filter="fade">
                                      <p:cBhvr>
                                        <p:cTn id="9" dur="500"/>
                                        <p:tgtEl>
                                          <p:spTgt spid="7"/>
                                        </p:tgtEl>
                                      </p:cBhvr>
                                    </p:animEffect>
                                  </p:childTnLst>
                                </p:cTn>
                              </p:par>
                              <p:par>
                                <p:cTn id="10" presetID="10" presetClass="entr" presetSubtype="0" fill="hold" grpId="0" nodeType="with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fade">
                                      <p:cBhvr>
                                        <p:cTn id="12" dur="500"/>
                                        <p:tgtEl>
                                          <p:spTgt spid="8"/>
                                        </p:tgtEl>
                                      </p:cBhvr>
                                    </p:animEffect>
                                  </p:childTnLst>
                                </p:cTn>
                              </p:par>
                            </p:childTnLst>
                          </p:cTn>
                        </p:par>
                      </p:childTnLst>
                    </p:cTn>
                  </p:par>
                  <p:par>
                    <p:cTn id="13" fill="hold">
                      <p:stCondLst>
                        <p:cond delay="indefinite"/>
                      </p:stCondLst>
                      <p:childTnLst>
                        <p:par>
                          <p:cTn id="14" fill="hold">
                            <p:stCondLst>
                              <p:cond delay="0"/>
                            </p:stCondLst>
                            <p:childTnLst>
                              <p:par>
                                <p:cTn id="15" presetID="53" presetClass="entr" presetSubtype="16" fill="hold" grpId="0" nodeType="clickEffect">
                                  <p:stCondLst>
                                    <p:cond delay="0"/>
                                  </p:stCondLst>
                                  <p:childTnLst>
                                    <p:set>
                                      <p:cBhvr>
                                        <p:cTn id="16" dur="1" fill="hold">
                                          <p:stCondLst>
                                            <p:cond delay="0"/>
                                          </p:stCondLst>
                                        </p:cTn>
                                        <p:tgtEl>
                                          <p:spTgt spid="14"/>
                                        </p:tgtEl>
                                        <p:attrNameLst>
                                          <p:attrName>style.visibility</p:attrName>
                                        </p:attrNameLst>
                                      </p:cBhvr>
                                      <p:to>
                                        <p:strVal val="visible"/>
                                      </p:to>
                                    </p:set>
                                    <p:anim calcmode="lin" valueType="num">
                                      <p:cBhvr>
                                        <p:cTn id="17" dur="500" fill="hold"/>
                                        <p:tgtEl>
                                          <p:spTgt spid="14"/>
                                        </p:tgtEl>
                                        <p:attrNameLst>
                                          <p:attrName>ppt_w</p:attrName>
                                        </p:attrNameLst>
                                      </p:cBhvr>
                                      <p:tavLst>
                                        <p:tav tm="0">
                                          <p:val>
                                            <p:fltVal val="0"/>
                                          </p:val>
                                        </p:tav>
                                        <p:tav tm="100000">
                                          <p:val>
                                            <p:strVal val="#ppt_w"/>
                                          </p:val>
                                        </p:tav>
                                      </p:tavLst>
                                    </p:anim>
                                    <p:anim calcmode="lin" valueType="num">
                                      <p:cBhvr>
                                        <p:cTn id="18" dur="500" fill="hold"/>
                                        <p:tgtEl>
                                          <p:spTgt spid="14"/>
                                        </p:tgtEl>
                                        <p:attrNameLst>
                                          <p:attrName>ppt_h</p:attrName>
                                        </p:attrNameLst>
                                      </p:cBhvr>
                                      <p:tavLst>
                                        <p:tav tm="0">
                                          <p:val>
                                            <p:fltVal val="0"/>
                                          </p:val>
                                        </p:tav>
                                        <p:tav tm="100000">
                                          <p:val>
                                            <p:strVal val="#ppt_h"/>
                                          </p:val>
                                        </p:tav>
                                      </p:tavLst>
                                    </p:anim>
                                    <p:animEffect transition="in" filter="fade">
                                      <p:cBhvr>
                                        <p:cTn id="19" dur="500"/>
                                        <p:tgtEl>
                                          <p:spTgt spid="14"/>
                                        </p:tgtEl>
                                      </p:cBhvr>
                                    </p:animEffect>
                                  </p:childTnLst>
                                </p:cTn>
                              </p:par>
                              <p:par>
                                <p:cTn id="20" presetID="53" presetClass="entr" presetSubtype="16" fill="hold" grpId="0" nodeType="withEffect">
                                  <p:stCondLst>
                                    <p:cond delay="0"/>
                                  </p:stCondLst>
                                  <p:childTnLst>
                                    <p:set>
                                      <p:cBhvr>
                                        <p:cTn id="21" dur="1" fill="hold">
                                          <p:stCondLst>
                                            <p:cond delay="0"/>
                                          </p:stCondLst>
                                        </p:cTn>
                                        <p:tgtEl>
                                          <p:spTgt spid="13"/>
                                        </p:tgtEl>
                                        <p:attrNameLst>
                                          <p:attrName>style.visibility</p:attrName>
                                        </p:attrNameLst>
                                      </p:cBhvr>
                                      <p:to>
                                        <p:strVal val="visible"/>
                                      </p:to>
                                    </p:set>
                                    <p:anim calcmode="lin" valueType="num">
                                      <p:cBhvr>
                                        <p:cTn id="22" dur="500" fill="hold"/>
                                        <p:tgtEl>
                                          <p:spTgt spid="13"/>
                                        </p:tgtEl>
                                        <p:attrNameLst>
                                          <p:attrName>ppt_w</p:attrName>
                                        </p:attrNameLst>
                                      </p:cBhvr>
                                      <p:tavLst>
                                        <p:tav tm="0">
                                          <p:val>
                                            <p:fltVal val="0"/>
                                          </p:val>
                                        </p:tav>
                                        <p:tav tm="100000">
                                          <p:val>
                                            <p:strVal val="#ppt_w"/>
                                          </p:val>
                                        </p:tav>
                                      </p:tavLst>
                                    </p:anim>
                                    <p:anim calcmode="lin" valueType="num">
                                      <p:cBhvr>
                                        <p:cTn id="23" dur="500" fill="hold"/>
                                        <p:tgtEl>
                                          <p:spTgt spid="13"/>
                                        </p:tgtEl>
                                        <p:attrNameLst>
                                          <p:attrName>ppt_h</p:attrName>
                                        </p:attrNameLst>
                                      </p:cBhvr>
                                      <p:tavLst>
                                        <p:tav tm="0">
                                          <p:val>
                                            <p:fltVal val="0"/>
                                          </p:val>
                                        </p:tav>
                                        <p:tav tm="100000">
                                          <p:val>
                                            <p:strVal val="#ppt_h"/>
                                          </p:val>
                                        </p:tav>
                                      </p:tavLst>
                                    </p:anim>
                                    <p:animEffect transition="in" filter="fade">
                                      <p:cBhvr>
                                        <p:cTn id="24" dur="500"/>
                                        <p:tgtEl>
                                          <p:spTgt spid="13"/>
                                        </p:tgtEl>
                                      </p:cBhvr>
                                    </p:animEffect>
                                  </p:childTnLst>
                                </p:cTn>
                              </p:par>
                              <p:par>
                                <p:cTn id="25" presetID="53" presetClass="entr" presetSubtype="16" fill="hold" grpId="0" nodeType="withEffect">
                                  <p:stCondLst>
                                    <p:cond delay="0"/>
                                  </p:stCondLst>
                                  <p:childTnLst>
                                    <p:set>
                                      <p:cBhvr>
                                        <p:cTn id="26" dur="1" fill="hold">
                                          <p:stCondLst>
                                            <p:cond delay="0"/>
                                          </p:stCondLst>
                                        </p:cTn>
                                        <p:tgtEl>
                                          <p:spTgt spid="12"/>
                                        </p:tgtEl>
                                        <p:attrNameLst>
                                          <p:attrName>style.visibility</p:attrName>
                                        </p:attrNameLst>
                                      </p:cBhvr>
                                      <p:to>
                                        <p:strVal val="visible"/>
                                      </p:to>
                                    </p:set>
                                    <p:anim calcmode="lin" valueType="num">
                                      <p:cBhvr>
                                        <p:cTn id="27" dur="500" fill="hold"/>
                                        <p:tgtEl>
                                          <p:spTgt spid="12"/>
                                        </p:tgtEl>
                                        <p:attrNameLst>
                                          <p:attrName>ppt_w</p:attrName>
                                        </p:attrNameLst>
                                      </p:cBhvr>
                                      <p:tavLst>
                                        <p:tav tm="0">
                                          <p:val>
                                            <p:fltVal val="0"/>
                                          </p:val>
                                        </p:tav>
                                        <p:tav tm="100000">
                                          <p:val>
                                            <p:strVal val="#ppt_w"/>
                                          </p:val>
                                        </p:tav>
                                      </p:tavLst>
                                    </p:anim>
                                    <p:anim calcmode="lin" valueType="num">
                                      <p:cBhvr>
                                        <p:cTn id="28" dur="500" fill="hold"/>
                                        <p:tgtEl>
                                          <p:spTgt spid="12"/>
                                        </p:tgtEl>
                                        <p:attrNameLst>
                                          <p:attrName>ppt_h</p:attrName>
                                        </p:attrNameLst>
                                      </p:cBhvr>
                                      <p:tavLst>
                                        <p:tav tm="0">
                                          <p:val>
                                            <p:fltVal val="0"/>
                                          </p:val>
                                        </p:tav>
                                        <p:tav tm="100000">
                                          <p:val>
                                            <p:strVal val="#ppt_h"/>
                                          </p:val>
                                        </p:tav>
                                      </p:tavLst>
                                    </p:anim>
                                    <p:animEffect transition="in" filter="fade">
                                      <p:cBhvr>
                                        <p:cTn id="29" dur="500"/>
                                        <p:tgtEl>
                                          <p:spTgt spid="12"/>
                                        </p:tgtEl>
                                      </p:cBhvr>
                                    </p:animEffect>
                                  </p:childTnLst>
                                </p:cTn>
                              </p:par>
                              <p:par>
                                <p:cTn id="30" presetID="53" presetClass="entr" presetSubtype="16" fill="hold" grpId="0" nodeType="withEffect">
                                  <p:stCondLst>
                                    <p:cond delay="0"/>
                                  </p:stCondLst>
                                  <p:childTnLst>
                                    <p:set>
                                      <p:cBhvr>
                                        <p:cTn id="31" dur="1" fill="hold">
                                          <p:stCondLst>
                                            <p:cond delay="0"/>
                                          </p:stCondLst>
                                        </p:cTn>
                                        <p:tgtEl>
                                          <p:spTgt spid="11"/>
                                        </p:tgtEl>
                                        <p:attrNameLst>
                                          <p:attrName>style.visibility</p:attrName>
                                        </p:attrNameLst>
                                      </p:cBhvr>
                                      <p:to>
                                        <p:strVal val="visible"/>
                                      </p:to>
                                    </p:set>
                                    <p:anim calcmode="lin" valueType="num">
                                      <p:cBhvr>
                                        <p:cTn id="32" dur="500" fill="hold"/>
                                        <p:tgtEl>
                                          <p:spTgt spid="11"/>
                                        </p:tgtEl>
                                        <p:attrNameLst>
                                          <p:attrName>ppt_w</p:attrName>
                                        </p:attrNameLst>
                                      </p:cBhvr>
                                      <p:tavLst>
                                        <p:tav tm="0">
                                          <p:val>
                                            <p:fltVal val="0"/>
                                          </p:val>
                                        </p:tav>
                                        <p:tav tm="100000">
                                          <p:val>
                                            <p:strVal val="#ppt_w"/>
                                          </p:val>
                                        </p:tav>
                                      </p:tavLst>
                                    </p:anim>
                                    <p:anim calcmode="lin" valueType="num">
                                      <p:cBhvr>
                                        <p:cTn id="33" dur="500" fill="hold"/>
                                        <p:tgtEl>
                                          <p:spTgt spid="11"/>
                                        </p:tgtEl>
                                        <p:attrNameLst>
                                          <p:attrName>ppt_h</p:attrName>
                                        </p:attrNameLst>
                                      </p:cBhvr>
                                      <p:tavLst>
                                        <p:tav tm="0">
                                          <p:val>
                                            <p:fltVal val="0"/>
                                          </p:val>
                                        </p:tav>
                                        <p:tav tm="100000">
                                          <p:val>
                                            <p:strVal val="#ppt_h"/>
                                          </p:val>
                                        </p:tav>
                                      </p:tavLst>
                                    </p:anim>
                                    <p:animEffect transition="in" filter="fade">
                                      <p:cBhvr>
                                        <p:cTn id="34" dur="500"/>
                                        <p:tgtEl>
                                          <p:spTgt spid="11"/>
                                        </p:tgtEl>
                                      </p:cBhvr>
                                    </p:animEffect>
                                  </p:childTnLst>
                                </p:cTn>
                              </p:par>
                              <p:par>
                                <p:cTn id="35" presetID="53" presetClass="entr" presetSubtype="16" fill="hold" grpId="0" nodeType="withEffect">
                                  <p:stCondLst>
                                    <p:cond delay="0"/>
                                  </p:stCondLst>
                                  <p:childTnLst>
                                    <p:set>
                                      <p:cBhvr>
                                        <p:cTn id="36" dur="1" fill="hold">
                                          <p:stCondLst>
                                            <p:cond delay="0"/>
                                          </p:stCondLst>
                                        </p:cTn>
                                        <p:tgtEl>
                                          <p:spTgt spid="15"/>
                                        </p:tgtEl>
                                        <p:attrNameLst>
                                          <p:attrName>style.visibility</p:attrName>
                                        </p:attrNameLst>
                                      </p:cBhvr>
                                      <p:to>
                                        <p:strVal val="visible"/>
                                      </p:to>
                                    </p:set>
                                    <p:anim calcmode="lin" valueType="num">
                                      <p:cBhvr>
                                        <p:cTn id="37" dur="500" fill="hold"/>
                                        <p:tgtEl>
                                          <p:spTgt spid="15"/>
                                        </p:tgtEl>
                                        <p:attrNameLst>
                                          <p:attrName>ppt_w</p:attrName>
                                        </p:attrNameLst>
                                      </p:cBhvr>
                                      <p:tavLst>
                                        <p:tav tm="0">
                                          <p:val>
                                            <p:fltVal val="0"/>
                                          </p:val>
                                        </p:tav>
                                        <p:tav tm="100000">
                                          <p:val>
                                            <p:strVal val="#ppt_w"/>
                                          </p:val>
                                        </p:tav>
                                      </p:tavLst>
                                    </p:anim>
                                    <p:anim calcmode="lin" valueType="num">
                                      <p:cBhvr>
                                        <p:cTn id="38" dur="500" fill="hold"/>
                                        <p:tgtEl>
                                          <p:spTgt spid="15"/>
                                        </p:tgtEl>
                                        <p:attrNameLst>
                                          <p:attrName>ppt_h</p:attrName>
                                        </p:attrNameLst>
                                      </p:cBhvr>
                                      <p:tavLst>
                                        <p:tav tm="0">
                                          <p:val>
                                            <p:fltVal val="0"/>
                                          </p:val>
                                        </p:tav>
                                        <p:tav tm="100000">
                                          <p:val>
                                            <p:strVal val="#ppt_h"/>
                                          </p:val>
                                        </p:tav>
                                      </p:tavLst>
                                    </p:anim>
                                    <p:animEffect transition="in" filter="fade">
                                      <p:cBhvr>
                                        <p:cTn id="39" dur="500"/>
                                        <p:tgtEl>
                                          <p:spTgt spid="15"/>
                                        </p:tgtEl>
                                      </p:cBhvr>
                                    </p:animEffect>
                                  </p:childTnLst>
                                </p:cTn>
                              </p:par>
                            </p:childTnLst>
                          </p:cTn>
                        </p:par>
                        <p:par>
                          <p:cTn id="40" fill="hold">
                            <p:stCondLst>
                              <p:cond delay="500"/>
                            </p:stCondLst>
                            <p:childTnLst>
                              <p:par>
                                <p:cTn id="41" presetID="10" presetClass="entr" presetSubtype="0" fill="hold" grpId="0" nodeType="afterEffect">
                                  <p:stCondLst>
                                    <p:cond delay="0"/>
                                  </p:stCondLst>
                                  <p:childTnLst>
                                    <p:set>
                                      <p:cBhvr>
                                        <p:cTn id="42" dur="1" fill="hold">
                                          <p:stCondLst>
                                            <p:cond delay="0"/>
                                          </p:stCondLst>
                                        </p:cTn>
                                        <p:tgtEl>
                                          <p:spTgt spid="16"/>
                                        </p:tgtEl>
                                        <p:attrNameLst>
                                          <p:attrName>style.visibility</p:attrName>
                                        </p:attrNameLst>
                                      </p:cBhvr>
                                      <p:to>
                                        <p:strVal val="visible"/>
                                      </p:to>
                                    </p:set>
                                    <p:animEffect transition="in" filter="fade">
                                      <p:cBhvr>
                                        <p:cTn id="43" dur="500"/>
                                        <p:tgtEl>
                                          <p:spTgt spid="16"/>
                                        </p:tgtEl>
                                      </p:cBhvr>
                                    </p:animEffect>
                                  </p:childTnLst>
                                </p:cTn>
                              </p:par>
                            </p:childTnLst>
                          </p:cTn>
                        </p:par>
                      </p:childTnLst>
                    </p:cTn>
                  </p:par>
                  <p:par>
                    <p:cTn id="44" fill="hold">
                      <p:stCondLst>
                        <p:cond delay="indefinite"/>
                      </p:stCondLst>
                      <p:childTnLst>
                        <p:par>
                          <p:cTn id="45" fill="hold">
                            <p:stCondLst>
                              <p:cond delay="0"/>
                            </p:stCondLst>
                            <p:childTnLst>
                              <p:par>
                                <p:cTn id="46" presetID="53" presetClass="entr" presetSubtype="16" fill="hold" grpId="0" nodeType="clickEffect">
                                  <p:stCondLst>
                                    <p:cond delay="0"/>
                                  </p:stCondLst>
                                  <p:childTnLst>
                                    <p:set>
                                      <p:cBhvr>
                                        <p:cTn id="47" dur="1" fill="hold">
                                          <p:stCondLst>
                                            <p:cond delay="0"/>
                                          </p:stCondLst>
                                        </p:cTn>
                                        <p:tgtEl>
                                          <p:spTgt spid="17"/>
                                        </p:tgtEl>
                                        <p:attrNameLst>
                                          <p:attrName>style.visibility</p:attrName>
                                        </p:attrNameLst>
                                      </p:cBhvr>
                                      <p:to>
                                        <p:strVal val="visible"/>
                                      </p:to>
                                    </p:set>
                                    <p:anim calcmode="lin" valueType="num">
                                      <p:cBhvr>
                                        <p:cTn id="48" dur="500" fill="hold"/>
                                        <p:tgtEl>
                                          <p:spTgt spid="17"/>
                                        </p:tgtEl>
                                        <p:attrNameLst>
                                          <p:attrName>ppt_w</p:attrName>
                                        </p:attrNameLst>
                                      </p:cBhvr>
                                      <p:tavLst>
                                        <p:tav tm="0">
                                          <p:val>
                                            <p:fltVal val="0"/>
                                          </p:val>
                                        </p:tav>
                                        <p:tav tm="100000">
                                          <p:val>
                                            <p:strVal val="#ppt_w"/>
                                          </p:val>
                                        </p:tav>
                                      </p:tavLst>
                                    </p:anim>
                                    <p:anim calcmode="lin" valueType="num">
                                      <p:cBhvr>
                                        <p:cTn id="49" dur="500" fill="hold"/>
                                        <p:tgtEl>
                                          <p:spTgt spid="17"/>
                                        </p:tgtEl>
                                        <p:attrNameLst>
                                          <p:attrName>ppt_h</p:attrName>
                                        </p:attrNameLst>
                                      </p:cBhvr>
                                      <p:tavLst>
                                        <p:tav tm="0">
                                          <p:val>
                                            <p:fltVal val="0"/>
                                          </p:val>
                                        </p:tav>
                                        <p:tav tm="100000">
                                          <p:val>
                                            <p:strVal val="#ppt_h"/>
                                          </p:val>
                                        </p:tav>
                                      </p:tavLst>
                                    </p:anim>
                                    <p:animEffect transition="in" filter="fade">
                                      <p:cBhvr>
                                        <p:cTn id="50" dur="500"/>
                                        <p:tgtEl>
                                          <p:spTgt spid="17"/>
                                        </p:tgtEl>
                                      </p:cBhvr>
                                    </p:animEffect>
                                  </p:childTnLst>
                                </p:cTn>
                              </p:par>
                              <p:par>
                                <p:cTn id="51" presetID="53" presetClass="entr" presetSubtype="16" fill="hold" grpId="0" nodeType="withEffect">
                                  <p:stCondLst>
                                    <p:cond delay="0"/>
                                  </p:stCondLst>
                                  <p:childTnLst>
                                    <p:set>
                                      <p:cBhvr>
                                        <p:cTn id="52" dur="1" fill="hold">
                                          <p:stCondLst>
                                            <p:cond delay="0"/>
                                          </p:stCondLst>
                                        </p:cTn>
                                        <p:tgtEl>
                                          <p:spTgt spid="18"/>
                                        </p:tgtEl>
                                        <p:attrNameLst>
                                          <p:attrName>style.visibility</p:attrName>
                                        </p:attrNameLst>
                                      </p:cBhvr>
                                      <p:to>
                                        <p:strVal val="visible"/>
                                      </p:to>
                                    </p:set>
                                    <p:anim calcmode="lin" valueType="num">
                                      <p:cBhvr>
                                        <p:cTn id="53" dur="500" fill="hold"/>
                                        <p:tgtEl>
                                          <p:spTgt spid="18"/>
                                        </p:tgtEl>
                                        <p:attrNameLst>
                                          <p:attrName>ppt_w</p:attrName>
                                        </p:attrNameLst>
                                      </p:cBhvr>
                                      <p:tavLst>
                                        <p:tav tm="0">
                                          <p:val>
                                            <p:fltVal val="0"/>
                                          </p:val>
                                        </p:tav>
                                        <p:tav tm="100000">
                                          <p:val>
                                            <p:strVal val="#ppt_w"/>
                                          </p:val>
                                        </p:tav>
                                      </p:tavLst>
                                    </p:anim>
                                    <p:anim calcmode="lin" valueType="num">
                                      <p:cBhvr>
                                        <p:cTn id="54" dur="500" fill="hold"/>
                                        <p:tgtEl>
                                          <p:spTgt spid="18"/>
                                        </p:tgtEl>
                                        <p:attrNameLst>
                                          <p:attrName>ppt_h</p:attrName>
                                        </p:attrNameLst>
                                      </p:cBhvr>
                                      <p:tavLst>
                                        <p:tav tm="0">
                                          <p:val>
                                            <p:fltVal val="0"/>
                                          </p:val>
                                        </p:tav>
                                        <p:tav tm="100000">
                                          <p:val>
                                            <p:strVal val="#ppt_h"/>
                                          </p:val>
                                        </p:tav>
                                      </p:tavLst>
                                    </p:anim>
                                    <p:animEffect transition="in" filter="fade">
                                      <p:cBhvr>
                                        <p:cTn id="55" dur="500"/>
                                        <p:tgtEl>
                                          <p:spTgt spid="18"/>
                                        </p:tgtEl>
                                      </p:cBhvr>
                                    </p:animEffect>
                                  </p:childTnLst>
                                </p:cTn>
                              </p:par>
                              <p:par>
                                <p:cTn id="56" presetID="53" presetClass="entr" presetSubtype="16" fill="hold" grpId="0" nodeType="withEffect">
                                  <p:stCondLst>
                                    <p:cond delay="0"/>
                                  </p:stCondLst>
                                  <p:childTnLst>
                                    <p:set>
                                      <p:cBhvr>
                                        <p:cTn id="57" dur="1" fill="hold">
                                          <p:stCondLst>
                                            <p:cond delay="0"/>
                                          </p:stCondLst>
                                        </p:cTn>
                                        <p:tgtEl>
                                          <p:spTgt spid="20"/>
                                        </p:tgtEl>
                                        <p:attrNameLst>
                                          <p:attrName>style.visibility</p:attrName>
                                        </p:attrNameLst>
                                      </p:cBhvr>
                                      <p:to>
                                        <p:strVal val="visible"/>
                                      </p:to>
                                    </p:set>
                                    <p:anim calcmode="lin" valueType="num">
                                      <p:cBhvr>
                                        <p:cTn id="58" dur="500" fill="hold"/>
                                        <p:tgtEl>
                                          <p:spTgt spid="20"/>
                                        </p:tgtEl>
                                        <p:attrNameLst>
                                          <p:attrName>ppt_w</p:attrName>
                                        </p:attrNameLst>
                                      </p:cBhvr>
                                      <p:tavLst>
                                        <p:tav tm="0">
                                          <p:val>
                                            <p:fltVal val="0"/>
                                          </p:val>
                                        </p:tav>
                                        <p:tav tm="100000">
                                          <p:val>
                                            <p:strVal val="#ppt_w"/>
                                          </p:val>
                                        </p:tav>
                                      </p:tavLst>
                                    </p:anim>
                                    <p:anim calcmode="lin" valueType="num">
                                      <p:cBhvr>
                                        <p:cTn id="59" dur="500" fill="hold"/>
                                        <p:tgtEl>
                                          <p:spTgt spid="20"/>
                                        </p:tgtEl>
                                        <p:attrNameLst>
                                          <p:attrName>ppt_h</p:attrName>
                                        </p:attrNameLst>
                                      </p:cBhvr>
                                      <p:tavLst>
                                        <p:tav tm="0">
                                          <p:val>
                                            <p:fltVal val="0"/>
                                          </p:val>
                                        </p:tav>
                                        <p:tav tm="100000">
                                          <p:val>
                                            <p:strVal val="#ppt_h"/>
                                          </p:val>
                                        </p:tav>
                                      </p:tavLst>
                                    </p:anim>
                                    <p:animEffect transition="in" filter="fade">
                                      <p:cBhvr>
                                        <p:cTn id="60" dur="500"/>
                                        <p:tgtEl>
                                          <p:spTgt spid="20"/>
                                        </p:tgtEl>
                                      </p:cBhvr>
                                    </p:animEffect>
                                  </p:childTnLst>
                                </p:cTn>
                              </p:par>
                              <p:par>
                                <p:cTn id="61" presetID="53" presetClass="entr" presetSubtype="16" fill="hold" grpId="0" nodeType="withEffect">
                                  <p:stCondLst>
                                    <p:cond delay="0"/>
                                  </p:stCondLst>
                                  <p:childTnLst>
                                    <p:set>
                                      <p:cBhvr>
                                        <p:cTn id="62" dur="1" fill="hold">
                                          <p:stCondLst>
                                            <p:cond delay="0"/>
                                          </p:stCondLst>
                                        </p:cTn>
                                        <p:tgtEl>
                                          <p:spTgt spid="19"/>
                                        </p:tgtEl>
                                        <p:attrNameLst>
                                          <p:attrName>style.visibility</p:attrName>
                                        </p:attrNameLst>
                                      </p:cBhvr>
                                      <p:to>
                                        <p:strVal val="visible"/>
                                      </p:to>
                                    </p:set>
                                    <p:anim calcmode="lin" valueType="num">
                                      <p:cBhvr>
                                        <p:cTn id="63" dur="500" fill="hold"/>
                                        <p:tgtEl>
                                          <p:spTgt spid="19"/>
                                        </p:tgtEl>
                                        <p:attrNameLst>
                                          <p:attrName>ppt_w</p:attrName>
                                        </p:attrNameLst>
                                      </p:cBhvr>
                                      <p:tavLst>
                                        <p:tav tm="0">
                                          <p:val>
                                            <p:fltVal val="0"/>
                                          </p:val>
                                        </p:tav>
                                        <p:tav tm="100000">
                                          <p:val>
                                            <p:strVal val="#ppt_w"/>
                                          </p:val>
                                        </p:tav>
                                      </p:tavLst>
                                    </p:anim>
                                    <p:anim calcmode="lin" valueType="num">
                                      <p:cBhvr>
                                        <p:cTn id="64" dur="500" fill="hold"/>
                                        <p:tgtEl>
                                          <p:spTgt spid="19"/>
                                        </p:tgtEl>
                                        <p:attrNameLst>
                                          <p:attrName>ppt_h</p:attrName>
                                        </p:attrNameLst>
                                      </p:cBhvr>
                                      <p:tavLst>
                                        <p:tav tm="0">
                                          <p:val>
                                            <p:fltVal val="0"/>
                                          </p:val>
                                        </p:tav>
                                        <p:tav tm="100000">
                                          <p:val>
                                            <p:strVal val="#ppt_h"/>
                                          </p:val>
                                        </p:tav>
                                      </p:tavLst>
                                    </p:anim>
                                    <p:animEffect transition="in" filter="fade">
                                      <p:cBhvr>
                                        <p:cTn id="65" dur="500"/>
                                        <p:tgtEl>
                                          <p:spTgt spid="1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animBg="1"/>
      <p:bldP spid="8" grpId="0"/>
      <p:bldP spid="11" grpId="0" animBg="1"/>
      <p:bldP spid="12" grpId="0" animBg="1"/>
      <p:bldP spid="13" grpId="0" animBg="1"/>
      <p:bldP spid="14" grpId="0" animBg="1"/>
      <p:bldP spid="15" grpId="0" animBg="1"/>
      <p:bldP spid="16" grpId="0"/>
      <p:bldP spid="17" grpId="0" animBg="1"/>
      <p:bldP spid="18" grpId="0" animBg="1"/>
      <p:bldP spid="19" grpId="0" animBg="1"/>
      <p:bldP spid="20"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簡介</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Artificial Intelligence</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AI</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用來實現人工智慧應用的技術總稱</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Machine Learning</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ML</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實現人工智慧的技術之一，利用機器學習特定知識後，再進行應用</a:t>
            </a:r>
            <a:endParaRPr lang="en-US" altLang="zh-TW" dirty="0">
              <a:latin typeface="微軟正黑體" panose="020B0604030504040204" pitchFamily="34" charset="-120"/>
              <a:ea typeface="微軟正黑體" panose="020B0604030504040204" pitchFamily="34" charset="-120"/>
            </a:endParaRPr>
          </a:p>
          <a:p>
            <a:r>
              <a:rPr lang="en-US" altLang="zh-TW" dirty="0">
                <a:latin typeface="微軟正黑體" panose="020B0604030504040204" pitchFamily="34" charset="-120"/>
                <a:ea typeface="微軟正黑體" panose="020B0604030504040204" pitchFamily="34" charset="-120"/>
              </a:rPr>
              <a:t>Deep Learning</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DL</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機器學習技術的一種</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由原始的類神經網路進化而來的</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（類神經網路 </a:t>
            </a:r>
            <a:r>
              <a:rPr lang="zh-TW" altLang="en-US" dirty="0">
                <a:latin typeface="微軟正黑體" panose="020B0604030504040204" pitchFamily="34" charset="-120"/>
                <a:ea typeface="微軟正黑體" panose="020B0604030504040204" pitchFamily="34" charset="-120"/>
                <a:sym typeface="Symbol" panose="05050102010706020507" pitchFamily="18" charset="2"/>
              </a:rPr>
              <a:t> 深度學習</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04282235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26270923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什麼是智慧</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什麼是人工智慧</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智慧：</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像人類一樣的思考模式及行為</a:t>
            </a:r>
            <a:endParaRPr lang="en-US" altLang="zh-TW" dirty="0">
              <a:latin typeface="微軟正黑體" panose="020B0604030504040204" pitchFamily="34" charset="-120"/>
              <a:ea typeface="微軟正黑體" panose="020B0604030504040204" pitchFamily="34" charset="-120"/>
            </a:endParaRPr>
          </a:p>
          <a:p>
            <a:r>
              <a:rPr lang="zh-TW" altLang="en-US" dirty="0">
                <a:latin typeface="微軟正黑體" panose="020B0604030504040204" pitchFamily="34" charset="-120"/>
                <a:ea typeface="微軟正黑體" panose="020B0604030504040204" pitchFamily="34" charset="-120"/>
              </a:rPr>
              <a:t>人工智慧：</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利用機器實現像人類一樣的思考模式及行為，甚至超越人類原先的執行效能</a:t>
            </a:r>
          </a:p>
        </p:txBody>
      </p:sp>
    </p:spTree>
    <p:extLst>
      <p:ext uri="{BB962C8B-B14F-4D97-AF65-F5344CB8AC3E}">
        <p14:creationId xmlns:p14="http://schemas.microsoft.com/office/powerpoint/2010/main" val="39175597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什麼是智慧</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什麼是人工智慧</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John Searle</a:t>
            </a:r>
          </a:p>
          <a:p>
            <a:pPr lvl="1"/>
            <a:r>
              <a:rPr lang="en-US" altLang="zh-TW" dirty="0">
                <a:latin typeface="微軟正黑體" panose="020B0604030504040204" pitchFamily="34" charset="-120"/>
                <a:ea typeface="微軟正黑體" panose="020B0604030504040204" pitchFamily="34" charset="-120"/>
              </a:rPr>
              <a:t>Strong AI</a:t>
            </a:r>
            <a:r>
              <a:rPr lang="zh-TW" altLang="en-US" dirty="0">
                <a:latin typeface="微軟正黑體" panose="020B0604030504040204" pitchFamily="34" charset="-120"/>
                <a:ea typeface="微軟正黑體" panose="020B0604030504040204" pitchFamily="34" charset="-120"/>
              </a:rPr>
              <a:t>（強人工智慧）</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有智慧的心理</a:t>
            </a:r>
          </a:p>
          <a:p>
            <a:pPr lvl="2"/>
            <a:r>
              <a:rPr lang="zh-TW" altLang="en-US" dirty="0">
                <a:latin typeface="微軟正黑體" panose="020B0604030504040204" pitchFamily="34" charset="-120"/>
                <a:ea typeface="微軟正黑體" panose="020B0604030504040204" pitchFamily="34" charset="-120"/>
              </a:rPr>
              <a:t>藍色貓型機器人</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Weak AI</a:t>
            </a:r>
            <a:r>
              <a:rPr lang="zh-TW" altLang="en-US" dirty="0">
                <a:latin typeface="微軟正黑體" panose="020B0604030504040204" pitchFamily="34" charset="-120"/>
                <a:ea typeface="微軟正黑體" panose="020B0604030504040204" pitchFamily="34" charset="-120"/>
              </a:rPr>
              <a:t>（弱人工智慧）</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有智慧的行為</a:t>
            </a:r>
          </a:p>
          <a:p>
            <a:pPr lvl="2"/>
            <a:r>
              <a:rPr lang="zh-TW" altLang="en-US" dirty="0">
                <a:latin typeface="微軟正黑體" panose="020B0604030504040204" pitchFamily="34" charset="-120"/>
                <a:ea typeface="微軟正黑體" panose="020B0604030504040204" pitchFamily="34" charset="-120"/>
              </a:rPr>
              <a:t>自動駕駛系統、影像辨識、圖像辨識、聲音辨識</a:t>
            </a:r>
            <a:r>
              <a:rPr lang="en-US" altLang="zh-TW"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395960503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什麼是智慧</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什麼是人工智慧</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Alan Turing</a:t>
            </a:r>
          </a:p>
          <a:p>
            <a:pPr lvl="1"/>
            <a:r>
              <a:rPr lang="zh-TW" altLang="en-US" dirty="0">
                <a:latin typeface="微軟正黑體" panose="020B0604030504040204" pitchFamily="34" charset="-120"/>
                <a:ea typeface="微軟正黑體" panose="020B0604030504040204" pitchFamily="34" charset="-120"/>
              </a:rPr>
              <a:t>計算機科學之父</a:t>
            </a:r>
          </a:p>
          <a:p>
            <a:pPr lvl="1"/>
            <a:r>
              <a:rPr lang="zh-TW" altLang="en-US" dirty="0">
                <a:latin typeface="微軟正黑體" panose="020B0604030504040204" pitchFamily="34" charset="-120"/>
                <a:ea typeface="微軟正黑體" panose="020B0604030504040204" pitchFamily="34" charset="-120"/>
              </a:rPr>
              <a:t>人工智慧之父</a:t>
            </a:r>
          </a:p>
          <a:p>
            <a:pPr lvl="1"/>
            <a:r>
              <a:rPr lang="en-US" altLang="zh-TW" dirty="0">
                <a:latin typeface="微軟正黑體" panose="020B0604030504040204" pitchFamily="34" charset="-120"/>
                <a:ea typeface="微軟正黑體" panose="020B0604030504040204" pitchFamily="34" charset="-120"/>
              </a:rPr>
              <a:t>Turing test</a:t>
            </a:r>
          </a:p>
        </p:txBody>
      </p:sp>
      <p:pic>
        <p:nvPicPr>
          <p:cNvPr id="3074" name="Picture 2" descr="File:Alan Turing Aged 16 (cropped).jp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4610531" y="2396818"/>
            <a:ext cx="172946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3076" name="Picture 4" descr="https://expert-programming-tutor.com/blog/images/imitation_game.jpeg"/>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6896101" y="2396818"/>
            <a:ext cx="3246101" cy="2160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1423324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什麼是智慧</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什麼是人工智慧</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Alan Turing</a:t>
            </a:r>
          </a:p>
          <a:p>
            <a:pPr lvl="1"/>
            <a:r>
              <a:rPr lang="zh-TW" altLang="en-US" dirty="0">
                <a:latin typeface="微軟正黑體" panose="020B0604030504040204" pitchFamily="34" charset="-120"/>
                <a:ea typeface="微軟正黑體" panose="020B0604030504040204" pitchFamily="34" charset="-120"/>
              </a:rPr>
              <a:t>計算機科學之父</a:t>
            </a:r>
          </a:p>
          <a:p>
            <a:pPr lvl="1"/>
            <a:r>
              <a:rPr lang="zh-TW" altLang="en-US" dirty="0">
                <a:latin typeface="微軟正黑體" panose="020B0604030504040204" pitchFamily="34" charset="-120"/>
                <a:ea typeface="微軟正黑體" panose="020B0604030504040204" pitchFamily="34" charset="-120"/>
              </a:rPr>
              <a:t>人工智慧之父</a:t>
            </a:r>
          </a:p>
          <a:p>
            <a:pPr lvl="1"/>
            <a:r>
              <a:rPr lang="en-US" altLang="zh-TW" dirty="0">
                <a:latin typeface="微軟正黑體" panose="020B0604030504040204" pitchFamily="34" charset="-120"/>
                <a:ea typeface="微軟正黑體" panose="020B0604030504040204" pitchFamily="34" charset="-120"/>
              </a:rPr>
              <a:t>Turing test</a:t>
            </a:r>
          </a:p>
        </p:txBody>
      </p:sp>
      <p:pic>
        <p:nvPicPr>
          <p:cNvPr id="6" name="Picture 2" descr="Cartoon desktop computer vector image"/>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8207329" y="4164680"/>
            <a:ext cx="2241637" cy="1779860"/>
          </a:xfrm>
          <a:prstGeom prst="rect">
            <a:avLst/>
          </a:prstGeom>
          <a:noFill/>
          <a:extLst>
            <a:ext uri="{909E8E84-426E-40DD-AFC4-6F175D3DCCD1}">
              <a14:hiddenFill xmlns:a14="http://schemas.microsoft.com/office/drawing/2010/main">
                <a:solidFill>
                  <a:srgbClr val="FFFFFF"/>
                </a:solidFill>
              </a14:hiddenFill>
            </a:ext>
          </a:extLst>
        </p:spPr>
      </p:pic>
      <p:sp>
        <p:nvSpPr>
          <p:cNvPr id="7" name="橢圓 6"/>
          <p:cNvSpPr/>
          <p:nvPr/>
        </p:nvSpPr>
        <p:spPr>
          <a:xfrm>
            <a:off x="3541711" y="4181730"/>
            <a:ext cx="720000" cy="720000"/>
          </a:xfrm>
          <a:prstGeom prst="ellipse">
            <a:avLst/>
          </a:prstGeom>
          <a:solidFill>
            <a:srgbClr val="7030A0"/>
          </a:solidFill>
          <a:ln w="50800">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8" name="直線接點 7"/>
          <p:cNvCxnSpPr/>
          <p:nvPr/>
        </p:nvCxnSpPr>
        <p:spPr>
          <a:xfrm>
            <a:off x="3361711" y="5124705"/>
            <a:ext cx="1080000" cy="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9" name="直線接點 8"/>
          <p:cNvCxnSpPr>
            <a:stCxn id="7" idx="4"/>
          </p:cNvCxnSpPr>
          <p:nvPr/>
        </p:nvCxnSpPr>
        <p:spPr>
          <a:xfrm>
            <a:off x="3901711" y="4901729"/>
            <a:ext cx="0" cy="72000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10" name="直線接點 9"/>
          <p:cNvCxnSpPr/>
          <p:nvPr/>
        </p:nvCxnSpPr>
        <p:spPr>
          <a:xfrm>
            <a:off x="3901711" y="5621729"/>
            <a:ext cx="360000" cy="293551"/>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11" name="直線接點 10"/>
          <p:cNvCxnSpPr/>
          <p:nvPr/>
        </p:nvCxnSpPr>
        <p:spPr>
          <a:xfrm flipV="1">
            <a:off x="3541711" y="5621730"/>
            <a:ext cx="359999" cy="29355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12" name="直線單箭頭接點 11"/>
          <p:cNvCxnSpPr/>
          <p:nvPr/>
        </p:nvCxnSpPr>
        <p:spPr>
          <a:xfrm>
            <a:off x="4621711" y="4949428"/>
            <a:ext cx="3419475" cy="0"/>
          </a:xfrm>
          <a:prstGeom prst="straightConnector1">
            <a:avLst/>
          </a:prstGeom>
          <a:ln w="50800">
            <a:solidFill>
              <a:srgbClr val="00B050"/>
            </a:solidFill>
            <a:tailEnd type="triangle" w="lg" len="lg"/>
          </a:ln>
        </p:spPr>
        <p:style>
          <a:lnRef idx="1">
            <a:schemeClr val="accent6"/>
          </a:lnRef>
          <a:fillRef idx="0">
            <a:schemeClr val="accent6"/>
          </a:fillRef>
          <a:effectRef idx="0">
            <a:schemeClr val="accent6"/>
          </a:effectRef>
          <a:fontRef idx="minor">
            <a:schemeClr val="tx1"/>
          </a:fontRef>
        </p:style>
      </p:cxnSp>
      <p:sp>
        <p:nvSpPr>
          <p:cNvPr id="13" name="文字方塊 12"/>
          <p:cNvSpPr txBox="1"/>
          <p:nvPr/>
        </p:nvSpPr>
        <p:spPr>
          <a:xfrm>
            <a:off x="4534260" y="4465111"/>
            <a:ext cx="2479426" cy="400110"/>
          </a:xfrm>
          <a:prstGeom prst="rect">
            <a:avLst/>
          </a:prstGeom>
          <a:solidFill>
            <a:srgbClr val="00B050"/>
          </a:solid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今天天氣如何</a:t>
            </a:r>
            <a:r>
              <a:rPr lang="en-US" altLang="zh-TW" sz="20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14" name="直線單箭頭接點 13"/>
          <p:cNvCxnSpPr/>
          <p:nvPr/>
        </p:nvCxnSpPr>
        <p:spPr>
          <a:xfrm flipH="1">
            <a:off x="4621712" y="5309468"/>
            <a:ext cx="3329355"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15" name="文字方塊 14"/>
          <p:cNvSpPr txBox="1"/>
          <p:nvPr/>
        </p:nvSpPr>
        <p:spPr>
          <a:xfrm>
            <a:off x="6458055" y="5437063"/>
            <a:ext cx="1583131" cy="400110"/>
          </a:xfrm>
          <a:prstGeom prst="rect">
            <a:avLst/>
          </a:prstGeom>
          <a:solidFill>
            <a:srgbClr val="0070C0"/>
          </a:solid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我好餓</a:t>
            </a:r>
            <a:r>
              <a:rPr lang="en-US" altLang="zh-TW" sz="2000"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sp>
        <p:nvSpPr>
          <p:cNvPr id="16" name="矩形圖說文字 15"/>
          <p:cNvSpPr/>
          <p:nvPr/>
        </p:nvSpPr>
        <p:spPr>
          <a:xfrm>
            <a:off x="7608886" y="1709068"/>
            <a:ext cx="3438525" cy="1698625"/>
          </a:xfrm>
          <a:prstGeom prst="wedgeRectCallout">
            <a:avLst>
              <a:gd name="adj1" fmla="val -85435"/>
              <a:gd name="adj2" fmla="val 96706"/>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just"/>
            <a:r>
              <a:rPr lang="zh-TW" altLang="en-US" dirty="0">
                <a:solidFill>
                  <a:schemeClr val="bg1"/>
                </a:solidFill>
                <a:latin typeface="微軟正黑體" panose="020B0604030504040204" pitchFamily="34" charset="-120"/>
                <a:ea typeface="微軟正黑體" panose="020B0604030504040204" pitchFamily="34" charset="-120"/>
              </a:rPr>
              <a:t>試著跟受測物聊天一陣子，然後去推測他</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她</a:t>
            </a:r>
            <a:r>
              <a:rPr lang="en-US" altLang="zh-TW" dirty="0">
                <a:solidFill>
                  <a:schemeClr val="bg1"/>
                </a:solidFill>
                <a:latin typeface="微軟正黑體" panose="020B0604030504040204" pitchFamily="34" charset="-120"/>
                <a:ea typeface="微軟正黑體" panose="020B0604030504040204" pitchFamily="34" charset="-120"/>
              </a:rPr>
              <a:t>/</a:t>
            </a:r>
            <a:r>
              <a:rPr lang="zh-TW" altLang="en-US" dirty="0">
                <a:solidFill>
                  <a:schemeClr val="bg1"/>
                </a:solidFill>
                <a:latin typeface="微軟正黑體" panose="020B0604030504040204" pitchFamily="34" charset="-120"/>
                <a:ea typeface="微軟正黑體" panose="020B0604030504040204" pitchFamily="34" charset="-120"/>
              </a:rPr>
              <a:t>它是不是人類</a:t>
            </a:r>
            <a:r>
              <a:rPr lang="en-US" altLang="zh-TW" dirty="0">
                <a:solidFill>
                  <a:schemeClr val="bg1"/>
                </a:solidFill>
                <a:latin typeface="微軟正黑體" panose="020B0604030504040204" pitchFamily="34" charset="-120"/>
                <a:ea typeface="微軟正黑體" panose="020B0604030504040204" pitchFamily="34" charset="-120"/>
              </a:rPr>
              <a:t>?</a:t>
            </a:r>
            <a:endParaRPr lang="zh-TW" altLang="en-US"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51114570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333500" y="419100"/>
            <a:ext cx="9372600" cy="62230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 name="矩形 3"/>
          <p:cNvSpPr/>
          <p:nvPr/>
        </p:nvSpPr>
        <p:spPr>
          <a:xfrm>
            <a:off x="6066408" y="893549"/>
            <a:ext cx="4320480" cy="459472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5" name="流程圖: 多重文件 4"/>
          <p:cNvSpPr/>
          <p:nvPr/>
        </p:nvSpPr>
        <p:spPr>
          <a:xfrm>
            <a:off x="7784059" y="1112942"/>
            <a:ext cx="1085850" cy="1104900"/>
          </a:xfrm>
          <a:prstGeom prst="flowChartMultidocumen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6" name="直線單箭頭接點 5"/>
          <p:cNvCxnSpPr/>
          <p:nvPr/>
        </p:nvCxnSpPr>
        <p:spPr>
          <a:xfrm>
            <a:off x="2481451" y="1158249"/>
            <a:ext cx="3419475"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7" name="文字方塊 6"/>
          <p:cNvSpPr txBox="1"/>
          <p:nvPr/>
        </p:nvSpPr>
        <p:spPr>
          <a:xfrm>
            <a:off x="2394000" y="731767"/>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今天天氣如何</a:t>
            </a:r>
            <a:r>
              <a:rPr lang="en-US" altLang="zh-TW" sz="20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8" name="直線單箭頭接點 7"/>
          <p:cNvCxnSpPr/>
          <p:nvPr/>
        </p:nvCxnSpPr>
        <p:spPr>
          <a:xfrm flipH="1" flipV="1">
            <a:off x="2481451" y="1665330"/>
            <a:ext cx="3394798"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9" name="文字方塊 8"/>
          <p:cNvSpPr txBox="1"/>
          <p:nvPr/>
        </p:nvSpPr>
        <p:spPr>
          <a:xfrm>
            <a:off x="4432331" y="1703719"/>
            <a:ext cx="1522519"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會下雨唷</a:t>
            </a:r>
          </a:p>
        </p:txBody>
      </p:sp>
      <p:sp>
        <p:nvSpPr>
          <p:cNvPr id="10" name="文字方塊 9"/>
          <p:cNvSpPr txBox="1"/>
          <p:nvPr/>
        </p:nvSpPr>
        <p:spPr>
          <a:xfrm>
            <a:off x="6282432" y="2781981"/>
            <a:ext cx="1298326" cy="400110"/>
          </a:xfrm>
          <a:prstGeom prst="rect">
            <a:avLst/>
          </a:prstGeom>
          <a:noFill/>
        </p:spPr>
        <p:txBody>
          <a:bodyPr wrap="square" rtlCol="0">
            <a:spAutoFit/>
          </a:bodyPr>
          <a:lstStyle/>
          <a:p>
            <a:r>
              <a:rPr lang="zh-TW" altLang="en-US" sz="2000" dirty="0">
                <a:solidFill>
                  <a:schemeClr val="bg1"/>
                </a:solidFill>
                <a:latin typeface="微軟正黑體" panose="020B0604030504040204" pitchFamily="34" charset="-120"/>
                <a:ea typeface="微軟正黑體" panose="020B0604030504040204" pitchFamily="34" charset="-120"/>
              </a:rPr>
              <a:t>查表程式</a:t>
            </a:r>
          </a:p>
        </p:txBody>
      </p:sp>
      <p:sp>
        <p:nvSpPr>
          <p:cNvPr id="11" name="文字方塊 10"/>
          <p:cNvSpPr txBox="1"/>
          <p:nvPr/>
        </p:nvSpPr>
        <p:spPr>
          <a:xfrm>
            <a:off x="6066408" y="4780383"/>
            <a:ext cx="4320480" cy="707886"/>
          </a:xfrm>
          <a:prstGeom prst="rect">
            <a:avLst/>
          </a:prstGeom>
          <a:noFill/>
        </p:spPr>
        <p:txBody>
          <a:bodyPr wrap="square" rtlCol="0">
            <a:spAutoFit/>
          </a:bodyPr>
          <a:lstStyle/>
          <a:p>
            <a:pPr algn="just"/>
            <a:r>
              <a:rPr lang="zh-TW" altLang="en-US" sz="2000" dirty="0">
                <a:solidFill>
                  <a:schemeClr val="bg1"/>
                </a:solidFill>
                <a:latin typeface="微軟正黑體" panose="020B0604030504040204" pitchFamily="34" charset="-120"/>
                <a:ea typeface="微軟正黑體" panose="020B0604030504040204" pitchFamily="34" charset="-120"/>
              </a:rPr>
              <a:t>包含全世界所有對話資料及知識的資料庫</a:t>
            </a:r>
          </a:p>
        </p:txBody>
      </p:sp>
      <p:sp>
        <p:nvSpPr>
          <p:cNvPr id="12" name="流程圖: 多重文件 11"/>
          <p:cNvSpPr/>
          <p:nvPr/>
        </p:nvSpPr>
        <p:spPr>
          <a:xfrm>
            <a:off x="9117446" y="1112942"/>
            <a:ext cx="1085850" cy="1104900"/>
          </a:xfrm>
          <a:prstGeom prst="flowChartMultidocument">
            <a:avLst/>
          </a:prstGeom>
          <a:solidFill>
            <a:srgbClr val="C0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3" name="流程圖: 多重文件 12"/>
          <p:cNvSpPr/>
          <p:nvPr/>
        </p:nvSpPr>
        <p:spPr>
          <a:xfrm>
            <a:off x="7784059" y="2373011"/>
            <a:ext cx="1085850" cy="1104900"/>
          </a:xfrm>
          <a:prstGeom prst="flowChartMultidocument">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4" name="流程圖: 多重文件 13"/>
          <p:cNvSpPr/>
          <p:nvPr/>
        </p:nvSpPr>
        <p:spPr>
          <a:xfrm>
            <a:off x="7784059" y="3559160"/>
            <a:ext cx="1085850" cy="1104900"/>
          </a:xfrm>
          <a:prstGeom prst="flowChartMultidocument">
            <a:avLst/>
          </a:prstGeom>
          <a:solidFill>
            <a:srgbClr val="00206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5" name="流程圖: 多重文件 14"/>
          <p:cNvSpPr/>
          <p:nvPr/>
        </p:nvSpPr>
        <p:spPr>
          <a:xfrm>
            <a:off x="9041584" y="2373011"/>
            <a:ext cx="1085850" cy="1104900"/>
          </a:xfrm>
          <a:prstGeom prst="flowChartMultidocument">
            <a:avLst/>
          </a:prstGeom>
          <a:solidFill>
            <a:srgbClr val="0070C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6" name="流程圖: 多重文件 15"/>
          <p:cNvSpPr/>
          <p:nvPr/>
        </p:nvSpPr>
        <p:spPr>
          <a:xfrm>
            <a:off x="9041584" y="3559160"/>
            <a:ext cx="1085850" cy="1104900"/>
          </a:xfrm>
          <a:prstGeom prst="flowChartMultidocument">
            <a:avLst/>
          </a:prstGeom>
          <a:solidFill>
            <a:srgbClr val="7030A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17" name="直線單箭頭接點 16"/>
          <p:cNvCxnSpPr/>
          <p:nvPr/>
        </p:nvCxnSpPr>
        <p:spPr>
          <a:xfrm>
            <a:off x="2515652" y="2769881"/>
            <a:ext cx="3419475"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18" name="文字方塊 17"/>
          <p:cNvSpPr txBox="1"/>
          <p:nvPr/>
        </p:nvSpPr>
        <p:spPr>
          <a:xfrm>
            <a:off x="2428201" y="2343399"/>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吃飽了嗎</a:t>
            </a:r>
            <a:r>
              <a:rPr lang="en-US" altLang="zh-TW" sz="20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19" name="直線單箭頭接點 18"/>
          <p:cNvCxnSpPr/>
          <p:nvPr/>
        </p:nvCxnSpPr>
        <p:spPr>
          <a:xfrm flipH="1" flipV="1">
            <a:off x="2515652" y="3276962"/>
            <a:ext cx="3394798"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20" name="文字方塊 19"/>
          <p:cNvSpPr txBox="1"/>
          <p:nvPr/>
        </p:nvSpPr>
        <p:spPr>
          <a:xfrm>
            <a:off x="4334036" y="3315351"/>
            <a:ext cx="1601092"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還沒耶</a:t>
            </a:r>
            <a:r>
              <a:rPr lang="en-US" altLang="zh-TW" sz="2000"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21" name="直線單箭頭接點 20"/>
          <p:cNvCxnSpPr/>
          <p:nvPr/>
        </p:nvCxnSpPr>
        <p:spPr>
          <a:xfrm>
            <a:off x="2535376" y="4267969"/>
            <a:ext cx="3419475"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22" name="文字方塊 21"/>
          <p:cNvSpPr txBox="1"/>
          <p:nvPr/>
        </p:nvSpPr>
        <p:spPr>
          <a:xfrm>
            <a:off x="2447925" y="3841487"/>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恭喜發財</a:t>
            </a:r>
          </a:p>
        </p:txBody>
      </p:sp>
      <p:cxnSp>
        <p:nvCxnSpPr>
          <p:cNvPr id="23" name="直線單箭頭接點 22"/>
          <p:cNvCxnSpPr/>
          <p:nvPr/>
        </p:nvCxnSpPr>
        <p:spPr>
          <a:xfrm flipH="1" flipV="1">
            <a:off x="2535376" y="4775050"/>
            <a:ext cx="3394798"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24" name="文字方塊 23"/>
          <p:cNvSpPr txBox="1"/>
          <p:nvPr/>
        </p:nvSpPr>
        <p:spPr>
          <a:xfrm>
            <a:off x="4452057" y="4813439"/>
            <a:ext cx="1502794"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恭喜發財</a:t>
            </a:r>
          </a:p>
        </p:txBody>
      </p:sp>
      <p:sp>
        <p:nvSpPr>
          <p:cNvPr id="25" name="橢圓 24"/>
          <p:cNvSpPr/>
          <p:nvPr/>
        </p:nvSpPr>
        <p:spPr>
          <a:xfrm>
            <a:off x="1638016" y="1966714"/>
            <a:ext cx="720000" cy="720000"/>
          </a:xfrm>
          <a:prstGeom prst="ellipse">
            <a:avLst/>
          </a:prstGeom>
          <a:solidFill>
            <a:srgbClr val="7030A0"/>
          </a:solidFill>
          <a:ln w="50800">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26" name="直線接點 25"/>
          <p:cNvCxnSpPr/>
          <p:nvPr/>
        </p:nvCxnSpPr>
        <p:spPr>
          <a:xfrm>
            <a:off x="1458016" y="2909689"/>
            <a:ext cx="1080000" cy="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7" name="直線接點 26"/>
          <p:cNvCxnSpPr>
            <a:stCxn id="25" idx="4"/>
          </p:cNvCxnSpPr>
          <p:nvPr/>
        </p:nvCxnSpPr>
        <p:spPr>
          <a:xfrm>
            <a:off x="1998016" y="2686713"/>
            <a:ext cx="0" cy="72000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8" name="直線接點 27"/>
          <p:cNvCxnSpPr/>
          <p:nvPr/>
        </p:nvCxnSpPr>
        <p:spPr>
          <a:xfrm>
            <a:off x="1998016" y="3406713"/>
            <a:ext cx="360000" cy="293551"/>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9" name="直線接點 28"/>
          <p:cNvCxnSpPr/>
          <p:nvPr/>
        </p:nvCxnSpPr>
        <p:spPr>
          <a:xfrm flipV="1">
            <a:off x="1638016" y="3406714"/>
            <a:ext cx="359999" cy="293550"/>
          </a:xfrm>
          <a:prstGeom prst="line">
            <a:avLst/>
          </a:prstGeom>
          <a:ln w="50800"/>
        </p:spPr>
        <p:style>
          <a:lnRef idx="1">
            <a:schemeClr val="accent3"/>
          </a:lnRef>
          <a:fillRef idx="0">
            <a:schemeClr val="accent3"/>
          </a:fillRef>
          <a:effectRef idx="0">
            <a:schemeClr val="accent3"/>
          </a:effectRef>
          <a:fontRef idx="minor">
            <a:schemeClr val="tx1"/>
          </a:fontRef>
        </p:style>
      </p:cxnSp>
    </p:spTree>
    <p:extLst>
      <p:ext uri="{BB962C8B-B14F-4D97-AF65-F5344CB8AC3E}">
        <p14:creationId xmlns:p14="http://schemas.microsoft.com/office/powerpoint/2010/main" val="347033756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 name="矩形 29"/>
          <p:cNvSpPr/>
          <p:nvPr/>
        </p:nvSpPr>
        <p:spPr>
          <a:xfrm>
            <a:off x="1333500" y="419100"/>
            <a:ext cx="9372600" cy="62230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 name="矩形 3"/>
          <p:cNvSpPr/>
          <p:nvPr/>
        </p:nvSpPr>
        <p:spPr>
          <a:xfrm>
            <a:off x="6066408" y="893549"/>
            <a:ext cx="4320480" cy="459472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5" name="流程圖: 多重文件 4"/>
          <p:cNvSpPr/>
          <p:nvPr/>
        </p:nvSpPr>
        <p:spPr>
          <a:xfrm>
            <a:off x="7784059" y="1112942"/>
            <a:ext cx="1085850" cy="1104900"/>
          </a:xfrm>
          <a:prstGeom prst="flowChartMultidocumen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6" name="直線單箭頭接點 5"/>
          <p:cNvCxnSpPr/>
          <p:nvPr/>
        </p:nvCxnSpPr>
        <p:spPr>
          <a:xfrm>
            <a:off x="2481451" y="1158249"/>
            <a:ext cx="3419475"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7" name="文字方塊 6"/>
          <p:cNvSpPr txBox="1"/>
          <p:nvPr/>
        </p:nvSpPr>
        <p:spPr>
          <a:xfrm>
            <a:off x="2394000" y="731767"/>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今天天氣如何</a:t>
            </a:r>
            <a:r>
              <a:rPr lang="en-US" altLang="zh-TW" sz="20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8" name="直線單箭頭接點 7"/>
          <p:cNvCxnSpPr/>
          <p:nvPr/>
        </p:nvCxnSpPr>
        <p:spPr>
          <a:xfrm flipH="1" flipV="1">
            <a:off x="2481451" y="1665330"/>
            <a:ext cx="3394798"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9" name="文字方塊 8"/>
          <p:cNvSpPr txBox="1"/>
          <p:nvPr/>
        </p:nvSpPr>
        <p:spPr>
          <a:xfrm>
            <a:off x="4432331" y="1703719"/>
            <a:ext cx="1522519"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會下雨唷</a:t>
            </a:r>
          </a:p>
        </p:txBody>
      </p:sp>
      <p:sp>
        <p:nvSpPr>
          <p:cNvPr id="10" name="文字方塊 9"/>
          <p:cNvSpPr txBox="1"/>
          <p:nvPr/>
        </p:nvSpPr>
        <p:spPr>
          <a:xfrm>
            <a:off x="6282432" y="2781981"/>
            <a:ext cx="1298326" cy="400110"/>
          </a:xfrm>
          <a:prstGeom prst="rect">
            <a:avLst/>
          </a:prstGeom>
          <a:noFill/>
        </p:spPr>
        <p:txBody>
          <a:bodyPr wrap="square" rtlCol="0">
            <a:spAutoFit/>
          </a:bodyPr>
          <a:lstStyle/>
          <a:p>
            <a:r>
              <a:rPr lang="zh-TW" altLang="en-US" sz="2000" dirty="0">
                <a:solidFill>
                  <a:schemeClr val="bg1"/>
                </a:solidFill>
                <a:latin typeface="微軟正黑體" panose="020B0604030504040204" pitchFamily="34" charset="-120"/>
                <a:ea typeface="微軟正黑體" panose="020B0604030504040204" pitchFamily="34" charset="-120"/>
              </a:rPr>
              <a:t>查表程式</a:t>
            </a:r>
          </a:p>
        </p:txBody>
      </p:sp>
      <p:sp>
        <p:nvSpPr>
          <p:cNvPr id="11" name="文字方塊 10"/>
          <p:cNvSpPr txBox="1"/>
          <p:nvPr/>
        </p:nvSpPr>
        <p:spPr>
          <a:xfrm>
            <a:off x="6066408" y="4780383"/>
            <a:ext cx="4320480" cy="707886"/>
          </a:xfrm>
          <a:prstGeom prst="rect">
            <a:avLst/>
          </a:prstGeom>
          <a:noFill/>
        </p:spPr>
        <p:txBody>
          <a:bodyPr wrap="square" rtlCol="0">
            <a:spAutoFit/>
          </a:bodyPr>
          <a:lstStyle/>
          <a:p>
            <a:pPr algn="just"/>
            <a:r>
              <a:rPr lang="zh-TW" altLang="en-US" sz="2000" dirty="0">
                <a:solidFill>
                  <a:schemeClr val="bg1"/>
                </a:solidFill>
                <a:latin typeface="微軟正黑體" panose="020B0604030504040204" pitchFamily="34" charset="-120"/>
                <a:ea typeface="微軟正黑體" panose="020B0604030504040204" pitchFamily="34" charset="-120"/>
              </a:rPr>
              <a:t>包含全世界所有對話資料及知識的資料庫</a:t>
            </a:r>
          </a:p>
        </p:txBody>
      </p:sp>
      <p:sp>
        <p:nvSpPr>
          <p:cNvPr id="12" name="流程圖: 多重文件 11"/>
          <p:cNvSpPr/>
          <p:nvPr/>
        </p:nvSpPr>
        <p:spPr>
          <a:xfrm>
            <a:off x="9117446" y="1112942"/>
            <a:ext cx="1085850" cy="1104900"/>
          </a:xfrm>
          <a:prstGeom prst="flowChartMultidocument">
            <a:avLst/>
          </a:prstGeom>
          <a:solidFill>
            <a:srgbClr val="C0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3" name="流程圖: 多重文件 12"/>
          <p:cNvSpPr/>
          <p:nvPr/>
        </p:nvSpPr>
        <p:spPr>
          <a:xfrm>
            <a:off x="7784059" y="2373011"/>
            <a:ext cx="1085850" cy="1104900"/>
          </a:xfrm>
          <a:prstGeom prst="flowChartMultidocument">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4" name="流程圖: 多重文件 13"/>
          <p:cNvSpPr/>
          <p:nvPr/>
        </p:nvSpPr>
        <p:spPr>
          <a:xfrm>
            <a:off x="7784059" y="3559160"/>
            <a:ext cx="1085850" cy="1104900"/>
          </a:xfrm>
          <a:prstGeom prst="flowChartMultidocument">
            <a:avLst/>
          </a:prstGeom>
          <a:solidFill>
            <a:srgbClr val="00206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5" name="流程圖: 多重文件 14"/>
          <p:cNvSpPr/>
          <p:nvPr/>
        </p:nvSpPr>
        <p:spPr>
          <a:xfrm>
            <a:off x="9041584" y="2373011"/>
            <a:ext cx="1085850" cy="1104900"/>
          </a:xfrm>
          <a:prstGeom prst="flowChartMultidocument">
            <a:avLst/>
          </a:prstGeom>
          <a:solidFill>
            <a:srgbClr val="0070C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6" name="流程圖: 多重文件 15"/>
          <p:cNvSpPr/>
          <p:nvPr/>
        </p:nvSpPr>
        <p:spPr>
          <a:xfrm>
            <a:off x="9041584" y="3559160"/>
            <a:ext cx="1085850" cy="1104900"/>
          </a:xfrm>
          <a:prstGeom prst="flowChartMultidocument">
            <a:avLst/>
          </a:prstGeom>
          <a:solidFill>
            <a:srgbClr val="7030A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17" name="直線單箭頭接點 16"/>
          <p:cNvCxnSpPr/>
          <p:nvPr/>
        </p:nvCxnSpPr>
        <p:spPr>
          <a:xfrm>
            <a:off x="2515652" y="2769881"/>
            <a:ext cx="3419475"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18" name="文字方塊 17"/>
          <p:cNvSpPr txBox="1"/>
          <p:nvPr/>
        </p:nvSpPr>
        <p:spPr>
          <a:xfrm>
            <a:off x="2428201" y="2343399"/>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吃飽了嗎</a:t>
            </a:r>
            <a:r>
              <a:rPr lang="en-US" altLang="zh-TW" sz="2000" dirty="0">
                <a:solidFill>
                  <a:schemeClr val="bg1"/>
                </a:solidFill>
                <a:latin typeface="微軟正黑體" panose="020B0604030504040204" pitchFamily="34" charset="-120"/>
                <a:ea typeface="微軟正黑體" panose="020B0604030504040204" pitchFamily="34" charset="-120"/>
                <a:sym typeface="Symbol" panose="05050102010706020507" pitchFamily="18" charset="2"/>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19" name="直線單箭頭接點 18"/>
          <p:cNvCxnSpPr/>
          <p:nvPr/>
        </p:nvCxnSpPr>
        <p:spPr>
          <a:xfrm flipH="1" flipV="1">
            <a:off x="2515652" y="3276962"/>
            <a:ext cx="3394798"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20" name="文字方塊 19"/>
          <p:cNvSpPr txBox="1"/>
          <p:nvPr/>
        </p:nvSpPr>
        <p:spPr>
          <a:xfrm>
            <a:off x="4334036" y="3315351"/>
            <a:ext cx="1601092"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還沒耶</a:t>
            </a:r>
            <a:r>
              <a:rPr lang="en-US" altLang="zh-TW" sz="2000" dirty="0">
                <a:solidFill>
                  <a:schemeClr val="bg1"/>
                </a:solidFill>
                <a:latin typeface="微軟正黑體" panose="020B0604030504040204" pitchFamily="34" charset="-120"/>
                <a:ea typeface="微軟正黑體" panose="020B0604030504040204" pitchFamily="34" charset="-120"/>
              </a:rPr>
              <a:t>…</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cxnSp>
        <p:nvCxnSpPr>
          <p:cNvPr id="21" name="直線單箭頭接點 20"/>
          <p:cNvCxnSpPr/>
          <p:nvPr/>
        </p:nvCxnSpPr>
        <p:spPr>
          <a:xfrm>
            <a:off x="2535376" y="4267969"/>
            <a:ext cx="3419475"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22" name="文字方塊 21"/>
          <p:cNvSpPr txBox="1"/>
          <p:nvPr/>
        </p:nvSpPr>
        <p:spPr>
          <a:xfrm>
            <a:off x="2447925" y="3841487"/>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恭喜發財</a:t>
            </a:r>
          </a:p>
        </p:txBody>
      </p:sp>
      <p:cxnSp>
        <p:nvCxnSpPr>
          <p:cNvPr id="23" name="直線單箭頭接點 22"/>
          <p:cNvCxnSpPr/>
          <p:nvPr/>
        </p:nvCxnSpPr>
        <p:spPr>
          <a:xfrm flipH="1" flipV="1">
            <a:off x="2535376" y="4775050"/>
            <a:ext cx="3394798"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24" name="文字方塊 23"/>
          <p:cNvSpPr txBox="1"/>
          <p:nvPr/>
        </p:nvSpPr>
        <p:spPr>
          <a:xfrm>
            <a:off x="4452057" y="4813439"/>
            <a:ext cx="1502794"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恭喜發財</a:t>
            </a:r>
          </a:p>
        </p:txBody>
      </p:sp>
      <p:sp>
        <p:nvSpPr>
          <p:cNvPr id="25" name="橢圓 24"/>
          <p:cNvSpPr/>
          <p:nvPr/>
        </p:nvSpPr>
        <p:spPr>
          <a:xfrm>
            <a:off x="1638016" y="1966714"/>
            <a:ext cx="720000" cy="720000"/>
          </a:xfrm>
          <a:prstGeom prst="ellipse">
            <a:avLst/>
          </a:prstGeom>
          <a:solidFill>
            <a:srgbClr val="7030A0"/>
          </a:solidFill>
          <a:ln w="50800">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26" name="直線接點 25"/>
          <p:cNvCxnSpPr/>
          <p:nvPr/>
        </p:nvCxnSpPr>
        <p:spPr>
          <a:xfrm>
            <a:off x="1458016" y="2909689"/>
            <a:ext cx="1080000" cy="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7" name="直線接點 26"/>
          <p:cNvCxnSpPr>
            <a:stCxn id="25" idx="4"/>
          </p:cNvCxnSpPr>
          <p:nvPr/>
        </p:nvCxnSpPr>
        <p:spPr>
          <a:xfrm>
            <a:off x="1998016" y="2686713"/>
            <a:ext cx="0" cy="72000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8" name="直線接點 27"/>
          <p:cNvCxnSpPr/>
          <p:nvPr/>
        </p:nvCxnSpPr>
        <p:spPr>
          <a:xfrm>
            <a:off x="1998016" y="3406713"/>
            <a:ext cx="360000" cy="293551"/>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9" name="直線接點 28"/>
          <p:cNvCxnSpPr/>
          <p:nvPr/>
        </p:nvCxnSpPr>
        <p:spPr>
          <a:xfrm flipV="1">
            <a:off x="1638016" y="3406714"/>
            <a:ext cx="359999" cy="293550"/>
          </a:xfrm>
          <a:prstGeom prst="line">
            <a:avLst/>
          </a:prstGeom>
          <a:ln w="50800"/>
        </p:spPr>
        <p:style>
          <a:lnRef idx="1">
            <a:schemeClr val="accent3"/>
          </a:lnRef>
          <a:fillRef idx="0">
            <a:schemeClr val="accent3"/>
          </a:fillRef>
          <a:effectRef idx="0">
            <a:schemeClr val="accent3"/>
          </a:effectRef>
          <a:fontRef idx="minor">
            <a:schemeClr val="tx1"/>
          </a:fontRef>
        </p:style>
      </p:cxnSp>
      <p:sp>
        <p:nvSpPr>
          <p:cNvPr id="31" name="文字方塊 30"/>
          <p:cNvSpPr txBox="1"/>
          <p:nvPr/>
        </p:nvSpPr>
        <p:spPr>
          <a:xfrm>
            <a:off x="2539557" y="5821960"/>
            <a:ext cx="2867025" cy="461665"/>
          </a:xfrm>
          <a:prstGeom prst="rect">
            <a:avLst/>
          </a:prstGeom>
          <a:noFill/>
        </p:spPr>
        <p:txBody>
          <a:bodyPr wrap="square" rtlCol="0">
            <a:spAutoFit/>
          </a:bodyPr>
          <a:lstStyle/>
          <a:p>
            <a:r>
              <a:rPr lang="en-US" altLang="zh-TW" sz="2400" dirty="0">
                <a:solidFill>
                  <a:srgbClr val="FF0000"/>
                </a:solidFill>
                <a:latin typeface="微軟正黑體" panose="020B0604030504040204" pitchFamily="34" charset="-120"/>
                <a:ea typeface="微軟正黑體" panose="020B0604030504040204" pitchFamily="34" charset="-120"/>
              </a:rPr>
              <a:t>Turing test:</a:t>
            </a:r>
            <a:r>
              <a:rPr lang="zh-TW" altLang="en-US" sz="2400" dirty="0">
                <a:solidFill>
                  <a:srgbClr val="FF0000"/>
                </a:solidFill>
                <a:latin typeface="微軟正黑體" panose="020B0604030504040204" pitchFamily="34" charset="-120"/>
                <a:ea typeface="微軟正黑體" panose="020B0604030504040204" pitchFamily="34" charset="-120"/>
              </a:rPr>
              <a:t> </a:t>
            </a:r>
            <a:r>
              <a:rPr lang="en-US" altLang="zh-TW" sz="2400" dirty="0">
                <a:solidFill>
                  <a:srgbClr val="FF0000"/>
                </a:solidFill>
                <a:latin typeface="微軟正黑體" panose="020B0604030504040204" pitchFamily="34" charset="-120"/>
                <a:ea typeface="微軟正黑體" panose="020B0604030504040204" pitchFamily="34" charset="-120"/>
              </a:rPr>
              <a:t>Pass!!!</a:t>
            </a:r>
          </a:p>
        </p:txBody>
      </p:sp>
      <p:sp>
        <p:nvSpPr>
          <p:cNvPr id="32" name="文字方塊 31"/>
          <p:cNvSpPr txBox="1"/>
          <p:nvPr/>
        </p:nvSpPr>
        <p:spPr>
          <a:xfrm>
            <a:off x="6282432" y="5821960"/>
            <a:ext cx="3205163" cy="461665"/>
          </a:xfrm>
          <a:prstGeom prst="rect">
            <a:avLst/>
          </a:prstGeom>
          <a:noFill/>
        </p:spPr>
        <p:txBody>
          <a:bodyPr wrap="square" rtlCol="0">
            <a:spAutoFit/>
          </a:bodyPr>
          <a:lstStyle/>
          <a:p>
            <a:r>
              <a:rPr lang="en-US" altLang="zh-TW" sz="2400" dirty="0">
                <a:solidFill>
                  <a:srgbClr val="FF0000"/>
                </a:solidFill>
                <a:latin typeface="微軟正黑體" panose="020B0604030504040204" pitchFamily="34" charset="-120"/>
                <a:ea typeface="微軟正黑體" panose="020B0604030504040204" pitchFamily="34" charset="-120"/>
              </a:rPr>
              <a:t>Strong AI or Weak AI?</a:t>
            </a:r>
          </a:p>
        </p:txBody>
      </p:sp>
    </p:spTree>
    <p:extLst>
      <p:ext uri="{BB962C8B-B14F-4D97-AF65-F5344CB8AC3E}">
        <p14:creationId xmlns:p14="http://schemas.microsoft.com/office/powerpoint/2010/main" val="66644878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1"/>
                                        </p:tgtEl>
                                        <p:attrNameLst>
                                          <p:attrName>style.visibility</p:attrName>
                                        </p:attrNameLst>
                                      </p:cBhvr>
                                      <p:to>
                                        <p:strVal val="visible"/>
                                      </p:to>
                                    </p:set>
                                    <p:anim calcmode="lin" valueType="num">
                                      <p:cBhvr>
                                        <p:cTn id="7" dur="500" fill="hold"/>
                                        <p:tgtEl>
                                          <p:spTgt spid="31"/>
                                        </p:tgtEl>
                                        <p:attrNameLst>
                                          <p:attrName>ppt_w</p:attrName>
                                        </p:attrNameLst>
                                      </p:cBhvr>
                                      <p:tavLst>
                                        <p:tav tm="0">
                                          <p:val>
                                            <p:fltVal val="0"/>
                                          </p:val>
                                        </p:tav>
                                        <p:tav tm="100000">
                                          <p:val>
                                            <p:strVal val="#ppt_w"/>
                                          </p:val>
                                        </p:tav>
                                      </p:tavLst>
                                    </p:anim>
                                    <p:anim calcmode="lin" valueType="num">
                                      <p:cBhvr>
                                        <p:cTn id="8" dur="500" fill="hold"/>
                                        <p:tgtEl>
                                          <p:spTgt spid="31"/>
                                        </p:tgtEl>
                                        <p:attrNameLst>
                                          <p:attrName>ppt_h</p:attrName>
                                        </p:attrNameLst>
                                      </p:cBhvr>
                                      <p:tavLst>
                                        <p:tav tm="0">
                                          <p:val>
                                            <p:fltVal val="0"/>
                                          </p:val>
                                        </p:tav>
                                        <p:tav tm="100000">
                                          <p:val>
                                            <p:strVal val="#ppt_h"/>
                                          </p:val>
                                        </p:tav>
                                      </p:tavLst>
                                    </p:anim>
                                    <p:animEffect transition="in" filter="fade">
                                      <p:cBhvr>
                                        <p:cTn id="9" dur="500"/>
                                        <p:tgtEl>
                                          <p:spTgt spid="31"/>
                                        </p:tgtEl>
                                      </p:cBhvr>
                                    </p:animEffect>
                                  </p:childTnLst>
                                </p:cTn>
                              </p:par>
                            </p:childTnLst>
                          </p:cTn>
                        </p:par>
                        <p:par>
                          <p:cTn id="10" fill="hold">
                            <p:stCondLst>
                              <p:cond delay="500"/>
                            </p:stCondLst>
                            <p:childTnLst>
                              <p:par>
                                <p:cTn id="11" presetID="53" presetClass="entr" presetSubtype="16" fill="hold" grpId="0" nodeType="afterEffect">
                                  <p:stCondLst>
                                    <p:cond delay="0"/>
                                  </p:stCondLst>
                                  <p:childTnLst>
                                    <p:set>
                                      <p:cBhvr>
                                        <p:cTn id="12" dur="1" fill="hold">
                                          <p:stCondLst>
                                            <p:cond delay="0"/>
                                          </p:stCondLst>
                                        </p:cTn>
                                        <p:tgtEl>
                                          <p:spTgt spid="32"/>
                                        </p:tgtEl>
                                        <p:attrNameLst>
                                          <p:attrName>style.visibility</p:attrName>
                                        </p:attrNameLst>
                                      </p:cBhvr>
                                      <p:to>
                                        <p:strVal val="visible"/>
                                      </p:to>
                                    </p:set>
                                    <p:anim calcmode="lin" valueType="num">
                                      <p:cBhvr>
                                        <p:cTn id="13" dur="500" fill="hold"/>
                                        <p:tgtEl>
                                          <p:spTgt spid="32"/>
                                        </p:tgtEl>
                                        <p:attrNameLst>
                                          <p:attrName>ppt_w</p:attrName>
                                        </p:attrNameLst>
                                      </p:cBhvr>
                                      <p:tavLst>
                                        <p:tav tm="0">
                                          <p:val>
                                            <p:fltVal val="0"/>
                                          </p:val>
                                        </p:tav>
                                        <p:tav tm="100000">
                                          <p:val>
                                            <p:strVal val="#ppt_w"/>
                                          </p:val>
                                        </p:tav>
                                      </p:tavLst>
                                    </p:anim>
                                    <p:anim calcmode="lin" valueType="num">
                                      <p:cBhvr>
                                        <p:cTn id="14" dur="500" fill="hold"/>
                                        <p:tgtEl>
                                          <p:spTgt spid="32"/>
                                        </p:tgtEl>
                                        <p:attrNameLst>
                                          <p:attrName>ppt_h</p:attrName>
                                        </p:attrNameLst>
                                      </p:cBhvr>
                                      <p:tavLst>
                                        <p:tav tm="0">
                                          <p:val>
                                            <p:fltVal val="0"/>
                                          </p:val>
                                        </p:tav>
                                        <p:tav tm="100000">
                                          <p:val>
                                            <p:strVal val="#ppt_h"/>
                                          </p:val>
                                        </p:tav>
                                      </p:tavLst>
                                    </p:anim>
                                    <p:animEffect transition="in" filter="fade">
                                      <p:cBhvr>
                                        <p:cTn id="15" dur="500"/>
                                        <p:tgtEl>
                                          <p:spTgt spid="3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2"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 name="矩形 47"/>
          <p:cNvSpPr/>
          <p:nvPr/>
        </p:nvSpPr>
        <p:spPr>
          <a:xfrm>
            <a:off x="1778000" y="609600"/>
            <a:ext cx="8051800" cy="54229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6" name="橢圓 25"/>
          <p:cNvSpPr/>
          <p:nvPr/>
        </p:nvSpPr>
        <p:spPr>
          <a:xfrm>
            <a:off x="2710418" y="2390112"/>
            <a:ext cx="720000" cy="720000"/>
          </a:xfrm>
          <a:prstGeom prst="ellipse">
            <a:avLst/>
          </a:prstGeom>
          <a:solidFill>
            <a:srgbClr val="7030A0"/>
          </a:solidFill>
          <a:ln w="50800">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27" name="直線接點 26"/>
          <p:cNvCxnSpPr/>
          <p:nvPr/>
        </p:nvCxnSpPr>
        <p:spPr>
          <a:xfrm>
            <a:off x="2530418" y="3333087"/>
            <a:ext cx="1080000" cy="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8" name="直線接點 27"/>
          <p:cNvCxnSpPr>
            <a:stCxn id="26" idx="4"/>
          </p:cNvCxnSpPr>
          <p:nvPr/>
        </p:nvCxnSpPr>
        <p:spPr>
          <a:xfrm>
            <a:off x="3070418" y="3110111"/>
            <a:ext cx="0" cy="72000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9" name="直線接點 28"/>
          <p:cNvCxnSpPr/>
          <p:nvPr/>
        </p:nvCxnSpPr>
        <p:spPr>
          <a:xfrm>
            <a:off x="3070418" y="3830111"/>
            <a:ext cx="360000" cy="293551"/>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30" name="直線接點 29"/>
          <p:cNvCxnSpPr/>
          <p:nvPr/>
        </p:nvCxnSpPr>
        <p:spPr>
          <a:xfrm flipV="1">
            <a:off x="2710418" y="3830112"/>
            <a:ext cx="359999" cy="29355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31" name="直線單箭頭接點 30"/>
          <p:cNvCxnSpPr/>
          <p:nvPr/>
        </p:nvCxnSpPr>
        <p:spPr>
          <a:xfrm>
            <a:off x="4009493" y="1509300"/>
            <a:ext cx="3419475"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32" name="文字方塊 31"/>
          <p:cNvSpPr txBox="1"/>
          <p:nvPr/>
        </p:nvSpPr>
        <p:spPr>
          <a:xfrm>
            <a:off x="3922042" y="1082818"/>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33" name="直線單箭頭接點 32"/>
          <p:cNvCxnSpPr/>
          <p:nvPr/>
        </p:nvCxnSpPr>
        <p:spPr>
          <a:xfrm flipH="1" flipV="1">
            <a:off x="4009493" y="2016381"/>
            <a:ext cx="3394798"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34" name="文字方塊 33"/>
          <p:cNvSpPr txBox="1"/>
          <p:nvPr/>
        </p:nvSpPr>
        <p:spPr>
          <a:xfrm>
            <a:off x="5960373" y="2054770"/>
            <a:ext cx="1522519"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35" name="直線單箭頭接點 34"/>
          <p:cNvCxnSpPr/>
          <p:nvPr/>
        </p:nvCxnSpPr>
        <p:spPr>
          <a:xfrm>
            <a:off x="4043694" y="3120932"/>
            <a:ext cx="3419475"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36" name="文字方塊 35"/>
          <p:cNvSpPr txBox="1"/>
          <p:nvPr/>
        </p:nvSpPr>
        <p:spPr>
          <a:xfrm>
            <a:off x="3956243" y="2694450"/>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37" name="直線單箭頭接點 36"/>
          <p:cNvCxnSpPr/>
          <p:nvPr/>
        </p:nvCxnSpPr>
        <p:spPr>
          <a:xfrm flipH="1" flipV="1">
            <a:off x="4043694" y="3628013"/>
            <a:ext cx="3394798"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38" name="文字方塊 37"/>
          <p:cNvSpPr txBox="1"/>
          <p:nvPr/>
        </p:nvSpPr>
        <p:spPr>
          <a:xfrm>
            <a:off x="5960374" y="3666402"/>
            <a:ext cx="1522518"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你好</a:t>
            </a:r>
          </a:p>
        </p:txBody>
      </p:sp>
      <p:cxnSp>
        <p:nvCxnSpPr>
          <p:cNvPr id="39" name="直線單箭頭接點 38"/>
          <p:cNvCxnSpPr/>
          <p:nvPr/>
        </p:nvCxnSpPr>
        <p:spPr>
          <a:xfrm>
            <a:off x="4063418" y="4619020"/>
            <a:ext cx="3419475"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40" name="文字方塊 39"/>
          <p:cNvSpPr txBox="1"/>
          <p:nvPr/>
        </p:nvSpPr>
        <p:spPr>
          <a:xfrm>
            <a:off x="3975967" y="4192538"/>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41" name="直線單箭頭接點 40"/>
          <p:cNvCxnSpPr/>
          <p:nvPr/>
        </p:nvCxnSpPr>
        <p:spPr>
          <a:xfrm flipH="1" flipV="1">
            <a:off x="4063418" y="5126101"/>
            <a:ext cx="3394798"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42" name="文字方塊 41"/>
          <p:cNvSpPr txBox="1"/>
          <p:nvPr/>
        </p:nvSpPr>
        <p:spPr>
          <a:xfrm>
            <a:off x="5980098" y="5164490"/>
            <a:ext cx="1594419"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sp>
        <p:nvSpPr>
          <p:cNvPr id="43" name="橢圓 42"/>
          <p:cNvSpPr/>
          <p:nvPr/>
        </p:nvSpPr>
        <p:spPr>
          <a:xfrm>
            <a:off x="8076444" y="2390112"/>
            <a:ext cx="720000" cy="720000"/>
          </a:xfrm>
          <a:prstGeom prst="ellipse">
            <a:avLst/>
          </a:prstGeom>
          <a:solidFill>
            <a:srgbClr val="00B050"/>
          </a:solidFill>
          <a:ln w="50800">
            <a:solidFill>
              <a:schemeClr val="bg1"/>
            </a:solidFill>
          </a:ln>
        </p:spPr>
        <p:style>
          <a:lnRef idx="2">
            <a:schemeClr val="dk1"/>
          </a:lnRef>
          <a:fillRef idx="1">
            <a:schemeClr val="lt1"/>
          </a:fillRef>
          <a:effectRef idx="0">
            <a:schemeClr val="dk1"/>
          </a:effectRef>
          <a:fontRef idx="minor">
            <a:schemeClr val="dk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44" name="直線接點 43"/>
          <p:cNvCxnSpPr/>
          <p:nvPr/>
        </p:nvCxnSpPr>
        <p:spPr>
          <a:xfrm>
            <a:off x="7896444" y="3333087"/>
            <a:ext cx="1080000" cy="0"/>
          </a:xfrm>
          <a:prstGeom prst="line">
            <a:avLst/>
          </a:prstGeom>
          <a:ln w="50800">
            <a:solidFill>
              <a:schemeClr val="bg1"/>
            </a:solidFill>
          </a:ln>
        </p:spPr>
        <p:style>
          <a:lnRef idx="2">
            <a:schemeClr val="dk1"/>
          </a:lnRef>
          <a:fillRef idx="1">
            <a:schemeClr val="lt1"/>
          </a:fillRef>
          <a:effectRef idx="0">
            <a:schemeClr val="dk1"/>
          </a:effectRef>
          <a:fontRef idx="minor">
            <a:schemeClr val="dk1"/>
          </a:fontRef>
        </p:style>
      </p:cxnSp>
      <p:cxnSp>
        <p:nvCxnSpPr>
          <p:cNvPr id="45" name="直線接點 44"/>
          <p:cNvCxnSpPr>
            <a:stCxn id="43" idx="4"/>
          </p:cNvCxnSpPr>
          <p:nvPr/>
        </p:nvCxnSpPr>
        <p:spPr>
          <a:xfrm>
            <a:off x="8436444" y="3110111"/>
            <a:ext cx="0" cy="720000"/>
          </a:xfrm>
          <a:prstGeom prst="line">
            <a:avLst/>
          </a:prstGeom>
          <a:ln w="50800">
            <a:solidFill>
              <a:schemeClr val="bg1"/>
            </a:solidFill>
          </a:ln>
        </p:spPr>
        <p:style>
          <a:lnRef idx="2">
            <a:schemeClr val="dk1"/>
          </a:lnRef>
          <a:fillRef idx="1">
            <a:schemeClr val="lt1"/>
          </a:fillRef>
          <a:effectRef idx="0">
            <a:schemeClr val="dk1"/>
          </a:effectRef>
          <a:fontRef idx="minor">
            <a:schemeClr val="dk1"/>
          </a:fontRef>
        </p:style>
      </p:cxnSp>
      <p:cxnSp>
        <p:nvCxnSpPr>
          <p:cNvPr id="46" name="直線接點 45"/>
          <p:cNvCxnSpPr/>
          <p:nvPr/>
        </p:nvCxnSpPr>
        <p:spPr>
          <a:xfrm>
            <a:off x="8436444" y="3830111"/>
            <a:ext cx="360000" cy="293551"/>
          </a:xfrm>
          <a:prstGeom prst="line">
            <a:avLst/>
          </a:prstGeom>
          <a:ln w="50800">
            <a:solidFill>
              <a:schemeClr val="bg1"/>
            </a:solidFill>
          </a:ln>
        </p:spPr>
        <p:style>
          <a:lnRef idx="2">
            <a:schemeClr val="dk1"/>
          </a:lnRef>
          <a:fillRef idx="1">
            <a:schemeClr val="lt1"/>
          </a:fillRef>
          <a:effectRef idx="0">
            <a:schemeClr val="dk1"/>
          </a:effectRef>
          <a:fontRef idx="minor">
            <a:schemeClr val="dk1"/>
          </a:fontRef>
        </p:style>
      </p:cxnSp>
      <p:cxnSp>
        <p:nvCxnSpPr>
          <p:cNvPr id="47" name="直線接點 46"/>
          <p:cNvCxnSpPr/>
          <p:nvPr/>
        </p:nvCxnSpPr>
        <p:spPr>
          <a:xfrm flipV="1">
            <a:off x="8076444" y="3830112"/>
            <a:ext cx="359999" cy="293550"/>
          </a:xfrm>
          <a:prstGeom prst="line">
            <a:avLst/>
          </a:prstGeom>
          <a:ln w="50800">
            <a:solidFill>
              <a:schemeClr val="bg1"/>
            </a:solidFill>
          </a:ln>
        </p:spPr>
        <p:style>
          <a:lnRef idx="2">
            <a:schemeClr val="dk1"/>
          </a:lnRef>
          <a:fillRef idx="1">
            <a:schemeClr val="lt1"/>
          </a:fillRef>
          <a:effectRef idx="0">
            <a:schemeClr val="dk1"/>
          </a:effectRef>
          <a:fontRef idx="minor">
            <a:schemeClr val="dk1"/>
          </a:fontRef>
        </p:style>
      </p:cxnSp>
      <p:sp>
        <p:nvSpPr>
          <p:cNvPr id="2" name="文字方塊 1">
            <a:extLst>
              <a:ext uri="{FF2B5EF4-FFF2-40B4-BE49-F238E27FC236}">
                <a16:creationId xmlns:a16="http://schemas.microsoft.com/office/drawing/2014/main" id="{0C0DABC6-E706-7B97-3470-9A853D94A09F}"/>
              </a:ext>
            </a:extLst>
          </p:cNvPr>
          <p:cNvSpPr txBox="1"/>
          <p:nvPr/>
        </p:nvSpPr>
        <p:spPr>
          <a:xfrm>
            <a:off x="2335845" y="2098312"/>
            <a:ext cx="519713"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AI</a:t>
            </a:r>
            <a:endParaRPr lang="zh-TW" altLang="en-US" sz="20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7268905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 name="矩形 30"/>
          <p:cNvSpPr/>
          <p:nvPr/>
        </p:nvSpPr>
        <p:spPr>
          <a:xfrm>
            <a:off x="1333500" y="393700"/>
            <a:ext cx="9372600" cy="6223000"/>
          </a:xfrm>
          <a:prstGeom prst="rect">
            <a:avLst/>
          </a:prstGeom>
          <a:solidFill>
            <a:schemeClr val="tx1">
              <a:alpha val="9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4" name="矩形 3"/>
          <p:cNvSpPr/>
          <p:nvPr/>
        </p:nvSpPr>
        <p:spPr>
          <a:xfrm>
            <a:off x="6142608" y="728449"/>
            <a:ext cx="4320480" cy="4594720"/>
          </a:xfrm>
          <a:prstGeom prst="rect">
            <a:avLst/>
          </a:prstGeom>
          <a:solidFill>
            <a:srgbClr val="92D05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5" name="流程圖: 多重文件 4"/>
          <p:cNvSpPr/>
          <p:nvPr/>
        </p:nvSpPr>
        <p:spPr>
          <a:xfrm>
            <a:off x="7860259" y="947842"/>
            <a:ext cx="1085850" cy="1104900"/>
          </a:xfrm>
          <a:prstGeom prst="flowChartMultidocument">
            <a:avLst/>
          </a:prstGeom>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6" name="直線單箭頭接點 5"/>
          <p:cNvCxnSpPr/>
          <p:nvPr/>
        </p:nvCxnSpPr>
        <p:spPr>
          <a:xfrm>
            <a:off x="2557651" y="993149"/>
            <a:ext cx="3419475"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7" name="文字方塊 6"/>
          <p:cNvSpPr txBox="1"/>
          <p:nvPr/>
        </p:nvSpPr>
        <p:spPr>
          <a:xfrm>
            <a:off x="2470200" y="566667"/>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8" name="直線單箭頭接點 7"/>
          <p:cNvCxnSpPr/>
          <p:nvPr/>
        </p:nvCxnSpPr>
        <p:spPr>
          <a:xfrm flipH="1" flipV="1">
            <a:off x="2557651" y="1500230"/>
            <a:ext cx="3394798" cy="0"/>
          </a:xfrm>
          <a:prstGeom prst="straightConnector1">
            <a:avLst/>
          </a:prstGeom>
          <a:ln w="50800">
            <a:tailEnd type="triangle" w="lg" len="lg"/>
          </a:ln>
        </p:spPr>
        <p:style>
          <a:lnRef idx="1">
            <a:schemeClr val="accent6"/>
          </a:lnRef>
          <a:fillRef idx="0">
            <a:schemeClr val="accent6"/>
          </a:fillRef>
          <a:effectRef idx="0">
            <a:schemeClr val="accent6"/>
          </a:effectRef>
          <a:fontRef idx="minor">
            <a:schemeClr val="tx1"/>
          </a:fontRef>
        </p:style>
      </p:cxnSp>
      <p:sp>
        <p:nvSpPr>
          <p:cNvPr id="9" name="文字方塊 8"/>
          <p:cNvSpPr txBox="1"/>
          <p:nvPr/>
        </p:nvSpPr>
        <p:spPr>
          <a:xfrm>
            <a:off x="4508531" y="1538619"/>
            <a:ext cx="1522519"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sp>
        <p:nvSpPr>
          <p:cNvPr id="10" name="文字方塊 9"/>
          <p:cNvSpPr txBox="1"/>
          <p:nvPr/>
        </p:nvSpPr>
        <p:spPr>
          <a:xfrm>
            <a:off x="6358632" y="2616881"/>
            <a:ext cx="1298326" cy="400110"/>
          </a:xfrm>
          <a:prstGeom prst="rect">
            <a:avLst/>
          </a:prstGeom>
          <a:noFill/>
        </p:spPr>
        <p:txBody>
          <a:bodyPr wrap="square" rtlCol="0">
            <a:spAutoFit/>
          </a:bodyPr>
          <a:lstStyle/>
          <a:p>
            <a:r>
              <a:rPr lang="zh-TW" altLang="en-US" sz="2000" dirty="0">
                <a:solidFill>
                  <a:schemeClr val="bg1"/>
                </a:solidFill>
                <a:latin typeface="微軟正黑體" panose="020B0604030504040204" pitchFamily="34" charset="-120"/>
                <a:ea typeface="微軟正黑體" panose="020B0604030504040204" pitchFamily="34" charset="-120"/>
              </a:rPr>
              <a:t>查表程式</a:t>
            </a:r>
          </a:p>
        </p:txBody>
      </p:sp>
      <p:sp>
        <p:nvSpPr>
          <p:cNvPr id="11" name="文字方塊 10"/>
          <p:cNvSpPr txBox="1"/>
          <p:nvPr/>
        </p:nvSpPr>
        <p:spPr>
          <a:xfrm>
            <a:off x="6142608" y="4615283"/>
            <a:ext cx="4320480" cy="707886"/>
          </a:xfrm>
          <a:prstGeom prst="rect">
            <a:avLst/>
          </a:prstGeom>
          <a:noFill/>
        </p:spPr>
        <p:txBody>
          <a:bodyPr wrap="square" rtlCol="0">
            <a:spAutoFit/>
          </a:bodyPr>
          <a:lstStyle/>
          <a:p>
            <a:pPr algn="just"/>
            <a:r>
              <a:rPr lang="zh-TW" altLang="en-US" sz="2000" dirty="0">
                <a:solidFill>
                  <a:schemeClr val="bg1"/>
                </a:solidFill>
                <a:latin typeface="微軟正黑體" panose="020B0604030504040204" pitchFamily="34" charset="-120"/>
                <a:ea typeface="微軟正黑體" panose="020B0604030504040204" pitchFamily="34" charset="-120"/>
              </a:rPr>
              <a:t>包含全世界所有對話資料及知識的資料庫</a:t>
            </a:r>
          </a:p>
        </p:txBody>
      </p:sp>
      <p:sp>
        <p:nvSpPr>
          <p:cNvPr id="12" name="流程圖: 多重文件 11"/>
          <p:cNvSpPr/>
          <p:nvPr/>
        </p:nvSpPr>
        <p:spPr>
          <a:xfrm>
            <a:off x="9193646" y="947842"/>
            <a:ext cx="1085850" cy="1104900"/>
          </a:xfrm>
          <a:prstGeom prst="flowChartMultidocument">
            <a:avLst/>
          </a:prstGeom>
          <a:solidFill>
            <a:srgbClr val="C00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3" name="流程圖: 多重文件 12"/>
          <p:cNvSpPr/>
          <p:nvPr/>
        </p:nvSpPr>
        <p:spPr>
          <a:xfrm>
            <a:off x="7860259" y="2207911"/>
            <a:ext cx="1085850" cy="1104900"/>
          </a:xfrm>
          <a:prstGeom prst="flowChartMultidocument">
            <a:avLst/>
          </a:prstGeom>
          <a:solidFill>
            <a:srgbClr val="FFC00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4" name="流程圖: 多重文件 13"/>
          <p:cNvSpPr/>
          <p:nvPr/>
        </p:nvSpPr>
        <p:spPr>
          <a:xfrm>
            <a:off x="7860259" y="3394060"/>
            <a:ext cx="1085850" cy="1104900"/>
          </a:xfrm>
          <a:prstGeom prst="flowChartMultidocument">
            <a:avLst/>
          </a:prstGeom>
          <a:solidFill>
            <a:srgbClr val="00206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5" name="流程圖: 多重文件 14"/>
          <p:cNvSpPr/>
          <p:nvPr/>
        </p:nvSpPr>
        <p:spPr>
          <a:xfrm>
            <a:off x="9117784" y="2207911"/>
            <a:ext cx="1085850" cy="1104900"/>
          </a:xfrm>
          <a:prstGeom prst="flowChartMultidocument">
            <a:avLst/>
          </a:prstGeom>
          <a:solidFill>
            <a:srgbClr val="0070C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sp>
        <p:nvSpPr>
          <p:cNvPr id="16" name="流程圖: 多重文件 15"/>
          <p:cNvSpPr/>
          <p:nvPr/>
        </p:nvSpPr>
        <p:spPr>
          <a:xfrm>
            <a:off x="9117784" y="3394060"/>
            <a:ext cx="1085850" cy="1104900"/>
          </a:xfrm>
          <a:prstGeom prst="flowChartMultidocument">
            <a:avLst/>
          </a:prstGeom>
          <a:solidFill>
            <a:srgbClr val="7030A0"/>
          </a:solidFill>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solidFill>
                <a:schemeClr val="bg1"/>
              </a:solidFill>
              <a:latin typeface="微軟正黑體" panose="020B0604030504040204" pitchFamily="34" charset="-120"/>
              <a:ea typeface="微軟正黑體" panose="020B0604030504040204" pitchFamily="34" charset="-120"/>
            </a:endParaRPr>
          </a:p>
        </p:txBody>
      </p:sp>
      <p:cxnSp>
        <p:nvCxnSpPr>
          <p:cNvPr id="17" name="直線單箭頭接點 16"/>
          <p:cNvCxnSpPr/>
          <p:nvPr/>
        </p:nvCxnSpPr>
        <p:spPr>
          <a:xfrm>
            <a:off x="2591852" y="2604781"/>
            <a:ext cx="3419475"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18" name="文字方塊 17"/>
          <p:cNvSpPr txBox="1"/>
          <p:nvPr/>
        </p:nvSpPr>
        <p:spPr>
          <a:xfrm>
            <a:off x="2504401" y="2178299"/>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19" name="直線單箭頭接點 18"/>
          <p:cNvCxnSpPr/>
          <p:nvPr/>
        </p:nvCxnSpPr>
        <p:spPr>
          <a:xfrm flipH="1" flipV="1">
            <a:off x="2591852" y="3111862"/>
            <a:ext cx="3394798" cy="0"/>
          </a:xfrm>
          <a:prstGeom prst="straightConnector1">
            <a:avLst/>
          </a:prstGeom>
          <a:ln w="50800">
            <a:solidFill>
              <a:srgbClr val="7030A0"/>
            </a:solidFill>
            <a:tailEnd type="triangle" w="lg" len="lg"/>
          </a:ln>
        </p:spPr>
        <p:style>
          <a:lnRef idx="1">
            <a:schemeClr val="accent6"/>
          </a:lnRef>
          <a:fillRef idx="0">
            <a:schemeClr val="accent6"/>
          </a:fillRef>
          <a:effectRef idx="0">
            <a:schemeClr val="accent6"/>
          </a:effectRef>
          <a:fontRef idx="minor">
            <a:schemeClr val="tx1"/>
          </a:fontRef>
        </p:style>
      </p:cxnSp>
      <p:sp>
        <p:nvSpPr>
          <p:cNvPr id="20" name="文字方塊 19"/>
          <p:cNvSpPr txBox="1"/>
          <p:nvPr/>
        </p:nvSpPr>
        <p:spPr>
          <a:xfrm>
            <a:off x="4410236" y="3150251"/>
            <a:ext cx="1601092"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21" name="直線單箭頭接點 20"/>
          <p:cNvCxnSpPr/>
          <p:nvPr/>
        </p:nvCxnSpPr>
        <p:spPr>
          <a:xfrm>
            <a:off x="2611576" y="4102869"/>
            <a:ext cx="3419475"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22" name="文字方塊 21"/>
          <p:cNvSpPr txBox="1"/>
          <p:nvPr/>
        </p:nvSpPr>
        <p:spPr>
          <a:xfrm>
            <a:off x="2524125" y="3676387"/>
            <a:ext cx="2479426"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Q: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cxnSp>
        <p:nvCxnSpPr>
          <p:cNvPr id="23" name="直線單箭頭接點 22"/>
          <p:cNvCxnSpPr/>
          <p:nvPr/>
        </p:nvCxnSpPr>
        <p:spPr>
          <a:xfrm flipH="1" flipV="1">
            <a:off x="2611576" y="4609950"/>
            <a:ext cx="3394798" cy="0"/>
          </a:xfrm>
          <a:prstGeom prst="straightConnector1">
            <a:avLst/>
          </a:prstGeom>
          <a:ln w="50800">
            <a:solidFill>
              <a:srgbClr val="0070C0"/>
            </a:solidFill>
            <a:tailEnd type="triangle" w="lg" len="lg"/>
          </a:ln>
        </p:spPr>
        <p:style>
          <a:lnRef idx="1">
            <a:schemeClr val="accent6"/>
          </a:lnRef>
          <a:fillRef idx="0">
            <a:schemeClr val="accent6"/>
          </a:fillRef>
          <a:effectRef idx="0">
            <a:schemeClr val="accent6"/>
          </a:effectRef>
          <a:fontRef idx="minor">
            <a:schemeClr val="tx1"/>
          </a:fontRef>
        </p:style>
      </p:cxnSp>
      <p:sp>
        <p:nvSpPr>
          <p:cNvPr id="24" name="文字方塊 23"/>
          <p:cNvSpPr txBox="1"/>
          <p:nvPr/>
        </p:nvSpPr>
        <p:spPr>
          <a:xfrm>
            <a:off x="4528257" y="4648339"/>
            <a:ext cx="1502794" cy="400110"/>
          </a:xfrm>
          <a:prstGeom prst="rect">
            <a:avLst/>
          </a:prstGeom>
          <a:noFill/>
        </p:spPr>
        <p:txBody>
          <a:bodyPr wrap="square" rtlCol="0">
            <a:spAutoFit/>
          </a:bodyPr>
          <a:lstStyle/>
          <a:p>
            <a:r>
              <a:rPr lang="en-US" altLang="zh-TW" sz="2000" dirty="0">
                <a:solidFill>
                  <a:schemeClr val="bg1"/>
                </a:solidFill>
                <a:latin typeface="微軟正黑體" panose="020B0604030504040204" pitchFamily="34" charset="-120"/>
                <a:ea typeface="微軟正黑體" panose="020B0604030504040204" pitchFamily="34" charset="-120"/>
              </a:rPr>
              <a:t>A: </a:t>
            </a:r>
            <a:r>
              <a:rPr lang="zh-TW" altLang="en-US" sz="2000" dirty="0">
                <a:solidFill>
                  <a:schemeClr val="bg1"/>
                </a:solidFill>
                <a:latin typeface="微軟正黑體" panose="020B0604030504040204" pitchFamily="34" charset="-120"/>
                <a:ea typeface="微軟正黑體" panose="020B0604030504040204" pitchFamily="34" charset="-120"/>
              </a:rPr>
              <a:t>早安</a:t>
            </a:r>
          </a:p>
        </p:txBody>
      </p:sp>
      <p:sp>
        <p:nvSpPr>
          <p:cNvPr id="25" name="橢圓 24"/>
          <p:cNvSpPr/>
          <p:nvPr/>
        </p:nvSpPr>
        <p:spPr>
          <a:xfrm>
            <a:off x="1714216" y="1801614"/>
            <a:ext cx="720000" cy="720000"/>
          </a:xfrm>
          <a:prstGeom prst="ellipse">
            <a:avLst/>
          </a:prstGeom>
          <a:solidFill>
            <a:srgbClr val="7030A0"/>
          </a:solidFill>
          <a:ln w="50800">
            <a:solidFill>
              <a:schemeClr val="bg1"/>
            </a:solidFill>
          </a:ln>
        </p:spPr>
        <p:style>
          <a:lnRef idx="2">
            <a:schemeClr val="accent3">
              <a:shade val="50000"/>
            </a:schemeClr>
          </a:lnRef>
          <a:fillRef idx="1">
            <a:schemeClr val="accent3"/>
          </a:fillRef>
          <a:effectRef idx="0">
            <a:schemeClr val="accent3"/>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cxnSp>
        <p:nvCxnSpPr>
          <p:cNvPr id="26" name="直線接點 25"/>
          <p:cNvCxnSpPr/>
          <p:nvPr/>
        </p:nvCxnSpPr>
        <p:spPr>
          <a:xfrm>
            <a:off x="1534216" y="2744589"/>
            <a:ext cx="1080000" cy="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7" name="直線接點 26"/>
          <p:cNvCxnSpPr>
            <a:stCxn id="25" idx="4"/>
          </p:cNvCxnSpPr>
          <p:nvPr/>
        </p:nvCxnSpPr>
        <p:spPr>
          <a:xfrm>
            <a:off x="2074216" y="2521613"/>
            <a:ext cx="0" cy="720000"/>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8" name="直線接點 27"/>
          <p:cNvCxnSpPr/>
          <p:nvPr/>
        </p:nvCxnSpPr>
        <p:spPr>
          <a:xfrm>
            <a:off x="2074216" y="3241613"/>
            <a:ext cx="360000" cy="293551"/>
          </a:xfrm>
          <a:prstGeom prst="line">
            <a:avLst/>
          </a:prstGeom>
          <a:ln w="50800"/>
        </p:spPr>
        <p:style>
          <a:lnRef idx="1">
            <a:schemeClr val="accent3"/>
          </a:lnRef>
          <a:fillRef idx="0">
            <a:schemeClr val="accent3"/>
          </a:fillRef>
          <a:effectRef idx="0">
            <a:schemeClr val="accent3"/>
          </a:effectRef>
          <a:fontRef idx="minor">
            <a:schemeClr val="tx1"/>
          </a:fontRef>
        </p:style>
      </p:cxnSp>
      <p:cxnSp>
        <p:nvCxnSpPr>
          <p:cNvPr id="29" name="直線接點 28"/>
          <p:cNvCxnSpPr/>
          <p:nvPr/>
        </p:nvCxnSpPr>
        <p:spPr>
          <a:xfrm flipV="1">
            <a:off x="1714216" y="3241614"/>
            <a:ext cx="359999" cy="293550"/>
          </a:xfrm>
          <a:prstGeom prst="line">
            <a:avLst/>
          </a:prstGeom>
          <a:ln w="50800"/>
        </p:spPr>
        <p:style>
          <a:lnRef idx="1">
            <a:schemeClr val="accent3"/>
          </a:lnRef>
          <a:fillRef idx="0">
            <a:schemeClr val="accent3"/>
          </a:fillRef>
          <a:effectRef idx="0">
            <a:schemeClr val="accent3"/>
          </a:effectRef>
          <a:fontRef idx="minor">
            <a:schemeClr val="tx1"/>
          </a:fontRef>
        </p:style>
      </p:cxnSp>
      <p:sp>
        <p:nvSpPr>
          <p:cNvPr id="30" name="文字方塊 29"/>
          <p:cNvSpPr txBox="1"/>
          <p:nvPr/>
        </p:nvSpPr>
        <p:spPr>
          <a:xfrm>
            <a:off x="6142608" y="5442355"/>
            <a:ext cx="4320480" cy="707886"/>
          </a:xfrm>
          <a:prstGeom prst="rect">
            <a:avLst/>
          </a:prstGeom>
          <a:solidFill>
            <a:srgbClr val="92D050"/>
          </a:solidFill>
        </p:spPr>
        <p:txBody>
          <a:bodyPr wrap="square" rtlCol="0">
            <a:spAutoFit/>
          </a:bodyPr>
          <a:lstStyle/>
          <a:p>
            <a:pPr marL="342900" indent="-342900" algn="just">
              <a:buFont typeface="Wingdings" panose="05000000000000000000" pitchFamily="2" charset="2"/>
              <a:buChar char="p"/>
            </a:pPr>
            <a:r>
              <a:rPr lang="zh-TW" altLang="en-US" sz="2000" dirty="0">
                <a:solidFill>
                  <a:srgbClr val="FF0000"/>
                </a:solidFill>
                <a:latin typeface="微軟正黑體" panose="020B0604030504040204" pitchFamily="34" charset="-120"/>
                <a:ea typeface="微軟正黑體" panose="020B0604030504040204" pitchFamily="34" charset="-120"/>
              </a:rPr>
              <a:t>把應對次數（時間）也考量進來</a:t>
            </a:r>
            <a:endParaRPr lang="en-US" altLang="zh-TW" sz="2000" dirty="0">
              <a:solidFill>
                <a:srgbClr val="FF0000"/>
              </a:solidFill>
              <a:latin typeface="微軟正黑體" panose="020B0604030504040204" pitchFamily="34" charset="-120"/>
              <a:ea typeface="微軟正黑體" panose="020B0604030504040204" pitchFamily="34" charset="-120"/>
            </a:endParaRPr>
          </a:p>
          <a:p>
            <a:pPr marL="342900" indent="-342900" algn="just">
              <a:buFont typeface="Wingdings" panose="05000000000000000000" pitchFamily="2" charset="2"/>
              <a:buChar char="p"/>
            </a:pPr>
            <a:r>
              <a:rPr lang="zh-TW" altLang="en-US" sz="2000" dirty="0">
                <a:solidFill>
                  <a:srgbClr val="FF0000"/>
                </a:solidFill>
                <a:latin typeface="微軟正黑體" panose="020B0604030504040204" pitchFamily="34" charset="-120"/>
                <a:ea typeface="微軟正黑體" panose="020B0604030504040204" pitchFamily="34" charset="-120"/>
              </a:rPr>
              <a:t>資料量會大到無法想像</a:t>
            </a:r>
            <a:r>
              <a:rPr lang="en-US" altLang="zh-TW" sz="2000" dirty="0">
                <a:solidFill>
                  <a:srgbClr val="FF0000"/>
                </a:solidFill>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60717627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16" fill="hold" grpId="0" nodeType="withEffect">
                                  <p:stCondLst>
                                    <p:cond delay="0"/>
                                  </p:stCondLst>
                                  <p:childTnLst>
                                    <p:set>
                                      <p:cBhvr>
                                        <p:cTn id="6" dur="1" fill="hold">
                                          <p:stCondLst>
                                            <p:cond delay="0"/>
                                          </p:stCondLst>
                                        </p:cTn>
                                        <p:tgtEl>
                                          <p:spTgt spid="30"/>
                                        </p:tgtEl>
                                        <p:attrNameLst>
                                          <p:attrName>style.visibility</p:attrName>
                                        </p:attrNameLst>
                                      </p:cBhvr>
                                      <p:to>
                                        <p:strVal val="visible"/>
                                      </p:to>
                                    </p:set>
                                    <p:anim calcmode="lin" valueType="num">
                                      <p:cBhvr>
                                        <p:cTn id="7" dur="500" fill="hold"/>
                                        <p:tgtEl>
                                          <p:spTgt spid="30"/>
                                        </p:tgtEl>
                                        <p:attrNameLst>
                                          <p:attrName>ppt_w</p:attrName>
                                        </p:attrNameLst>
                                      </p:cBhvr>
                                      <p:tavLst>
                                        <p:tav tm="0">
                                          <p:val>
                                            <p:fltVal val="0"/>
                                          </p:val>
                                        </p:tav>
                                        <p:tav tm="100000">
                                          <p:val>
                                            <p:strVal val="#ppt_w"/>
                                          </p:val>
                                        </p:tav>
                                      </p:tavLst>
                                    </p:anim>
                                    <p:anim calcmode="lin" valueType="num">
                                      <p:cBhvr>
                                        <p:cTn id="8" dur="500" fill="hold"/>
                                        <p:tgtEl>
                                          <p:spTgt spid="30"/>
                                        </p:tgtEl>
                                        <p:attrNameLst>
                                          <p:attrName>ppt_h</p:attrName>
                                        </p:attrNameLst>
                                      </p:cBhvr>
                                      <p:tavLst>
                                        <p:tav tm="0">
                                          <p:val>
                                            <p:fltVal val="0"/>
                                          </p:val>
                                        </p:tav>
                                        <p:tav tm="100000">
                                          <p:val>
                                            <p:strVal val="#ppt_h"/>
                                          </p:val>
                                        </p:tav>
                                      </p:tavLst>
                                    </p:anim>
                                    <p:animEffect transition="in" filter="fade">
                                      <p:cBhvr>
                                        <p:cTn id="9" dur="500"/>
                                        <p:tgtEl>
                                          <p:spTgt spid="3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 grpId="0" animBg="1"/>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108093411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83007"/>
          </a:xfrm>
        </p:spPr>
        <p:txBody>
          <a:bodyPr>
            <a:normAutofit lnSpcReduction="10000"/>
          </a:bodyPr>
          <a:lstStyle/>
          <a:p>
            <a:r>
              <a:rPr lang="zh-TW" altLang="en-US" dirty="0">
                <a:latin typeface="微軟正黑體" panose="020B0604030504040204" pitchFamily="34" charset="-120"/>
                <a:ea typeface="微軟正黑體" panose="020B0604030504040204" pitchFamily="34" charset="-120"/>
              </a:rPr>
              <a:t>現今人工智慧的基礎，其實是相當多門學科的整合</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數學</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邏輯、計算、機率</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神經科學</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利用神經元連結的概念，建立數學模型</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心理學</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推測人類是如何思考和行動的</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電腦工程</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實作人工智慧系統</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相當多的電腦應用都是基於人工智慧設計的：網路搜尋引擎、垃圾信攔截系統</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等其它學科</a:t>
            </a:r>
          </a:p>
        </p:txBody>
      </p:sp>
    </p:spTree>
    <p:extLst>
      <p:ext uri="{BB962C8B-B14F-4D97-AF65-F5344CB8AC3E}">
        <p14:creationId xmlns:p14="http://schemas.microsoft.com/office/powerpoint/2010/main" val="421245424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但是</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其實人工智慧並不是一開始就涵蓋這麼多元的內容</a:t>
            </a:r>
          </a:p>
        </p:txBody>
      </p:sp>
    </p:spTree>
    <p:extLst>
      <p:ext uri="{BB962C8B-B14F-4D97-AF65-F5344CB8AC3E}">
        <p14:creationId xmlns:p14="http://schemas.microsoft.com/office/powerpoint/2010/main" val="32334456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1940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50</a:t>
            </a:r>
            <a:r>
              <a:rPr lang="zh-TW" altLang="en-US" dirty="0">
                <a:latin typeface="微軟正黑體" panose="020B0604030504040204" pitchFamily="34" charset="-120"/>
                <a:ea typeface="微軟正黑體" panose="020B0604030504040204" pitchFamily="34" charset="-120"/>
              </a:rPr>
              <a:t>年代</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第一隻人工智慧程式：邏輯理論家</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加入了非數值化的思考能力，讓它能夠證明一些數學原理</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有些證明甚至推導的比原作者還更有效率</a:t>
            </a:r>
          </a:p>
        </p:txBody>
      </p:sp>
    </p:spTree>
    <p:extLst>
      <p:ext uri="{BB962C8B-B14F-4D97-AF65-F5344CB8AC3E}">
        <p14:creationId xmlns:p14="http://schemas.microsoft.com/office/powerpoint/2010/main" val="354657590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1950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60</a:t>
            </a:r>
            <a:r>
              <a:rPr lang="zh-TW" altLang="en-US" dirty="0">
                <a:latin typeface="微軟正黑體" panose="020B0604030504040204" pitchFamily="34" charset="-120"/>
                <a:ea typeface="微軟正黑體" panose="020B0604030504040204" pitchFamily="34" charset="-120"/>
              </a:rPr>
              <a:t>年代</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早期的人工智慧研究充滿了成功的氣息（在有限的範圍內）</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在電腦系統發展初期，只要能稍微改良電腦來做更一點聰明的事，都是會讓人覺得相當興奮</a:t>
            </a:r>
            <a:endParaRPr lang="en-US" altLang="zh-TW" dirty="0">
              <a:latin typeface="微軟正黑體" panose="020B0604030504040204" pitchFamily="34" charset="-120"/>
              <a:ea typeface="微軟正黑體" panose="020B0604030504040204" pitchFamily="34" charset="-120"/>
            </a:endParaRPr>
          </a:p>
          <a:p>
            <a:pPr lvl="1"/>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33102404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1960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70</a:t>
            </a:r>
            <a:r>
              <a:rPr lang="zh-TW" altLang="en-US" dirty="0">
                <a:latin typeface="微軟正黑體" panose="020B0604030504040204" pitchFamily="34" charset="-120"/>
                <a:ea typeface="微軟正黑體" panose="020B0604030504040204" pitchFamily="34" charset="-120"/>
              </a:rPr>
              <a:t>年代</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但是後來就遇到了一些邏輯推論無法直接解決的問題</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例如：翻譯</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翻譯除了單字的對應之外，還需要兩種語言的一些背景知識</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不過其實以目前的技術而言，翻譯還是沒有做的很好</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計算複雜度</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由於當時電腦運算能力有限，常常產生一些含有隨機因子的演算法可能需要運行上千個小時才能看到成果</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像是基因演算法、初代的類神經網路</a:t>
            </a:r>
          </a:p>
        </p:txBody>
      </p:sp>
    </p:spTree>
    <p:extLst>
      <p:ext uri="{BB962C8B-B14F-4D97-AF65-F5344CB8AC3E}">
        <p14:creationId xmlns:p14="http://schemas.microsoft.com/office/powerpoint/2010/main" val="212864998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1960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70</a:t>
            </a:r>
            <a:r>
              <a:rPr lang="zh-TW" altLang="en-US" dirty="0">
                <a:latin typeface="微軟正黑體" panose="020B0604030504040204" pitchFamily="34" charset="-120"/>
                <a:ea typeface="微軟正黑體" panose="020B0604030504040204" pitchFamily="34" charset="-120"/>
              </a:rPr>
              <a:t>年代</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所以當時很多研究計畫與經費都被終止，因為覺得看不到未來</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到現在都還有謠言說，當時只要計畫或論文是提到人工智慧或類神經網路相關的，一律都是拿不到經費或是被退稿</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79925385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1970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80</a:t>
            </a:r>
            <a:r>
              <a:rPr lang="zh-TW" altLang="en-US" dirty="0">
                <a:latin typeface="微軟正黑體" panose="020B0604030504040204" pitchFamily="34" charset="-120"/>
                <a:ea typeface="微軟正黑體" panose="020B0604030504040204" pitchFamily="34" charset="-120"/>
              </a:rPr>
              <a:t>年代</a:t>
            </a:r>
          </a:p>
          <a:p>
            <a:pPr lvl="1"/>
            <a:r>
              <a:rPr lang="zh-TW" altLang="en-US" dirty="0">
                <a:latin typeface="微軟正黑體" panose="020B0604030504040204" pitchFamily="34" charset="-120"/>
                <a:ea typeface="微軟正黑體" panose="020B0604030504040204" pitchFamily="34" charset="-120"/>
              </a:rPr>
              <a:t>到</a:t>
            </a:r>
            <a:r>
              <a:rPr lang="en-US" altLang="zh-TW" dirty="0">
                <a:latin typeface="微軟正黑體" panose="020B0604030504040204" pitchFamily="34" charset="-120"/>
                <a:ea typeface="微軟正黑體" panose="020B0604030504040204" pitchFamily="34" charset="-120"/>
              </a:rPr>
              <a:t>1960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70</a:t>
            </a:r>
            <a:r>
              <a:rPr lang="zh-TW" altLang="en-US" dirty="0">
                <a:latin typeface="微軟正黑體" panose="020B0604030504040204" pitchFamily="34" charset="-120"/>
                <a:ea typeface="微軟正黑體" panose="020B0604030504040204" pitchFamily="34" charset="-120"/>
              </a:rPr>
              <a:t>年代為止，我們可以總結人工智慧所使用的方法是一種通用且基本的邏輯推理方式與步驟，用來尋找一個完整的解答</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對於一些小問題也許是可行的</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但是方法的效能比不上問題的規模及困難度成長</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11949198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1970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80</a:t>
            </a:r>
            <a:r>
              <a:rPr lang="zh-TW" altLang="en-US" dirty="0">
                <a:latin typeface="微軟正黑體" panose="020B0604030504040204" pitchFamily="34" charset="-120"/>
                <a:ea typeface="微軟正黑體" panose="020B0604030504040204" pitchFamily="34" charset="-120"/>
              </a:rPr>
              <a:t>年代</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所以取而代之的是大量使用領域相關的知識來實現人工智慧</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例如：對於特定領域所使用的專家系統</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當時利用專家系統對血液感染的診斷，甚至超越了非專科醫師的精準度</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38203301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1980</a:t>
            </a:r>
            <a:r>
              <a:rPr lang="zh-TW" altLang="en-US" dirty="0">
                <a:latin typeface="微軟正黑體" panose="020B0604030504040204" pitchFamily="34" charset="-120"/>
                <a:ea typeface="微軟正黑體" panose="020B0604030504040204" pitchFamily="34" charset="-120"/>
              </a:rPr>
              <a:t>年代後期</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人工智慧的冬天</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大量的專家系統、視覺系統、機器人</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以及對應的軟體及硬體</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進展有限 </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研究費用提升</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從數百萬美金到數十億美金</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成效卻沒有像資金一樣的可觀成長</a:t>
            </a:r>
          </a:p>
        </p:txBody>
      </p:sp>
    </p:spTree>
    <p:extLst>
      <p:ext uri="{BB962C8B-B14F-4D97-AF65-F5344CB8AC3E}">
        <p14:creationId xmlns:p14="http://schemas.microsoft.com/office/powerpoint/2010/main" val="43088583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1990</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a:t>
            </a:r>
          </a:p>
          <a:p>
            <a:pPr lvl="1"/>
            <a:r>
              <a:rPr lang="zh-TW" altLang="en-US" dirty="0">
                <a:latin typeface="微軟正黑體" panose="020B0604030504040204" pitchFamily="34" charset="-120"/>
                <a:ea typeface="微軟正黑體" panose="020B0604030504040204" pitchFamily="34" charset="-120"/>
              </a:rPr>
              <a:t>導入大量的科學方法</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不僅以推論或知識連結</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更加入一些不確定性因素表示法</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例如：</a:t>
            </a:r>
            <a:endParaRPr lang="en-US" altLang="zh-TW" dirty="0">
              <a:latin typeface="微軟正黑體" panose="020B0604030504040204" pitchFamily="34" charset="-120"/>
              <a:ea typeface="微軟正黑體" panose="020B0604030504040204" pitchFamily="34" charset="-120"/>
            </a:endParaRPr>
          </a:p>
          <a:p>
            <a:pPr lvl="3"/>
            <a:r>
              <a:rPr lang="zh-TW" altLang="en-US" dirty="0">
                <a:latin typeface="微軟正黑體" panose="020B0604030504040204" pitchFamily="34" charset="-120"/>
                <a:ea typeface="微軟正黑體" panose="020B0604030504040204" pitchFamily="34" charset="-120"/>
              </a:rPr>
              <a:t>重新考慮人工智慧與機率的關連性</a:t>
            </a:r>
            <a:endParaRPr lang="en-US" altLang="zh-TW" dirty="0">
              <a:latin typeface="微軟正黑體" panose="020B0604030504040204" pitchFamily="34" charset="-120"/>
              <a:ea typeface="微軟正黑體" panose="020B0604030504040204" pitchFamily="34" charset="-120"/>
            </a:endParaRPr>
          </a:p>
          <a:p>
            <a:pPr lvl="3"/>
            <a:r>
              <a:rPr lang="zh-TW" altLang="en-US" dirty="0">
                <a:latin typeface="微軟正黑體" panose="020B0604030504040204" pitchFamily="34" charset="-120"/>
                <a:ea typeface="微軟正黑體" panose="020B0604030504040204" pitchFamily="34" charset="-120"/>
              </a:rPr>
              <a:t>對於許多研究，多注意資料的特性也許會比一直著重在演算法的精進還重要</a:t>
            </a:r>
            <a:endParaRPr lang="en-US" altLang="zh-TW" dirty="0">
              <a:latin typeface="微軟正黑體" panose="020B0604030504040204" pitchFamily="34" charset="-120"/>
              <a:ea typeface="微軟正黑體" panose="020B0604030504040204" pitchFamily="34" charset="-120"/>
            </a:endParaRPr>
          </a:p>
          <a:p>
            <a:pPr lvl="1"/>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3495813474"/>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上一個階段開始從不同的角度來重新思考人工智慧</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加上電腦效能的強化</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運算速度變快、平行化能量增強</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單位儲存成本降低</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通訊速度、品質的提升</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這些都讓人工智慧產業的等級提升至一個全新的世代</a:t>
            </a:r>
          </a:p>
        </p:txBody>
      </p:sp>
    </p:spTree>
    <p:extLst>
      <p:ext uri="{BB962C8B-B14F-4D97-AF65-F5344CB8AC3E}">
        <p14:creationId xmlns:p14="http://schemas.microsoft.com/office/powerpoint/2010/main" val="47657295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曾經有一個研究：</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考慮一張圖片，然後剪去一個區域</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之後利用演算法去填補這個預先剪去的區域</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當資料庫裡面只有一萬張圖片被當成素材來被搜尋的情況下，回填後的圖片會變得相當奇怪</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但是當資料庫裡有</a:t>
            </a:r>
            <a:r>
              <a:rPr lang="en-US" altLang="zh-TW" dirty="0">
                <a:latin typeface="微軟正黑體" panose="020B0604030504040204" pitchFamily="34" charset="-120"/>
                <a:ea typeface="微軟正黑體" panose="020B0604030504040204" pitchFamily="34" charset="-120"/>
              </a:rPr>
              <a:t>200</a:t>
            </a:r>
            <a:r>
              <a:rPr lang="zh-TW" altLang="en-US" dirty="0">
                <a:latin typeface="微軟正黑體" panose="020B0604030504040204" pitchFamily="34" charset="-120"/>
                <a:ea typeface="微軟正黑體" panose="020B0604030504040204" pitchFamily="34" charset="-120"/>
              </a:rPr>
              <a:t>萬張圖片的話，這個演算法的回填結果就變得相當優秀</a:t>
            </a:r>
          </a:p>
        </p:txBody>
      </p:sp>
    </p:spTree>
    <p:extLst>
      <p:ext uri="{BB962C8B-B14F-4D97-AF65-F5344CB8AC3E}">
        <p14:creationId xmlns:p14="http://schemas.microsoft.com/office/powerpoint/2010/main" val="202443758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所以，有時候如果只以當時的時空背景來考量一個演算法的好壞，就有可能發生上述誤判的情況</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在</a:t>
            </a:r>
            <a:r>
              <a:rPr lang="en-US" altLang="zh-TW" dirty="0">
                <a:latin typeface="微軟正黑體" panose="020B0604030504040204" pitchFamily="34" charset="-120"/>
                <a:ea typeface="微軟正黑體" panose="020B0604030504040204" pitchFamily="34" charset="-120"/>
              </a:rPr>
              <a:t>1980</a:t>
            </a:r>
            <a:r>
              <a:rPr lang="zh-TW" altLang="en-US" dirty="0">
                <a:latin typeface="微軟正黑體" panose="020B0604030504040204" pitchFamily="34" charset="-120"/>
                <a:ea typeface="微軟正黑體" panose="020B0604030504040204" pitchFamily="34" charset="-120"/>
              </a:rPr>
              <a:t>年代，可能收集</a:t>
            </a:r>
            <a:r>
              <a:rPr lang="en-US" altLang="zh-TW" dirty="0">
                <a:latin typeface="微軟正黑體" panose="020B0604030504040204" pitchFamily="34" charset="-120"/>
                <a:ea typeface="微軟正黑體" panose="020B0604030504040204" pitchFamily="34" charset="-120"/>
              </a:rPr>
              <a:t>1</a:t>
            </a:r>
            <a:r>
              <a:rPr lang="zh-TW" altLang="en-US" dirty="0">
                <a:latin typeface="微軟正黑體" panose="020B0604030504040204" pitchFamily="34" charset="-120"/>
                <a:ea typeface="微軟正黑體" panose="020B0604030504040204" pitchFamily="34" charset="-120"/>
              </a:rPr>
              <a:t>萬張圖片就需要花費一個團隊的整年研究時間</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在</a:t>
            </a:r>
            <a:r>
              <a:rPr lang="en-US" altLang="zh-TW" dirty="0">
                <a:latin typeface="微軟正黑體" panose="020B0604030504040204" pitchFamily="34" charset="-120"/>
                <a:ea typeface="微軟正黑體" panose="020B0604030504040204" pitchFamily="34" charset="-120"/>
              </a:rPr>
              <a:t>2020</a:t>
            </a:r>
            <a:r>
              <a:rPr lang="zh-TW" altLang="en-US" dirty="0">
                <a:latin typeface="微軟正黑體" panose="020B0604030504040204" pitchFamily="34" charset="-120"/>
                <a:ea typeface="微軟正黑體" panose="020B0604030504040204" pitchFamily="34" charset="-120"/>
              </a:rPr>
              <a:t>的現在，從網路上收集</a:t>
            </a:r>
            <a:r>
              <a:rPr lang="en-US" altLang="zh-TW" dirty="0">
                <a:latin typeface="微軟正黑體" panose="020B0604030504040204" pitchFamily="34" charset="-120"/>
                <a:ea typeface="微軟正黑體" panose="020B0604030504040204" pitchFamily="34" charset="-120"/>
              </a:rPr>
              <a:t>200</a:t>
            </a:r>
            <a:r>
              <a:rPr lang="zh-TW" altLang="en-US" dirty="0">
                <a:latin typeface="微軟正黑體" panose="020B0604030504040204" pitchFamily="34" charset="-120"/>
                <a:ea typeface="微軟正黑體" panose="020B0604030504040204" pitchFamily="34" charset="-120"/>
              </a:rPr>
              <a:t>萬張圖片，可能不用花到一個人的一天時間</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同一個演算法，在不同的時空背景，有可能被評為兩極化的不堪使用或極度優秀</a:t>
            </a:r>
            <a:r>
              <a:rPr lang="en-US" altLang="zh-TW" dirty="0">
                <a:latin typeface="微軟正黑體" panose="020B0604030504040204" pitchFamily="34" charset="-120"/>
                <a:ea typeface="微軟正黑體" panose="020B0604030504040204" pitchFamily="34" charset="-120"/>
              </a:rPr>
              <a:t>…</a:t>
            </a:r>
            <a:endParaRPr lang="zh-TW" altLang="en-US" dirty="0">
              <a:latin typeface="微軟正黑體" panose="020B0604030504040204" pitchFamily="34" charset="-120"/>
              <a:ea typeface="微軟正黑體" panose="020B0604030504040204" pitchFamily="34" charset="-120"/>
            </a:endParaRPr>
          </a:p>
        </p:txBody>
      </p:sp>
      <p:pic>
        <p:nvPicPr>
          <p:cNvPr id="1026" name="Picture 2" descr="通讯, 互联网, 物联网, 瓦, 连接, 手, 树, 网络, 交流, 万维网, 计算机, 情报, 项目"/>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177086" y="301851"/>
            <a:ext cx="3302000" cy="211190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47843941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有另一個著名的例子就是：類神經網路</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其實早在</a:t>
            </a:r>
            <a:r>
              <a:rPr lang="en-US" altLang="zh-TW" dirty="0">
                <a:latin typeface="微軟正黑體" panose="020B0604030504040204" pitchFamily="34" charset="-120"/>
                <a:ea typeface="微軟正黑體" panose="020B0604030504040204" pitchFamily="34" charset="-120"/>
              </a:rPr>
              <a:t>1960</a:t>
            </a:r>
            <a:r>
              <a:rPr lang="zh-TW" altLang="en-US" dirty="0">
                <a:latin typeface="微軟正黑體" panose="020B0604030504040204" pitchFamily="34" charset="-120"/>
                <a:ea typeface="微軟正黑體" panose="020B0604030504040204" pitchFamily="34" charset="-120"/>
              </a:rPr>
              <a:t>年代，初代的類神經網路研究就已經開始展開了</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但是當時卻不適用於更複雜、多層的網路</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演算法及架構需要改良之外，電腦效能也是一個很重要的問題</a:t>
            </a:r>
          </a:p>
        </p:txBody>
      </p:sp>
    </p:spTree>
    <p:extLst>
      <p:ext uri="{BB962C8B-B14F-4D97-AF65-F5344CB8AC3E}">
        <p14:creationId xmlns:p14="http://schemas.microsoft.com/office/powerpoint/2010/main" val="31286661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227513"/>
          </a:xfrm>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在</a:t>
            </a:r>
            <a:r>
              <a:rPr lang="en-US" altLang="zh-TW" dirty="0">
                <a:latin typeface="微軟正黑體" panose="020B0604030504040204" pitchFamily="34" charset="-120"/>
                <a:ea typeface="微軟正黑體" panose="020B0604030504040204" pitchFamily="34" charset="-120"/>
              </a:rPr>
              <a:t>1980</a:t>
            </a:r>
            <a:r>
              <a:rPr lang="zh-TW" altLang="en-US" dirty="0">
                <a:latin typeface="微軟正黑體" panose="020B0604030504040204" pitchFamily="34" charset="-120"/>
                <a:ea typeface="微軟正黑體" panose="020B0604030504040204" pitchFamily="34" charset="-120"/>
              </a:rPr>
              <a:t>年代中期時，有學者提出了一些想法及實驗，試著解決類神經網路在上個世代所遇到的問題</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反向傳播 </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試著解決神經網路所需要的複雜計算問題</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動物實驗 </a:t>
            </a:r>
            <a:r>
              <a:rPr lang="en-US" altLang="zh-TW" dirty="0">
                <a:latin typeface="微軟正黑體" panose="020B0604030504040204" pitchFamily="34" charset="-120"/>
                <a:ea typeface="微軟正黑體" panose="020B0604030504040204" pitchFamily="34" charset="-120"/>
              </a:rPr>
              <a:t>– </a:t>
            </a:r>
            <a:r>
              <a:rPr lang="zh-TW" altLang="en-US" dirty="0">
                <a:latin typeface="微軟正黑體" panose="020B0604030504040204" pitchFamily="34" charset="-120"/>
                <a:ea typeface="微軟正黑體" panose="020B0604030504040204" pitchFamily="34" charset="-120"/>
              </a:rPr>
              <a:t>試著了解神經網路及神經元之間的互動關係</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然而，部份問題仍然存在著</a:t>
            </a:r>
            <a:r>
              <a:rPr lang="en-US" altLang="zh-TW" dirty="0">
                <a:latin typeface="微軟正黑體" panose="020B0604030504040204" pitchFamily="34" charset="-120"/>
                <a:ea typeface="微軟正黑體" panose="020B0604030504040204" pitchFamily="34" charset="-120"/>
              </a:rPr>
              <a:t>…</a:t>
            </a:r>
          </a:p>
          <a:p>
            <a:pPr lvl="2"/>
            <a:r>
              <a:rPr lang="zh-TW" altLang="en-US" dirty="0">
                <a:latin typeface="微軟正黑體" panose="020B0604030504040204" pitchFamily="34" charset="-120"/>
                <a:ea typeface="微軟正黑體" panose="020B0604030504040204" pitchFamily="34" charset="-120"/>
              </a:rPr>
              <a:t>反向傳播對於三層以上的類神經網路影響有限</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沒有實際可以用來處理大量平行運算的硬體（當時的平行分散式運算技術發展有限）</a:t>
            </a:r>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312450335"/>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838450" y="4714875"/>
            <a:ext cx="2390775" cy="2057400"/>
          </a:xfrm>
          <a:prstGeom prst="rect">
            <a:avLst/>
          </a:prstGeom>
          <a:solidFill>
            <a:schemeClr val="tx1">
              <a:alpha val="90000"/>
            </a:schemeClr>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227513"/>
          </a:xfrm>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把貓咪的頭骨開一個小洞，向內插入取得訊號的線路及儀器，然後在貓咪眼前放置一個布幕，並不斷地改變光影的角度、亮度及大小</a:t>
            </a:r>
          </a:p>
          <a:p>
            <a:pPr lvl="2"/>
            <a:r>
              <a:rPr lang="zh-TW" altLang="en-US" dirty="0">
                <a:latin typeface="微軟正黑體" panose="020B0604030504040204" pitchFamily="34" charset="-120"/>
                <a:ea typeface="微軟正黑體" panose="020B0604030504040204" pitchFamily="34" charset="-120"/>
              </a:rPr>
              <a:t>經過無數次實驗（無數隻小貓的犧牲），科學家發現不同的視覺神經元對於不同光影的反應也會不同</a:t>
            </a:r>
          </a:p>
          <a:p>
            <a:pPr lvl="2"/>
            <a:r>
              <a:rPr lang="zh-TW" altLang="en-US" dirty="0">
                <a:latin typeface="微軟正黑體" panose="020B0604030504040204" pitchFamily="34" charset="-120"/>
                <a:ea typeface="微軟正黑體" panose="020B0604030504040204" pitchFamily="34" charset="-120"/>
              </a:rPr>
              <a:t>於不同情況下，各個視覺神經元有不同的活躍程度</a:t>
            </a:r>
          </a:p>
          <a:p>
            <a:pPr lvl="1"/>
            <a:endParaRPr lang="en-US" altLang="zh-TW" dirty="0">
              <a:latin typeface="微軟正黑體" panose="020B0604030504040204" pitchFamily="34" charset="-120"/>
              <a:ea typeface="微軟正黑體" panose="020B0604030504040204" pitchFamily="34" charset="-120"/>
            </a:endParaRPr>
          </a:p>
        </p:txBody>
      </p:sp>
      <p:sp>
        <p:nvSpPr>
          <p:cNvPr id="4" name="AutoShape 2" descr="「the blind cat」的圖片搜尋結果"/>
          <p:cNvSpPr>
            <a:spLocks noChangeAspect="1" noChangeArrowheads="1"/>
          </p:cNvSpPr>
          <p:nvPr/>
        </p:nvSpPr>
        <p:spPr bwMode="auto">
          <a:xfrm>
            <a:off x="155575" y="-144463"/>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latin typeface="微軟正黑體" panose="020B0604030504040204" pitchFamily="34" charset="-120"/>
              <a:ea typeface="微軟正黑體" panose="020B0604030504040204" pitchFamily="34" charset="-120"/>
            </a:endParaRPr>
          </a:p>
        </p:txBody>
      </p:sp>
      <p:sp>
        <p:nvSpPr>
          <p:cNvPr id="5" name="AutoShape 4" descr="animal cat cartoon "/>
          <p:cNvSpPr>
            <a:spLocks noChangeAspect="1" noChangeArrowheads="1"/>
          </p:cNvSpPr>
          <p:nvPr/>
        </p:nvSpPr>
        <p:spPr bwMode="auto">
          <a:xfrm>
            <a:off x="307975" y="7937"/>
            <a:ext cx="304800" cy="304801"/>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bodyPr>
          <a:lstStyle/>
          <a:p>
            <a:endParaRPr lang="zh-TW" altLang="en-US">
              <a:latin typeface="微軟正黑體" panose="020B0604030504040204" pitchFamily="34" charset="-120"/>
              <a:ea typeface="微軟正黑體" panose="020B0604030504040204" pitchFamily="34" charset="-120"/>
            </a:endParaRPr>
          </a:p>
        </p:txBody>
      </p:sp>
      <p:pic>
        <p:nvPicPr>
          <p:cNvPr id="6" name="圖片 5"/>
          <p:cNvPicPr>
            <a:picLocks noChangeAspect="1"/>
          </p:cNvPicPr>
          <p:nvPr/>
        </p:nvPicPr>
        <p:blipFill>
          <a:blip r:embed="rId3" cstate="print">
            <a:extLst>
              <a:ext uri="{28A0092B-C50C-407E-A947-70E740481C1C}">
                <a14:useLocalDpi xmlns:a14="http://schemas.microsoft.com/office/drawing/2010/main" val="0"/>
              </a:ext>
            </a:extLst>
          </a:blip>
          <a:stretch>
            <a:fillRect/>
          </a:stretch>
        </p:blipFill>
        <p:spPr>
          <a:xfrm>
            <a:off x="8502423" y="3964706"/>
            <a:ext cx="2544988" cy="2664691"/>
          </a:xfrm>
          <a:prstGeom prst="rect">
            <a:avLst/>
          </a:prstGeom>
          <a:solidFill>
            <a:schemeClr val="tx1">
              <a:alpha val="90000"/>
            </a:schemeClr>
          </a:solidFill>
        </p:spPr>
      </p:pic>
      <p:cxnSp>
        <p:nvCxnSpPr>
          <p:cNvPr id="8" name="弧形接點 7"/>
          <p:cNvCxnSpPr/>
          <p:nvPr/>
        </p:nvCxnSpPr>
        <p:spPr>
          <a:xfrm flipV="1">
            <a:off x="10797309" y="3334327"/>
            <a:ext cx="1099127" cy="1028915"/>
          </a:xfrm>
          <a:prstGeom prst="curvedConnector3">
            <a:avLst>
              <a:gd name="adj1" fmla="val 50000"/>
            </a:avLst>
          </a:prstGeom>
          <a:ln w="50800">
            <a:solidFill>
              <a:srgbClr val="00B050"/>
            </a:solidFill>
            <a:tailEnd type="triangle"/>
          </a:ln>
        </p:spPr>
        <p:style>
          <a:lnRef idx="1">
            <a:schemeClr val="accent1"/>
          </a:lnRef>
          <a:fillRef idx="0">
            <a:schemeClr val="accent1"/>
          </a:fillRef>
          <a:effectRef idx="0">
            <a:schemeClr val="accent1"/>
          </a:effectRef>
          <a:fontRef idx="minor">
            <a:schemeClr val="tx1"/>
          </a:fontRef>
        </p:style>
      </p:cxnSp>
      <p:cxnSp>
        <p:nvCxnSpPr>
          <p:cNvPr id="15" name="直線單箭頭接點 14"/>
          <p:cNvCxnSpPr/>
          <p:nvPr/>
        </p:nvCxnSpPr>
        <p:spPr>
          <a:xfrm flipV="1">
            <a:off x="5304874" y="5173659"/>
            <a:ext cx="3020290" cy="304801"/>
          </a:xfrm>
          <a:prstGeom prst="straightConnector1">
            <a:avLst/>
          </a:prstGeom>
          <a:ln w="50800">
            <a:solidFill>
              <a:srgbClr val="FF000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18" name="直線單箭頭接點 17"/>
          <p:cNvCxnSpPr/>
          <p:nvPr/>
        </p:nvCxnSpPr>
        <p:spPr>
          <a:xfrm flipV="1">
            <a:off x="5325831" y="5533875"/>
            <a:ext cx="3011054" cy="300180"/>
          </a:xfrm>
          <a:prstGeom prst="straightConnector1">
            <a:avLst/>
          </a:prstGeom>
          <a:ln w="50800">
            <a:solidFill>
              <a:schemeClr val="accent6"/>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0" name="直線單箭頭接點 19"/>
          <p:cNvCxnSpPr/>
          <p:nvPr/>
        </p:nvCxnSpPr>
        <p:spPr>
          <a:xfrm flipV="1">
            <a:off x="5321213" y="5889470"/>
            <a:ext cx="3020290" cy="304801"/>
          </a:xfrm>
          <a:prstGeom prst="straightConnector1">
            <a:avLst/>
          </a:prstGeom>
          <a:ln w="50800">
            <a:solidFill>
              <a:srgbClr val="0070C0"/>
            </a:solidFill>
            <a:tailEnd type="triangle" w="lg" len="lg"/>
          </a:ln>
        </p:spPr>
        <p:style>
          <a:lnRef idx="1">
            <a:schemeClr val="accent1"/>
          </a:lnRef>
          <a:fillRef idx="0">
            <a:schemeClr val="accent1"/>
          </a:fillRef>
          <a:effectRef idx="0">
            <a:schemeClr val="accent1"/>
          </a:effectRef>
          <a:fontRef idx="minor">
            <a:schemeClr val="tx1"/>
          </a:fontRef>
        </p:style>
      </p:cxnSp>
      <p:cxnSp>
        <p:nvCxnSpPr>
          <p:cNvPr id="21" name="弧形接點 20"/>
          <p:cNvCxnSpPr/>
          <p:nvPr/>
        </p:nvCxnSpPr>
        <p:spPr>
          <a:xfrm flipV="1">
            <a:off x="10949709" y="3486727"/>
            <a:ext cx="1099127" cy="1028915"/>
          </a:xfrm>
          <a:prstGeom prst="curvedConnector3">
            <a:avLst>
              <a:gd name="adj1" fmla="val 50000"/>
            </a:avLst>
          </a:prstGeom>
          <a:ln w="50800">
            <a:solidFill>
              <a:srgbClr val="7030A0"/>
            </a:solidFill>
            <a:tailEnd type="triangle"/>
          </a:ln>
        </p:spPr>
        <p:style>
          <a:lnRef idx="1">
            <a:schemeClr val="accent1"/>
          </a:lnRef>
          <a:fillRef idx="0">
            <a:schemeClr val="accent1"/>
          </a:fillRef>
          <a:effectRef idx="0">
            <a:schemeClr val="accent1"/>
          </a:effectRef>
          <a:fontRef idx="minor">
            <a:schemeClr val="tx1"/>
          </a:fontRef>
        </p:style>
      </p:cxnSp>
      <p:cxnSp>
        <p:nvCxnSpPr>
          <p:cNvPr id="22" name="弧形接點 21"/>
          <p:cNvCxnSpPr/>
          <p:nvPr/>
        </p:nvCxnSpPr>
        <p:spPr>
          <a:xfrm flipV="1">
            <a:off x="10650247" y="3125569"/>
            <a:ext cx="1099127" cy="1028915"/>
          </a:xfrm>
          <a:prstGeom prst="curvedConnector3">
            <a:avLst>
              <a:gd name="adj1" fmla="val 50000"/>
            </a:avLst>
          </a:prstGeom>
          <a:ln w="50800">
            <a:solidFill>
              <a:srgbClr val="FFC000"/>
            </a:solidFill>
            <a:tailEnd type="triangle"/>
          </a:ln>
        </p:spPr>
        <p:style>
          <a:lnRef idx="1">
            <a:schemeClr val="accent1"/>
          </a:lnRef>
          <a:fillRef idx="0">
            <a:schemeClr val="accent1"/>
          </a:fillRef>
          <a:effectRef idx="0">
            <a:schemeClr val="accent1"/>
          </a:effectRef>
          <a:fontRef idx="minor">
            <a:schemeClr val="tx1"/>
          </a:fontRef>
        </p:style>
      </p:cxnSp>
      <p:pic>
        <p:nvPicPr>
          <p:cNvPr id="1026" name="Picture 2" descr="display lcd led free photo"/>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2967615" y="4876623"/>
            <a:ext cx="2160000" cy="1800563"/>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978138216"/>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神經系統是由相當多的神經元構成，彼此間以電流傳遞訊號</a:t>
            </a:r>
          </a:p>
          <a:p>
            <a:pPr lvl="2"/>
            <a:r>
              <a:rPr lang="zh-TW" altLang="en-US" dirty="0">
                <a:latin typeface="微軟正黑體" panose="020B0604030504040204" pitchFamily="34" charset="-120"/>
                <a:ea typeface="微軟正黑體" panose="020B0604030504040204" pitchFamily="34" charset="-120"/>
              </a:rPr>
              <a:t>是否往下一層傳遞訊號則是取決於神經元所接收到的訊號</a:t>
            </a:r>
          </a:p>
          <a:p>
            <a:pPr lvl="2"/>
            <a:r>
              <a:rPr lang="zh-TW" altLang="en-US" dirty="0">
                <a:latin typeface="微軟正黑體" panose="020B0604030504040204" pitchFamily="34" charset="-120"/>
                <a:ea typeface="微軟正黑體" panose="020B0604030504040204" pitchFamily="34" charset="-120"/>
              </a:rPr>
              <a:t>當訊號量超過了某個門檻值，神經元就會產生電流傳到其他神經元</a:t>
            </a:r>
          </a:p>
          <a:p>
            <a:pPr lvl="1"/>
            <a:r>
              <a:rPr lang="zh-TW" altLang="en-US" dirty="0">
                <a:latin typeface="微軟正黑體" panose="020B0604030504040204" pitchFamily="34" charset="-120"/>
                <a:ea typeface="微軟正黑體" panose="020B0604030504040204" pitchFamily="34" charset="-120"/>
              </a:rPr>
              <a:t>為了模擬神經元的行為，科學家設定每一個神經元都是一個獨立的激發函數</a:t>
            </a:r>
          </a:p>
          <a:p>
            <a:pPr lvl="2"/>
            <a:r>
              <a:rPr lang="zh-TW" altLang="en-US" dirty="0">
                <a:latin typeface="微軟正黑體" panose="020B0604030504040204" pitchFamily="34" charset="-120"/>
                <a:ea typeface="微軟正黑體" panose="020B0604030504040204" pitchFamily="34" charset="-120"/>
              </a:rPr>
              <a:t>當對神經元輸入輸入值後，經過激發函數的運算，就會決定是否輸出輸出值</a:t>
            </a:r>
          </a:p>
          <a:p>
            <a:pPr lvl="2"/>
            <a:r>
              <a:rPr lang="zh-TW" altLang="en-US" dirty="0">
                <a:latin typeface="微軟正黑體" panose="020B0604030504040204" pitchFamily="34" charset="-120"/>
                <a:ea typeface="微軟正黑體" panose="020B0604030504040204" pitchFamily="34" charset="-120"/>
              </a:rPr>
              <a:t>這個輸出值會再傳到下一個神經元，成為該神經元的輸入值</a:t>
            </a:r>
          </a:p>
          <a:p>
            <a:pPr lvl="2"/>
            <a:r>
              <a:rPr lang="zh-TW" altLang="en-US" dirty="0">
                <a:latin typeface="微軟正黑體" panose="020B0604030504040204" pitchFamily="34" charset="-120"/>
                <a:ea typeface="微軟正黑體" panose="020B0604030504040204" pitchFamily="34" charset="-120"/>
              </a:rPr>
              <a:t>如此一層層地傳下去，直到最後一層輸出預測結果</a:t>
            </a:r>
          </a:p>
          <a:p>
            <a:pPr lvl="1"/>
            <a:endParaRPr lang="zh-TW" altLang="en-US"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177054779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608514"/>
          </a:xfrm>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後來在</a:t>
            </a:r>
            <a:r>
              <a:rPr lang="en-US" altLang="zh-TW" dirty="0">
                <a:latin typeface="微軟正黑體" panose="020B0604030504040204" pitchFamily="34" charset="-120"/>
                <a:ea typeface="微軟正黑體" panose="020B0604030504040204" pitchFamily="34" charset="-120"/>
              </a:rPr>
              <a:t>2006</a:t>
            </a:r>
            <a:r>
              <a:rPr lang="zh-TW" altLang="en-US" dirty="0">
                <a:latin typeface="微軟正黑體" panose="020B0604030504040204" pitchFamily="34" charset="-120"/>
                <a:ea typeface="微軟正黑體" panose="020B0604030504040204" pitchFamily="34" charset="-120"/>
              </a:rPr>
              <a:t>年，多倫多大學的</a:t>
            </a:r>
            <a:r>
              <a:rPr lang="en-US" altLang="zh-TW" dirty="0">
                <a:latin typeface="微軟正黑體" panose="020B0604030504040204" pitchFamily="34" charset="-120"/>
                <a:ea typeface="微軟正黑體" panose="020B0604030504040204" pitchFamily="34" charset="-120"/>
              </a:rPr>
              <a:t>Hinton</a:t>
            </a:r>
            <a:r>
              <a:rPr lang="zh-TW" altLang="en-US" dirty="0">
                <a:latin typeface="微軟正黑體" panose="020B0604030504040204" pitchFamily="34" charset="-120"/>
                <a:ea typeface="微軟正黑體" panose="020B0604030504040204" pitchFamily="34" charset="-120"/>
              </a:rPr>
              <a:t>教授提出了在類神經網路上所使用的</a:t>
            </a:r>
            <a:r>
              <a:rPr lang="en-US" altLang="zh-TW" dirty="0">
                <a:latin typeface="微軟正黑體" panose="020B0604030504040204" pitchFamily="34" charset="-120"/>
                <a:ea typeface="微軟正黑體" panose="020B0604030504040204" pitchFamily="34" charset="-120"/>
              </a:rPr>
              <a:t>RBM</a:t>
            </a:r>
            <a:r>
              <a:rPr lang="zh-TW" altLang="en-US" dirty="0">
                <a:latin typeface="微軟正黑體" panose="020B0604030504040204" pitchFamily="34" charset="-120"/>
                <a:ea typeface="微軟正黑體" panose="020B0604030504040204" pitchFamily="34" charset="-120"/>
              </a:rPr>
              <a:t>模型，優化了多層的類神經網路</a:t>
            </a:r>
            <a:endParaRPr lang="en-US" altLang="zh-TW" dirty="0">
              <a:latin typeface="微軟正黑體" panose="020B0604030504040204" pitchFamily="34" charset="-120"/>
              <a:ea typeface="微軟正黑體" panose="020B0604030504040204" pitchFamily="34" charset="-120"/>
            </a:endParaRPr>
          </a:p>
          <a:p>
            <a:pPr lvl="2"/>
            <a:r>
              <a:rPr lang="en-US" altLang="zh-TW" dirty="0">
                <a:latin typeface="微軟正黑體" panose="020B0604030504040204" pitchFamily="34" charset="-120"/>
                <a:ea typeface="微軟正黑體" panose="020B0604030504040204" pitchFamily="34" charset="-120"/>
              </a:rPr>
              <a:t>Restricted Boltzmann Machine</a:t>
            </a:r>
            <a:r>
              <a:rPr lang="zh-TW" altLang="en-US" dirty="0">
                <a:latin typeface="微軟正黑體" panose="020B0604030504040204" pitchFamily="34" charset="-120"/>
                <a:ea typeface="微軟正黑體" panose="020B0604030504040204" pitchFamily="34" charset="-120"/>
              </a:rPr>
              <a:t>，</a:t>
            </a:r>
            <a:r>
              <a:rPr lang="en-US" altLang="zh-TW" dirty="0">
                <a:latin typeface="微軟正黑體" panose="020B0604030504040204" pitchFamily="34" charset="-120"/>
                <a:ea typeface="微軟正黑體" panose="020B0604030504040204" pitchFamily="34" charset="-120"/>
              </a:rPr>
              <a:t>RBM</a:t>
            </a:r>
          </a:p>
          <a:p>
            <a:pPr lvl="2"/>
            <a:r>
              <a:rPr lang="zh-TW" altLang="en-US" dirty="0">
                <a:latin typeface="微軟正黑體" panose="020B0604030504040204" pitchFamily="34" charset="-120"/>
                <a:ea typeface="微軟正黑體" panose="020B0604030504040204" pitchFamily="34" charset="-120"/>
              </a:rPr>
              <a:t>深度學習（</a:t>
            </a:r>
            <a:r>
              <a:rPr lang="en-US" altLang="zh-TW" dirty="0">
                <a:latin typeface="微軟正黑體" panose="020B0604030504040204" pitchFamily="34" charset="-120"/>
                <a:ea typeface="微軟正黑體" panose="020B0604030504040204" pitchFamily="34" charset="-120"/>
              </a:rPr>
              <a:t>Deep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然而大家也只是知道：類神經網路不是像之前想的這麼沒用</a:t>
            </a:r>
          </a:p>
          <a:p>
            <a:pPr lvl="2"/>
            <a:r>
              <a:rPr lang="zh-TW" altLang="en-US" dirty="0">
                <a:latin typeface="微軟正黑體" panose="020B0604030504040204" pitchFamily="34" charset="-120"/>
                <a:ea typeface="微軟正黑體" panose="020B0604030504040204" pitchFamily="34" charset="-120"/>
              </a:rPr>
              <a:t>由於運算量仍然是相當龐大，加上當時都還只是採用</a:t>
            </a:r>
            <a:r>
              <a:rPr lang="en-US" altLang="zh-TW" dirty="0">
                <a:latin typeface="微軟正黑體" panose="020B0604030504040204" pitchFamily="34" charset="-120"/>
                <a:ea typeface="微軟正黑體" panose="020B0604030504040204" pitchFamily="34" charset="-120"/>
              </a:rPr>
              <a:t>CPU</a:t>
            </a:r>
            <a:r>
              <a:rPr lang="zh-TW" altLang="en-US" dirty="0">
                <a:latin typeface="微軟正黑體" panose="020B0604030504040204" pitchFamily="34" charset="-120"/>
                <a:ea typeface="微軟正黑體" panose="020B0604030504040204" pitchFamily="34" charset="-120"/>
              </a:rPr>
              <a:t>運算</a:t>
            </a:r>
          </a:p>
          <a:p>
            <a:pPr lvl="2"/>
            <a:r>
              <a:rPr lang="zh-TW" altLang="en-US" dirty="0">
                <a:latin typeface="微軟正黑體" panose="020B0604030504040204" pitchFamily="34" charset="-120"/>
                <a:ea typeface="微軟正黑體" panose="020B0604030504040204" pitchFamily="34" charset="-120"/>
              </a:rPr>
              <a:t>有可能好不容易耗費一周才終於跑完一個模型，可是結果卻發現有問題</a:t>
            </a:r>
          </a:p>
          <a:p>
            <a:pPr lvl="2"/>
            <a:r>
              <a:rPr lang="zh-TW" altLang="en-US" dirty="0">
                <a:latin typeface="微軟正黑體" panose="020B0604030504040204" pitchFamily="34" charset="-120"/>
                <a:ea typeface="微軟正黑體" panose="020B0604030504040204" pitchFamily="34" charset="-120"/>
              </a:rPr>
              <a:t>改個模型和參數重跑，又要再等一周</a:t>
            </a:r>
            <a:r>
              <a:rPr lang="en-US" altLang="zh-TW" dirty="0">
                <a:latin typeface="微軟正黑體" panose="020B0604030504040204" pitchFamily="34" charset="-120"/>
                <a:ea typeface="微軟正黑體" panose="020B0604030504040204" pitchFamily="34" charset="-120"/>
              </a:rPr>
              <a:t>……</a:t>
            </a:r>
          </a:p>
          <a:p>
            <a:pPr lvl="2"/>
            <a:r>
              <a:rPr lang="zh-TW" altLang="en-US" dirty="0">
                <a:latin typeface="微軟正黑體" panose="020B0604030504040204" pitchFamily="34" charset="-120"/>
                <a:ea typeface="微軟正黑體" panose="020B0604030504040204" pitchFamily="34" charset="-120"/>
              </a:rPr>
              <a:t>到底什麼時候可以真正訓練好</a:t>
            </a:r>
            <a:r>
              <a:rPr lang="en-US" altLang="zh-TW"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226193924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文字方塊 3"/>
          <p:cNvSpPr txBox="1"/>
          <p:nvPr/>
        </p:nvSpPr>
        <p:spPr>
          <a:xfrm>
            <a:off x="1066800" y="2705100"/>
            <a:ext cx="10267950" cy="1015663"/>
          </a:xfrm>
          <a:prstGeom prst="rect">
            <a:avLst/>
          </a:prstGeom>
        </p:spPr>
        <p:style>
          <a:lnRef idx="2">
            <a:schemeClr val="accent5">
              <a:shade val="50000"/>
            </a:schemeClr>
          </a:lnRef>
          <a:fillRef idx="1">
            <a:schemeClr val="accent5"/>
          </a:fillRef>
          <a:effectRef idx="0">
            <a:schemeClr val="accent5"/>
          </a:effectRef>
          <a:fontRef idx="minor">
            <a:schemeClr val="lt1"/>
          </a:fontRef>
        </p:style>
        <p:txBody>
          <a:bodyPr wrap="square" rtlCol="0">
            <a:spAutoFit/>
          </a:bodyPr>
          <a:lstStyle/>
          <a:p>
            <a:pPr algn="ctr"/>
            <a:r>
              <a:rPr lang="zh-TW" altLang="en-US" sz="6000" dirty="0">
                <a:solidFill>
                  <a:schemeClr val="bg1"/>
                </a:solidFill>
                <a:latin typeface="微軟正黑體" panose="020B0604030504040204" pitchFamily="34" charset="-120"/>
                <a:ea typeface="微軟正黑體" panose="020B0604030504040204" pitchFamily="34" charset="-120"/>
              </a:rPr>
              <a:t>時間飛快地過了七年</a:t>
            </a:r>
            <a:r>
              <a:rPr lang="en-US" altLang="zh-TW" sz="6000" dirty="0">
                <a:solidFill>
                  <a:schemeClr val="bg1"/>
                </a:solidFill>
                <a:latin typeface="微軟正黑體" panose="020B0604030504040204" pitchFamily="34" charset="-120"/>
                <a:ea typeface="微軟正黑體" panose="020B0604030504040204" pitchFamily="34" charset="-120"/>
              </a:rPr>
              <a:t>…</a:t>
            </a:r>
            <a:endParaRPr lang="zh-TW" altLang="en-US" sz="6000"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13093747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normAutofit/>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en-US" altLang="zh-TW" dirty="0">
                <a:latin typeface="微軟正黑體" panose="020B0604030504040204" pitchFamily="34" charset="-120"/>
                <a:ea typeface="微軟正黑體" panose="020B0604030504040204" pitchFamily="34" charset="-120"/>
              </a:rPr>
              <a:t>2013</a:t>
            </a:r>
            <a:r>
              <a:rPr lang="zh-TW" altLang="en-US" dirty="0">
                <a:latin typeface="微軟正黑體" panose="020B0604030504040204" pitchFamily="34" charset="-120"/>
                <a:ea typeface="微軟正黑體" panose="020B0604030504040204" pitchFamily="34" charset="-120"/>
              </a:rPr>
              <a:t>年</a:t>
            </a:r>
            <a:r>
              <a:rPr lang="en-US" altLang="zh-TW" dirty="0">
                <a:latin typeface="微軟正黑體" panose="020B0604030504040204" pitchFamily="34" charset="-120"/>
                <a:ea typeface="微軟正黑體" panose="020B0604030504040204" pitchFamily="34" charset="-120"/>
              </a:rPr>
              <a:t>7</a:t>
            </a:r>
            <a:r>
              <a:rPr lang="zh-TW" altLang="en-US" dirty="0">
                <a:latin typeface="微軟正黑體" panose="020B0604030504040204" pitchFamily="34" charset="-120"/>
                <a:ea typeface="微軟正黑體" panose="020B0604030504040204" pitchFamily="34" charset="-120"/>
              </a:rPr>
              <a:t>月，</a:t>
            </a:r>
            <a:r>
              <a:rPr lang="en-US" altLang="zh-TW" dirty="0">
                <a:latin typeface="微軟正黑體" panose="020B0604030504040204" pitchFamily="34" charset="-120"/>
                <a:ea typeface="微軟正黑體" panose="020B0604030504040204" pitchFamily="34" charset="-120"/>
              </a:rPr>
              <a:t>Google</a:t>
            </a:r>
            <a:r>
              <a:rPr lang="zh-TW" altLang="en-US" dirty="0">
                <a:latin typeface="微軟正黑體" panose="020B0604030504040204" pitchFamily="34" charset="-120"/>
                <a:ea typeface="微軟正黑體" panose="020B0604030504040204" pitchFamily="34" charset="-120"/>
              </a:rPr>
              <a:t>收購了一家才創立一年的新創公司（</a:t>
            </a:r>
            <a:r>
              <a:rPr lang="en-US" altLang="zh-TW" dirty="0" err="1">
                <a:latin typeface="微軟正黑體" panose="020B0604030504040204" pitchFamily="34" charset="-120"/>
                <a:ea typeface="微軟正黑體" panose="020B0604030504040204" pitchFamily="34" charset="-120"/>
              </a:rPr>
              <a:t>DNNresearch</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這家公司僅有三個人</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也就是剛剛提到的</a:t>
            </a:r>
            <a:r>
              <a:rPr lang="en-US" altLang="zh-TW" dirty="0">
                <a:latin typeface="微軟正黑體" panose="020B0604030504040204" pitchFamily="34" charset="-120"/>
                <a:ea typeface="微軟正黑體" panose="020B0604030504040204" pitchFamily="34" charset="-120"/>
              </a:rPr>
              <a:t>Hinton</a:t>
            </a:r>
            <a:r>
              <a:rPr lang="zh-TW" altLang="en-US" dirty="0">
                <a:latin typeface="微軟正黑體" panose="020B0604030504040204" pitchFamily="34" charset="-120"/>
                <a:ea typeface="微軟正黑體" panose="020B0604030504040204" pitchFamily="34" charset="-120"/>
              </a:rPr>
              <a:t>教授和他的兩位學生</a:t>
            </a:r>
          </a:p>
        </p:txBody>
      </p:sp>
    </p:spTree>
    <p:extLst>
      <p:ext uri="{BB962C8B-B14F-4D97-AF65-F5344CB8AC3E}">
        <p14:creationId xmlns:p14="http://schemas.microsoft.com/office/powerpoint/2010/main" val="398912375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normAutofit/>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是什麼理由和原因，讓</a:t>
            </a:r>
            <a:r>
              <a:rPr lang="en-US" altLang="zh-TW" dirty="0">
                <a:latin typeface="微軟正黑體" panose="020B0604030504040204" pitchFamily="34" charset="-120"/>
                <a:ea typeface="微軟正黑體" panose="020B0604030504040204" pitchFamily="34" charset="-120"/>
              </a:rPr>
              <a:t>Google</a:t>
            </a:r>
            <a:r>
              <a:rPr lang="zh-TW" altLang="en-US" dirty="0">
                <a:latin typeface="微軟正黑體" panose="020B0604030504040204" pitchFamily="34" charset="-120"/>
                <a:ea typeface="微軟正黑體" panose="020B0604030504040204" pitchFamily="34" charset="-120"/>
              </a:rPr>
              <a:t>願意砸大錢在一間名不見經傳的公司</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理由：深度學習（</a:t>
            </a:r>
            <a:r>
              <a:rPr lang="en-US" altLang="zh-TW" dirty="0">
                <a:latin typeface="微軟正黑體" panose="020B0604030504040204" pitchFamily="34" charset="-120"/>
                <a:ea typeface="微軟正黑體" panose="020B0604030504040204" pitchFamily="34" charset="-120"/>
              </a:rPr>
              <a:t>Deep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原因：史丹佛大學每年都會舉辦</a:t>
            </a:r>
            <a:r>
              <a:rPr lang="en-US" altLang="zh-TW" dirty="0">
                <a:latin typeface="微軟正黑體" panose="020B0604030504040204" pitchFamily="34" charset="-120"/>
                <a:ea typeface="微軟正黑體" panose="020B0604030504040204" pitchFamily="34" charset="-120"/>
              </a:rPr>
              <a:t>ImageNet</a:t>
            </a:r>
            <a:r>
              <a:rPr lang="zh-TW" altLang="en-US" dirty="0">
                <a:latin typeface="微軟正黑體" panose="020B0604030504040204" pitchFamily="34" charset="-120"/>
                <a:ea typeface="微軟正黑體" panose="020B0604030504040204" pitchFamily="34" charset="-120"/>
              </a:rPr>
              <a:t>圖像識別競賽</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參加者包括了</a:t>
            </a:r>
            <a:r>
              <a:rPr lang="en-US" altLang="zh-TW" dirty="0">
                <a:latin typeface="微軟正黑體" panose="020B0604030504040204" pitchFamily="34" charset="-120"/>
                <a:ea typeface="微軟正黑體" panose="020B0604030504040204" pitchFamily="34" charset="-120"/>
              </a:rPr>
              <a:t>Google</a:t>
            </a:r>
            <a:r>
              <a:rPr lang="zh-TW" altLang="en-US" dirty="0">
                <a:latin typeface="微軟正黑體" panose="020B0604030504040204" pitchFamily="34" charset="-120"/>
                <a:ea typeface="微軟正黑體" panose="020B0604030504040204" pitchFamily="34" charset="-120"/>
              </a:rPr>
              <a:t>、微軟、百度</a:t>
            </a:r>
            <a:r>
              <a:rPr lang="en-US" altLang="zh-TW" dirty="0">
                <a:latin typeface="微軟正黑體" panose="020B0604030504040204" pitchFamily="34" charset="-120"/>
                <a:ea typeface="微軟正黑體" panose="020B0604030504040204" pitchFamily="34" charset="-120"/>
              </a:rPr>
              <a:t>……</a:t>
            </a:r>
            <a:r>
              <a:rPr lang="zh-TW" altLang="en-US" dirty="0">
                <a:latin typeface="微軟正黑體" panose="020B0604030504040204" pitchFamily="34" charset="-120"/>
                <a:ea typeface="微軟正黑體" panose="020B0604030504040204" pitchFamily="34" charset="-120"/>
              </a:rPr>
              <a:t>等大型企業</a:t>
            </a:r>
            <a:endParaRPr lang="en-US" altLang="zh-TW" dirty="0">
              <a:latin typeface="微軟正黑體" panose="020B0604030504040204" pitchFamily="34" charset="-120"/>
              <a:ea typeface="微軟正黑體" panose="020B0604030504040204" pitchFamily="34" charset="-120"/>
            </a:endParaRPr>
          </a:p>
          <a:p>
            <a:pPr lvl="2"/>
            <a:r>
              <a:rPr lang="zh-TW" altLang="en-US" dirty="0">
                <a:latin typeface="微軟正黑體" panose="020B0604030504040204" pitchFamily="34" charset="-120"/>
                <a:ea typeface="微軟正黑體" panose="020B0604030504040204" pitchFamily="34" charset="-120"/>
              </a:rPr>
              <a:t>主要測試自家系統的效能以及爭奪圖像識別寶座</a:t>
            </a:r>
          </a:p>
          <a:p>
            <a:pPr lvl="2"/>
            <a:r>
              <a:rPr lang="zh-TW" altLang="en-US" dirty="0">
                <a:latin typeface="微軟正黑體" panose="020B0604030504040204" pitchFamily="34" charset="-120"/>
                <a:ea typeface="微軟正黑體" panose="020B0604030504040204" pitchFamily="34" charset="-120"/>
              </a:rPr>
              <a:t>從</a:t>
            </a:r>
            <a:r>
              <a:rPr lang="en-US" altLang="zh-TW" dirty="0">
                <a:latin typeface="微軟正黑體" panose="020B0604030504040204" pitchFamily="34" charset="-120"/>
                <a:ea typeface="微軟正黑體" panose="020B0604030504040204" pitchFamily="34" charset="-120"/>
              </a:rPr>
              <a:t>2007</a:t>
            </a:r>
            <a:r>
              <a:rPr lang="zh-TW" altLang="en-US" dirty="0">
                <a:latin typeface="微軟正黑體" panose="020B0604030504040204" pitchFamily="34" charset="-120"/>
                <a:ea typeface="微軟正黑體" panose="020B0604030504040204" pitchFamily="34" charset="-120"/>
              </a:rPr>
              <a:t>年</a:t>
            </a:r>
            <a:r>
              <a:rPr lang="en-US" altLang="zh-TW" dirty="0">
                <a:latin typeface="微軟正黑體" panose="020B0604030504040204" pitchFamily="34" charset="-120"/>
                <a:ea typeface="微軟正黑體" panose="020B0604030504040204" pitchFamily="34" charset="-120"/>
              </a:rPr>
              <a:t>ImageNet</a:t>
            </a:r>
            <a:r>
              <a:rPr lang="zh-TW" altLang="en-US" dirty="0">
                <a:latin typeface="微軟正黑體" panose="020B0604030504040204" pitchFamily="34" charset="-120"/>
                <a:ea typeface="微軟正黑體" panose="020B0604030504040204" pitchFamily="34" charset="-120"/>
              </a:rPr>
              <a:t>比賽創辦以來，每年的比賽結果都差不多，錯誤率大致都是</a:t>
            </a:r>
            <a:r>
              <a:rPr lang="en-US" altLang="zh-TW" dirty="0">
                <a:latin typeface="微軟正黑體" panose="020B0604030504040204" pitchFamily="34" charset="-120"/>
                <a:ea typeface="微軟正黑體" panose="020B0604030504040204" pitchFamily="34" charset="-120"/>
              </a:rPr>
              <a:t>30%</a:t>
            </a:r>
            <a:r>
              <a:rPr lang="zh-TW" altLang="en-US" dirty="0">
                <a:latin typeface="微軟正黑體" panose="020B0604030504040204" pitchFamily="34" charset="-120"/>
                <a:ea typeface="微軟正黑體" panose="020B0604030504040204" pitchFamily="34" charset="-120"/>
              </a:rPr>
              <a:t>左右</a:t>
            </a:r>
          </a:p>
          <a:p>
            <a:pPr lvl="2"/>
            <a:endParaRPr lang="en-US" altLang="zh-TW" dirty="0">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888420090"/>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矩形 6"/>
          <p:cNvSpPr/>
          <p:nvPr/>
        </p:nvSpPr>
        <p:spPr>
          <a:xfrm>
            <a:off x="2013527" y="4055920"/>
            <a:ext cx="8092498" cy="877455"/>
          </a:xfrm>
          <a:prstGeom prst="rect">
            <a:avLst/>
          </a:prstGeom>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zh-TW" altLang="en-US">
              <a:latin typeface="微軟正黑體" panose="020B0604030504040204" pitchFamily="34" charset="-120"/>
              <a:ea typeface="微軟正黑體" panose="020B0604030504040204" pitchFamily="34" charset="-120"/>
            </a:endParaRPr>
          </a:p>
        </p:txBody>
      </p:sp>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normAutofit/>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是什麼理由和原因，讓</a:t>
            </a:r>
            <a:r>
              <a:rPr lang="en-US" altLang="zh-TW" dirty="0">
                <a:latin typeface="微軟正黑體" panose="020B0604030504040204" pitchFamily="34" charset="-120"/>
                <a:ea typeface="微軟正黑體" panose="020B0604030504040204" pitchFamily="34" charset="-120"/>
              </a:rPr>
              <a:t>Google</a:t>
            </a:r>
            <a:r>
              <a:rPr lang="zh-TW" altLang="en-US" dirty="0">
                <a:latin typeface="微軟正黑體" panose="020B0604030504040204" pitchFamily="34" charset="-120"/>
                <a:ea typeface="微軟正黑體" panose="020B0604030504040204" pitchFamily="34" charset="-120"/>
              </a:rPr>
              <a:t>願意砸大錢在一間名不見經傳的公司</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理由：深度學習（</a:t>
            </a:r>
            <a:r>
              <a:rPr lang="en-US" altLang="zh-TW" dirty="0">
                <a:latin typeface="微軟正黑體" panose="020B0604030504040204" pitchFamily="34" charset="-120"/>
                <a:ea typeface="微軟正黑體" panose="020B0604030504040204" pitchFamily="34" charset="-120"/>
              </a:rPr>
              <a:t>Deep Learning</a:t>
            </a:r>
            <a:r>
              <a:rPr lang="zh-TW" altLang="en-US" dirty="0">
                <a:latin typeface="微軟正黑體" panose="020B0604030504040204" pitchFamily="34" charset="-120"/>
                <a:ea typeface="微軟正黑體" panose="020B0604030504040204" pitchFamily="34" charset="-120"/>
              </a:rPr>
              <a:t>）</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原因：史丹佛大學每年都會舉辦</a:t>
            </a:r>
            <a:r>
              <a:rPr lang="en-US" altLang="zh-TW" dirty="0">
                <a:latin typeface="微軟正黑體" panose="020B0604030504040204" pitchFamily="34" charset="-120"/>
                <a:ea typeface="微軟正黑體" panose="020B0604030504040204" pitchFamily="34" charset="-120"/>
              </a:rPr>
              <a:t>ImageNet</a:t>
            </a:r>
            <a:r>
              <a:rPr lang="zh-TW" altLang="en-US" dirty="0">
                <a:latin typeface="微軟正黑體" panose="020B0604030504040204" pitchFamily="34" charset="-120"/>
                <a:ea typeface="微軟正黑體" panose="020B0604030504040204" pitchFamily="34" charset="-120"/>
              </a:rPr>
              <a:t>圖像識別競賽</a:t>
            </a:r>
            <a:endParaRPr lang="en-US" altLang="zh-TW" dirty="0">
              <a:latin typeface="微軟正黑體" panose="020B0604030504040204" pitchFamily="34" charset="-120"/>
              <a:ea typeface="微軟正黑體" panose="020B0604030504040204" pitchFamily="34" charset="-120"/>
            </a:endParaRPr>
          </a:p>
          <a:p>
            <a:pPr lvl="2"/>
            <a:r>
              <a:rPr lang="zh-TW" altLang="en-US" dirty="0">
                <a:solidFill>
                  <a:schemeClr val="bg1"/>
                </a:solidFill>
                <a:latin typeface="微軟正黑體" panose="020B0604030504040204" pitchFamily="34" charset="-120"/>
                <a:ea typeface="微軟正黑體" panose="020B0604030504040204" pitchFamily="34" charset="-120"/>
              </a:rPr>
              <a:t>結果</a:t>
            </a:r>
            <a:r>
              <a:rPr lang="en-US" altLang="zh-TW" dirty="0">
                <a:solidFill>
                  <a:schemeClr val="bg1"/>
                </a:solidFill>
                <a:latin typeface="微軟正黑體" panose="020B0604030504040204" pitchFamily="34" charset="-120"/>
                <a:ea typeface="微軟正黑體" panose="020B0604030504040204" pitchFamily="34" charset="-120"/>
              </a:rPr>
              <a:t>2012</a:t>
            </a:r>
            <a:r>
              <a:rPr lang="zh-TW" altLang="en-US" dirty="0">
                <a:solidFill>
                  <a:schemeClr val="bg1"/>
                </a:solidFill>
                <a:latin typeface="微軟正黑體" panose="020B0604030504040204" pitchFamily="34" charset="-120"/>
                <a:ea typeface="微軟正黑體" panose="020B0604030504040204" pitchFamily="34" charset="-120"/>
              </a:rPr>
              <a:t>年</a:t>
            </a:r>
            <a:r>
              <a:rPr lang="en-US" altLang="zh-TW" dirty="0">
                <a:solidFill>
                  <a:schemeClr val="bg1"/>
                </a:solidFill>
                <a:latin typeface="微軟正黑體" panose="020B0604030504040204" pitchFamily="34" charset="-120"/>
                <a:ea typeface="微軟正黑體" panose="020B0604030504040204" pitchFamily="34" charset="-120"/>
              </a:rPr>
              <a:t>Hinton</a:t>
            </a:r>
            <a:r>
              <a:rPr lang="zh-TW" altLang="en-US" dirty="0">
                <a:solidFill>
                  <a:schemeClr val="bg1"/>
                </a:solidFill>
                <a:latin typeface="微軟正黑體" panose="020B0604030504040204" pitchFamily="34" charset="-120"/>
                <a:ea typeface="微軟正黑體" panose="020B0604030504040204" pitchFamily="34" charset="-120"/>
              </a:rPr>
              <a:t>的兩個學生參賽，以</a:t>
            </a:r>
            <a:r>
              <a:rPr lang="en-US" altLang="zh-TW" dirty="0">
                <a:solidFill>
                  <a:schemeClr val="bg1"/>
                </a:solidFill>
                <a:latin typeface="微軟正黑體" panose="020B0604030504040204" pitchFamily="34" charset="-120"/>
                <a:ea typeface="微軟正黑體" panose="020B0604030504040204" pitchFamily="34" charset="-120"/>
              </a:rPr>
              <a:t>16%</a:t>
            </a:r>
            <a:r>
              <a:rPr lang="zh-TW" altLang="en-US" dirty="0">
                <a:solidFill>
                  <a:schemeClr val="bg1"/>
                </a:solidFill>
                <a:latin typeface="微軟正黑體" panose="020B0604030504040204" pitchFamily="34" charset="-120"/>
                <a:ea typeface="微軟正黑體" panose="020B0604030504040204" pitchFamily="34" charset="-120"/>
              </a:rPr>
              <a:t>左右的錯誤率遠勝第二名的</a:t>
            </a:r>
            <a:r>
              <a:rPr lang="en-US" altLang="zh-TW" dirty="0">
                <a:solidFill>
                  <a:schemeClr val="bg1"/>
                </a:solidFill>
                <a:latin typeface="微軟正黑體" panose="020B0604030504040204" pitchFamily="34" charset="-120"/>
                <a:ea typeface="微軟正黑體" panose="020B0604030504040204" pitchFamily="34" charset="-120"/>
              </a:rPr>
              <a:t>26%</a:t>
            </a:r>
          </a:p>
          <a:p>
            <a:pPr lvl="2"/>
            <a:r>
              <a:rPr lang="zh-TW" altLang="en-US" dirty="0">
                <a:solidFill>
                  <a:schemeClr val="bg1"/>
                </a:solidFill>
                <a:latin typeface="微軟正黑體" panose="020B0604030504040204" pitchFamily="34" charset="-120"/>
                <a:ea typeface="微軟正黑體" panose="020B0604030504040204" pitchFamily="34" charset="-120"/>
              </a:rPr>
              <a:t>深度學習的一戰成名</a:t>
            </a:r>
            <a:endParaRPr lang="en-US" altLang="zh-TW" dirty="0">
              <a:solidFill>
                <a:schemeClr val="bg1"/>
              </a:solidFill>
              <a:latin typeface="微軟正黑體" panose="020B0604030504040204" pitchFamily="34" charset="-120"/>
              <a:ea typeface="微軟正黑體" panose="020B0604030504040204" pitchFamily="34" charset="-120"/>
            </a:endParaRPr>
          </a:p>
        </p:txBody>
      </p:sp>
    </p:spTree>
    <p:extLst>
      <p:ext uri="{BB962C8B-B14F-4D97-AF65-F5344CB8AC3E}">
        <p14:creationId xmlns:p14="http://schemas.microsoft.com/office/powerpoint/2010/main" val="24723693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深度學習在</a:t>
            </a:r>
            <a:r>
              <a:rPr lang="en-US" altLang="zh-TW" dirty="0">
                <a:latin typeface="微軟正黑體" panose="020B0604030504040204" pitchFamily="34" charset="-120"/>
                <a:ea typeface="微軟正黑體" panose="020B0604030504040204" pitchFamily="34" charset="-120"/>
              </a:rPr>
              <a:t>2006</a:t>
            </a:r>
            <a:r>
              <a:rPr lang="zh-TW" altLang="en-US" dirty="0">
                <a:latin typeface="微軟正黑體" panose="020B0604030504040204" pitchFamily="34" charset="-120"/>
                <a:ea typeface="微軟正黑體" panose="020B0604030504040204" pitchFamily="34" charset="-120"/>
              </a:rPr>
              <a:t>年紅不起來的原因在於：硬體運算特性不符</a:t>
            </a:r>
          </a:p>
          <a:p>
            <a:pPr lvl="2"/>
            <a:r>
              <a:rPr lang="zh-TW" altLang="en-US" dirty="0">
                <a:latin typeface="微軟正黑體" panose="020B0604030504040204" pitchFamily="34" charset="-120"/>
                <a:ea typeface="微軟正黑體" panose="020B0604030504040204" pitchFamily="34" charset="-120"/>
              </a:rPr>
              <a:t>深度學習會大量使用到矩陣運算</a:t>
            </a:r>
          </a:p>
          <a:p>
            <a:pPr lvl="2"/>
            <a:r>
              <a:rPr lang="zh-TW" altLang="en-US" dirty="0">
                <a:latin typeface="微軟正黑體" panose="020B0604030504040204" pitchFamily="34" charset="-120"/>
                <a:ea typeface="微軟正黑體" panose="020B0604030504040204" pitchFamily="34" charset="-120"/>
              </a:rPr>
              <a:t>傳統都是用</a:t>
            </a:r>
            <a:r>
              <a:rPr lang="en-US" altLang="zh-TW" dirty="0">
                <a:latin typeface="微軟正黑體" panose="020B0604030504040204" pitchFamily="34" charset="-120"/>
                <a:ea typeface="微軟正黑體" panose="020B0604030504040204" pitchFamily="34" charset="-120"/>
              </a:rPr>
              <a:t>CPU</a:t>
            </a:r>
            <a:r>
              <a:rPr lang="zh-TW" altLang="en-US" dirty="0">
                <a:latin typeface="微軟正黑體" panose="020B0604030504040204" pitchFamily="34" charset="-120"/>
                <a:ea typeface="微軟正黑體" panose="020B0604030504040204" pitchFamily="34" charset="-120"/>
              </a:rPr>
              <a:t>來做運算，平行運算的能力不足，導致系統效率低落</a:t>
            </a:r>
            <a:endParaRPr lang="en-US" altLang="zh-TW" dirty="0">
              <a:latin typeface="微軟正黑體" panose="020B0604030504040204" pitchFamily="34" charset="-120"/>
              <a:ea typeface="微軟正黑體" panose="020B0604030504040204" pitchFamily="34" charset="-120"/>
            </a:endParaRPr>
          </a:p>
          <a:p>
            <a:pPr lvl="1"/>
            <a:r>
              <a:rPr lang="en-US" altLang="zh-TW" dirty="0">
                <a:latin typeface="微軟正黑體" panose="020B0604030504040204" pitchFamily="34" charset="-120"/>
                <a:ea typeface="微軟正黑體" panose="020B0604030504040204" pitchFamily="34" charset="-120"/>
              </a:rPr>
              <a:t>NVIDIA</a:t>
            </a:r>
            <a:r>
              <a:rPr lang="zh-TW" altLang="en-US" dirty="0">
                <a:latin typeface="微軟正黑體" panose="020B0604030504040204" pitchFamily="34" charset="-120"/>
                <a:ea typeface="微軟正黑體" panose="020B0604030504040204" pitchFamily="34" charset="-120"/>
              </a:rPr>
              <a:t>在</a:t>
            </a:r>
            <a:r>
              <a:rPr lang="en-US" altLang="zh-TW" dirty="0">
                <a:latin typeface="微軟正黑體" panose="020B0604030504040204" pitchFamily="34" charset="-120"/>
                <a:ea typeface="微軟正黑體" panose="020B0604030504040204" pitchFamily="34" charset="-120"/>
              </a:rPr>
              <a:t>2006</a:t>
            </a:r>
            <a:r>
              <a:rPr lang="zh-TW" altLang="en-US" dirty="0">
                <a:latin typeface="微軟正黑體" panose="020B0604030504040204" pitchFamily="34" charset="-120"/>
                <a:ea typeface="微軟正黑體" panose="020B0604030504040204" pitchFamily="34" charset="-120"/>
              </a:rPr>
              <a:t>年推出全新運算架構</a:t>
            </a:r>
            <a:r>
              <a:rPr lang="en-US" altLang="zh-TW" dirty="0">
                <a:latin typeface="微軟正黑體" panose="020B0604030504040204" pitchFamily="34" charset="-120"/>
                <a:ea typeface="微軟正黑體" panose="020B0604030504040204" pitchFamily="34" charset="-120"/>
              </a:rPr>
              <a:t>CUDA</a:t>
            </a:r>
          </a:p>
          <a:p>
            <a:pPr lvl="2"/>
            <a:r>
              <a:rPr lang="zh-TW" altLang="en-US" dirty="0">
                <a:latin typeface="微軟正黑體" panose="020B0604030504040204" pitchFamily="34" charset="-120"/>
                <a:ea typeface="微軟正黑體" panose="020B0604030504040204" pitchFamily="34" charset="-120"/>
              </a:rPr>
              <a:t>使用者可以撰寫</a:t>
            </a:r>
            <a:r>
              <a:rPr lang="en-US" altLang="zh-TW" dirty="0">
                <a:latin typeface="微軟正黑體" panose="020B0604030504040204" pitchFamily="34" charset="-120"/>
                <a:ea typeface="微軟正黑體" panose="020B0604030504040204" pitchFamily="34" charset="-120"/>
              </a:rPr>
              <a:t>C</a:t>
            </a:r>
            <a:r>
              <a:rPr lang="zh-TW" altLang="en-US" dirty="0">
                <a:latin typeface="微軟正黑體" panose="020B0604030504040204" pitchFamily="34" charset="-120"/>
                <a:ea typeface="微軟正黑體" panose="020B0604030504040204" pitchFamily="34" charset="-120"/>
              </a:rPr>
              <a:t>語言，再透過底層架構轉譯成</a:t>
            </a:r>
            <a:r>
              <a:rPr lang="en-US" altLang="zh-TW" dirty="0">
                <a:latin typeface="微軟正黑體" panose="020B0604030504040204" pitchFamily="34" charset="-120"/>
                <a:ea typeface="微軟正黑體" panose="020B0604030504040204" pitchFamily="34" charset="-120"/>
              </a:rPr>
              <a:t>GPU</a:t>
            </a:r>
            <a:r>
              <a:rPr lang="zh-TW" altLang="en-US" dirty="0">
                <a:latin typeface="微軟正黑體" panose="020B0604030504040204" pitchFamily="34" charset="-120"/>
                <a:ea typeface="微軟正黑體" panose="020B0604030504040204" pitchFamily="34" charset="-120"/>
              </a:rPr>
              <a:t>看得懂的機械碼</a:t>
            </a:r>
          </a:p>
          <a:p>
            <a:pPr lvl="2"/>
            <a:r>
              <a:rPr lang="zh-TW" altLang="en-US" dirty="0">
                <a:latin typeface="微軟正黑體" panose="020B0604030504040204" pitchFamily="34" charset="-120"/>
                <a:ea typeface="微軟正黑體" panose="020B0604030504040204" pitchFamily="34" charset="-120"/>
              </a:rPr>
              <a:t>這也是首次可以直接讓使用者利用</a:t>
            </a:r>
            <a:r>
              <a:rPr lang="en-US" altLang="zh-TW" dirty="0">
                <a:latin typeface="微軟正黑體" panose="020B0604030504040204" pitchFamily="34" charset="-120"/>
                <a:ea typeface="微軟正黑體" panose="020B0604030504040204" pitchFamily="34" charset="-120"/>
              </a:rPr>
              <a:t>C</a:t>
            </a:r>
            <a:r>
              <a:rPr lang="zh-TW" altLang="en-US" dirty="0">
                <a:latin typeface="微軟正黑體" panose="020B0604030504040204" pitchFamily="34" charset="-120"/>
                <a:ea typeface="微軟正黑體" panose="020B0604030504040204" pitchFamily="34" charset="-120"/>
              </a:rPr>
              <a:t>語言來運用</a:t>
            </a:r>
            <a:r>
              <a:rPr lang="en-US" altLang="zh-TW" dirty="0">
                <a:latin typeface="微軟正黑體" panose="020B0604030504040204" pitchFamily="34" charset="-120"/>
                <a:ea typeface="微軟正黑體" panose="020B0604030504040204" pitchFamily="34" charset="-120"/>
              </a:rPr>
              <a:t>GPU</a:t>
            </a:r>
            <a:r>
              <a:rPr lang="zh-TW" altLang="en-US" dirty="0">
                <a:latin typeface="微軟正黑體" panose="020B0604030504040204" pitchFamily="34" charset="-120"/>
                <a:ea typeface="微軟正黑體" panose="020B0604030504040204" pitchFamily="34" charset="-120"/>
              </a:rPr>
              <a:t>的強大平行運算能力</a:t>
            </a:r>
          </a:p>
          <a:p>
            <a:pPr lvl="1"/>
            <a:endParaRPr lang="en-US" altLang="zh-TW" dirty="0">
              <a:latin typeface="微軟正黑體" panose="020B0604030504040204" pitchFamily="34" charset="-120"/>
              <a:ea typeface="微軟正黑體" panose="020B0604030504040204" pitchFamily="34" charset="-120"/>
            </a:endParaRPr>
          </a:p>
        </p:txBody>
      </p:sp>
      <p:pic>
        <p:nvPicPr>
          <p:cNvPr id="2050" name="Picture 2" descr="https://upload.wikimedia.org/wikipedia/commons/5/59/CUDA.png"/>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9944099" y="3876276"/>
            <a:ext cx="1984375" cy="1202532"/>
          </a:xfrm>
          <a:prstGeom prst="rect">
            <a:avLst/>
          </a:prstGeom>
          <a:solidFill>
            <a:schemeClr val="tx1">
              <a:alpha val="90000"/>
            </a:schemeClr>
          </a:solidFill>
        </p:spPr>
      </p:pic>
    </p:spTree>
    <p:extLst>
      <p:ext uri="{BB962C8B-B14F-4D97-AF65-F5344CB8AC3E}">
        <p14:creationId xmlns:p14="http://schemas.microsoft.com/office/powerpoint/2010/main" val="1823852183"/>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人工智慧的發展</a:t>
            </a:r>
          </a:p>
        </p:txBody>
      </p:sp>
      <p:sp>
        <p:nvSpPr>
          <p:cNvPr id="3" name="內容版面配置區 2"/>
          <p:cNvSpPr>
            <a:spLocks noGrp="1"/>
          </p:cNvSpPr>
          <p:nvPr>
            <p:ph idx="1"/>
          </p:nvPr>
        </p:nvSpPr>
        <p:spPr>
          <a:xfrm>
            <a:off x="1141412" y="2249486"/>
            <a:ext cx="9905999" cy="4456113"/>
          </a:xfrm>
        </p:spPr>
        <p:txBody>
          <a:bodyPr/>
          <a:lstStyle/>
          <a:p>
            <a:r>
              <a:rPr lang="en-US" altLang="zh-TW" dirty="0">
                <a:latin typeface="微軟正黑體" panose="020B0604030504040204" pitchFamily="34" charset="-120"/>
                <a:ea typeface="微軟正黑體" panose="020B0604030504040204" pitchFamily="34" charset="-120"/>
              </a:rPr>
              <a:t>2000</a:t>
            </a:r>
            <a:r>
              <a:rPr lang="zh-TW" altLang="en-US" dirty="0">
                <a:latin typeface="微軟正黑體" panose="020B0604030504040204" pitchFamily="34" charset="-120"/>
                <a:ea typeface="微軟正黑體" panose="020B0604030504040204" pitchFamily="34" charset="-120"/>
              </a:rPr>
              <a:t>年代 </a:t>
            </a:r>
            <a:r>
              <a:rPr lang="en-US" altLang="zh-TW" dirty="0">
                <a:latin typeface="微軟正黑體" panose="020B0604030504040204" pitchFamily="34" charset="-120"/>
                <a:ea typeface="微軟正黑體" panose="020B0604030504040204" pitchFamily="34" charset="-120"/>
              </a:rPr>
              <a:t>~ Now</a:t>
            </a:r>
          </a:p>
          <a:p>
            <a:pPr lvl="1"/>
            <a:r>
              <a:rPr lang="zh-TW" altLang="en-US" dirty="0">
                <a:latin typeface="微軟正黑體" panose="020B0604030504040204" pitchFamily="34" charset="-120"/>
                <a:ea typeface="微軟正黑體" panose="020B0604030504040204" pitchFamily="34" charset="-120"/>
              </a:rPr>
              <a:t>同一個演算法，在不同的時空背景，有可能被評為兩極化的不堪使用或極度優秀</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如果沒有平行運算</a:t>
            </a:r>
            <a:r>
              <a:rPr lang="en-US" altLang="zh-TW" dirty="0">
                <a:latin typeface="微軟正黑體" panose="020B0604030504040204" pitchFamily="34" charset="-120"/>
                <a:ea typeface="微軟正黑體" panose="020B0604030504040204" pitchFamily="34" charset="-120"/>
              </a:rPr>
              <a:t>?</a:t>
            </a:r>
          </a:p>
          <a:p>
            <a:pPr lvl="1"/>
            <a:r>
              <a:rPr lang="zh-TW" altLang="en-US" dirty="0">
                <a:latin typeface="微軟正黑體" panose="020B0604030504040204" pitchFamily="34" charset="-120"/>
                <a:ea typeface="微軟正黑體" panose="020B0604030504040204" pitchFamily="34" charset="-120"/>
              </a:rPr>
              <a:t>如果沒有深度學習</a:t>
            </a:r>
            <a:r>
              <a:rPr lang="en-US" altLang="zh-TW" dirty="0">
                <a:latin typeface="微軟正黑體" panose="020B0604030504040204" pitchFamily="34" charset="-120"/>
                <a:ea typeface="微軟正黑體" panose="020B0604030504040204" pitchFamily="34" charset="-120"/>
              </a:rPr>
              <a:t>?</a:t>
            </a:r>
          </a:p>
        </p:txBody>
      </p:sp>
    </p:spTree>
    <p:extLst>
      <p:ext uri="{BB962C8B-B14F-4D97-AF65-F5344CB8AC3E}">
        <p14:creationId xmlns:p14="http://schemas.microsoft.com/office/powerpoint/2010/main" val="252212949"/>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endParaRPr lang="zh-TW" altLang="en-US"/>
          </a:p>
        </p:txBody>
      </p:sp>
      <p:sp>
        <p:nvSpPr>
          <p:cNvPr id="3" name="內容版面配置區 2"/>
          <p:cNvSpPr>
            <a:spLocks noGrp="1"/>
          </p:cNvSpPr>
          <p:nvPr>
            <p:ph idx="1"/>
          </p:nvPr>
        </p:nvSpPr>
        <p:spPr/>
        <p:txBody>
          <a:bodyPr/>
          <a:lstStyle/>
          <a:p>
            <a:endParaRPr lang="zh-TW" altLang="en-US"/>
          </a:p>
        </p:txBody>
      </p:sp>
    </p:spTree>
    <p:extLst>
      <p:ext uri="{BB962C8B-B14F-4D97-AF65-F5344CB8AC3E}">
        <p14:creationId xmlns:p14="http://schemas.microsoft.com/office/powerpoint/2010/main" val="280384538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人工智慧應用分級</a:t>
            </a:r>
          </a:p>
        </p:txBody>
      </p:sp>
      <p:sp>
        <p:nvSpPr>
          <p:cNvPr id="3" name="內容版面配置區 2"/>
          <p:cNvSpPr>
            <a:spLocks noGrp="1"/>
          </p:cNvSpPr>
          <p:nvPr>
            <p:ph idx="1"/>
          </p:nvPr>
        </p:nvSpPr>
        <p:spPr/>
        <p:txBody>
          <a:bodyPr/>
          <a:lstStyle/>
          <a:p>
            <a:r>
              <a:rPr lang="zh-TW" altLang="en-US" dirty="0">
                <a:latin typeface="微軟正黑體" panose="020B0604030504040204" pitchFamily="34" charset="-120"/>
                <a:ea typeface="微軟正黑體" panose="020B0604030504040204" pitchFamily="34" charset="-120"/>
              </a:rPr>
              <a:t>人工智慧的應用分級，大致上可以分為：</a:t>
            </a:r>
            <a:endParaRPr lang="en-US" altLang="zh-TW" dirty="0">
              <a:latin typeface="微軟正黑體" panose="020B0604030504040204" pitchFamily="34" charset="-120"/>
              <a:ea typeface="微軟正黑體" panose="020B0604030504040204" pitchFamily="34" charset="-120"/>
            </a:endParaRPr>
          </a:p>
        </p:txBody>
      </p:sp>
      <p:graphicFrame>
        <p:nvGraphicFramePr>
          <p:cNvPr id="4" name="表格 3"/>
          <p:cNvGraphicFramePr>
            <a:graphicFrameLocks noGrp="1"/>
          </p:cNvGraphicFramePr>
          <p:nvPr>
            <p:extLst>
              <p:ext uri="{D42A27DB-BD31-4B8C-83A1-F6EECF244321}">
                <p14:modId xmlns:p14="http://schemas.microsoft.com/office/powerpoint/2010/main" val="3891848051"/>
              </p:ext>
            </p:extLst>
          </p:nvPr>
        </p:nvGraphicFramePr>
        <p:xfrm>
          <a:off x="112293" y="2873554"/>
          <a:ext cx="11935328" cy="1188132"/>
        </p:xfrm>
        <a:graphic>
          <a:graphicData uri="http://schemas.openxmlformats.org/drawingml/2006/table">
            <a:tbl>
              <a:tblPr firstRow="1" bandRow="1">
                <a:tableStyleId>{5C22544A-7EE6-4342-B048-85BDC9FD1C3A}</a:tableStyleId>
              </a:tblPr>
              <a:tblGrid>
                <a:gridCol w="1023480">
                  <a:extLst>
                    <a:ext uri="{9D8B030D-6E8A-4147-A177-3AD203B41FA5}">
                      <a16:colId xmlns:a16="http://schemas.microsoft.com/office/drawing/2014/main" val="1624851598"/>
                    </a:ext>
                  </a:extLst>
                </a:gridCol>
                <a:gridCol w="2727962">
                  <a:extLst>
                    <a:ext uri="{9D8B030D-6E8A-4147-A177-3AD203B41FA5}">
                      <a16:colId xmlns:a16="http://schemas.microsoft.com/office/drawing/2014/main" val="71157996"/>
                    </a:ext>
                  </a:extLst>
                </a:gridCol>
                <a:gridCol w="2727962">
                  <a:extLst>
                    <a:ext uri="{9D8B030D-6E8A-4147-A177-3AD203B41FA5}">
                      <a16:colId xmlns:a16="http://schemas.microsoft.com/office/drawing/2014/main" val="53063317"/>
                    </a:ext>
                  </a:extLst>
                </a:gridCol>
                <a:gridCol w="2727962">
                  <a:extLst>
                    <a:ext uri="{9D8B030D-6E8A-4147-A177-3AD203B41FA5}">
                      <a16:colId xmlns:a16="http://schemas.microsoft.com/office/drawing/2014/main" val="3070745577"/>
                    </a:ext>
                  </a:extLst>
                </a:gridCol>
                <a:gridCol w="2727962">
                  <a:extLst>
                    <a:ext uri="{9D8B030D-6E8A-4147-A177-3AD203B41FA5}">
                      <a16:colId xmlns:a16="http://schemas.microsoft.com/office/drawing/2014/main" val="2830711666"/>
                    </a:ext>
                  </a:extLst>
                </a:gridCol>
              </a:tblGrid>
              <a:tr h="432048">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等級</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低</a:t>
                      </a: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高</a:t>
                      </a:r>
                    </a:p>
                  </a:txBody>
                  <a:tcPr anchor="ctr"/>
                </a:tc>
                <a:extLst>
                  <a:ext uri="{0D108BD9-81ED-4DB2-BD59-A6C34878D82A}">
                    <a16:rowId xmlns:a16="http://schemas.microsoft.com/office/drawing/2014/main" val="1174755970"/>
                  </a:ext>
                </a:extLst>
              </a:tr>
              <a:tr h="756084">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應用</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行銷用</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完整的判斷架構</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利用大量事件進行學習</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將問題進行高層級抽象化</a:t>
                      </a:r>
                    </a:p>
                  </a:txBody>
                  <a:tcPr anchor="ctr"/>
                </a:tc>
                <a:extLst>
                  <a:ext uri="{0D108BD9-81ED-4DB2-BD59-A6C34878D82A}">
                    <a16:rowId xmlns:a16="http://schemas.microsoft.com/office/drawing/2014/main" val="2914912397"/>
                  </a:ext>
                </a:extLst>
              </a:tr>
            </a:tbl>
          </a:graphicData>
        </a:graphic>
      </p:graphicFrame>
    </p:spTree>
    <p:extLst>
      <p:ext uri="{BB962C8B-B14F-4D97-AF65-F5344CB8AC3E}">
        <p14:creationId xmlns:p14="http://schemas.microsoft.com/office/powerpoint/2010/main" val="3644248247"/>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人工智慧應用分級</a:t>
            </a:r>
          </a:p>
        </p:txBody>
      </p:sp>
      <p:sp>
        <p:nvSpPr>
          <p:cNvPr id="3" name="內容版面配置區 2"/>
          <p:cNvSpPr>
            <a:spLocks noGrp="1"/>
          </p:cNvSpPr>
          <p:nvPr>
            <p:ph idx="1"/>
          </p:nvPr>
        </p:nvSpPr>
        <p:spPr>
          <a:xfrm>
            <a:off x="1141412" y="3534924"/>
            <a:ext cx="9905999" cy="2256277"/>
          </a:xfrm>
        </p:spPr>
        <p:txBody>
          <a:bodyPr/>
          <a:lstStyle/>
          <a:p>
            <a:r>
              <a:rPr lang="zh-TW" altLang="en-US" dirty="0">
                <a:latin typeface="微軟正黑體" panose="020B0604030504040204" pitchFamily="34" charset="-120"/>
                <a:ea typeface="微軟正黑體" panose="020B0604030504040204" pitchFamily="34" charset="-120"/>
              </a:rPr>
              <a:t>行銷用：</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智慧洗衣機：自動判斷水位的功能</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智慧感應燈泡：自動感應是否有人進入特定範圍</a:t>
            </a:r>
            <a:endParaRPr lang="en-US" altLang="zh-TW" dirty="0">
              <a:latin typeface="微軟正黑體" panose="020B0604030504040204" pitchFamily="34" charset="-120"/>
              <a:ea typeface="微軟正黑體" panose="020B0604030504040204" pitchFamily="34"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2869426072"/>
              </p:ext>
            </p:extLst>
          </p:nvPr>
        </p:nvGraphicFramePr>
        <p:xfrm>
          <a:off x="126747" y="2221940"/>
          <a:ext cx="11935328" cy="1188132"/>
        </p:xfrm>
        <a:graphic>
          <a:graphicData uri="http://schemas.openxmlformats.org/drawingml/2006/table">
            <a:tbl>
              <a:tblPr firstRow="1" bandRow="1">
                <a:tableStyleId>{5C22544A-7EE6-4342-B048-85BDC9FD1C3A}</a:tableStyleId>
              </a:tblPr>
              <a:tblGrid>
                <a:gridCol w="1023480">
                  <a:extLst>
                    <a:ext uri="{9D8B030D-6E8A-4147-A177-3AD203B41FA5}">
                      <a16:colId xmlns:a16="http://schemas.microsoft.com/office/drawing/2014/main" val="1624851598"/>
                    </a:ext>
                  </a:extLst>
                </a:gridCol>
                <a:gridCol w="2727962">
                  <a:extLst>
                    <a:ext uri="{9D8B030D-6E8A-4147-A177-3AD203B41FA5}">
                      <a16:colId xmlns:a16="http://schemas.microsoft.com/office/drawing/2014/main" val="71157996"/>
                    </a:ext>
                  </a:extLst>
                </a:gridCol>
                <a:gridCol w="2727962">
                  <a:extLst>
                    <a:ext uri="{9D8B030D-6E8A-4147-A177-3AD203B41FA5}">
                      <a16:colId xmlns:a16="http://schemas.microsoft.com/office/drawing/2014/main" val="53063317"/>
                    </a:ext>
                  </a:extLst>
                </a:gridCol>
                <a:gridCol w="2727962">
                  <a:extLst>
                    <a:ext uri="{9D8B030D-6E8A-4147-A177-3AD203B41FA5}">
                      <a16:colId xmlns:a16="http://schemas.microsoft.com/office/drawing/2014/main" val="3070745577"/>
                    </a:ext>
                  </a:extLst>
                </a:gridCol>
                <a:gridCol w="2727962">
                  <a:extLst>
                    <a:ext uri="{9D8B030D-6E8A-4147-A177-3AD203B41FA5}">
                      <a16:colId xmlns:a16="http://schemas.microsoft.com/office/drawing/2014/main" val="2830711666"/>
                    </a:ext>
                  </a:extLst>
                </a:gridCol>
              </a:tblGrid>
              <a:tr h="432048">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等級</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低</a:t>
                      </a: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高</a:t>
                      </a:r>
                    </a:p>
                  </a:txBody>
                  <a:tcPr anchor="ctr"/>
                </a:tc>
                <a:extLst>
                  <a:ext uri="{0D108BD9-81ED-4DB2-BD59-A6C34878D82A}">
                    <a16:rowId xmlns:a16="http://schemas.microsoft.com/office/drawing/2014/main" val="1174755970"/>
                  </a:ext>
                </a:extLst>
              </a:tr>
              <a:tr h="756084">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應用</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行銷用</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完整的判斷架構</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利用大量事件進行學習</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將問題進行高層級抽象化</a:t>
                      </a:r>
                    </a:p>
                  </a:txBody>
                  <a:tcPr anchor="ctr"/>
                </a:tc>
                <a:extLst>
                  <a:ext uri="{0D108BD9-81ED-4DB2-BD59-A6C34878D82A}">
                    <a16:rowId xmlns:a16="http://schemas.microsoft.com/office/drawing/2014/main" val="2914912397"/>
                  </a:ext>
                </a:extLst>
              </a:tr>
            </a:tbl>
          </a:graphicData>
        </a:graphic>
      </p:graphicFrame>
    </p:spTree>
    <p:extLst>
      <p:ext uri="{BB962C8B-B14F-4D97-AF65-F5344CB8AC3E}">
        <p14:creationId xmlns:p14="http://schemas.microsoft.com/office/powerpoint/2010/main" val="2070175752"/>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人工智慧應用分級</a:t>
            </a:r>
          </a:p>
        </p:txBody>
      </p:sp>
      <p:sp>
        <p:nvSpPr>
          <p:cNvPr id="3" name="內容版面配置區 2"/>
          <p:cNvSpPr>
            <a:spLocks noGrp="1"/>
          </p:cNvSpPr>
          <p:nvPr>
            <p:ph idx="1"/>
          </p:nvPr>
        </p:nvSpPr>
        <p:spPr>
          <a:xfrm>
            <a:off x="1141412" y="3534924"/>
            <a:ext cx="9905999" cy="2256277"/>
          </a:xfrm>
        </p:spPr>
        <p:txBody>
          <a:bodyPr/>
          <a:lstStyle/>
          <a:p>
            <a:r>
              <a:rPr lang="zh-TW" altLang="en-US" dirty="0">
                <a:latin typeface="微軟正黑體" panose="020B0604030504040204" pitchFamily="34" charset="-120"/>
                <a:ea typeface="微軟正黑體" panose="020B0604030504040204" pitchFamily="34" charset="-120"/>
              </a:rPr>
              <a:t>完整的判斷架構：</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手機的智慧螢幕亮度調整：除了用光線感測器測得環境亮度之外，也利用距離感測器了解使用者是否正在進行通話，來決定目標亮度或關閉螢幕</a:t>
            </a:r>
            <a:endParaRPr lang="en-US" altLang="zh-TW" dirty="0">
              <a:latin typeface="微軟正黑體" panose="020B0604030504040204" pitchFamily="34" charset="-120"/>
              <a:ea typeface="微軟正黑體" panose="020B0604030504040204" pitchFamily="34"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791392422"/>
              </p:ext>
            </p:extLst>
          </p:nvPr>
        </p:nvGraphicFramePr>
        <p:xfrm>
          <a:off x="126747" y="2221940"/>
          <a:ext cx="11935328" cy="1188132"/>
        </p:xfrm>
        <a:graphic>
          <a:graphicData uri="http://schemas.openxmlformats.org/drawingml/2006/table">
            <a:tbl>
              <a:tblPr firstRow="1" bandRow="1">
                <a:tableStyleId>{5C22544A-7EE6-4342-B048-85BDC9FD1C3A}</a:tableStyleId>
              </a:tblPr>
              <a:tblGrid>
                <a:gridCol w="1023480">
                  <a:extLst>
                    <a:ext uri="{9D8B030D-6E8A-4147-A177-3AD203B41FA5}">
                      <a16:colId xmlns:a16="http://schemas.microsoft.com/office/drawing/2014/main" val="1624851598"/>
                    </a:ext>
                  </a:extLst>
                </a:gridCol>
                <a:gridCol w="2727962">
                  <a:extLst>
                    <a:ext uri="{9D8B030D-6E8A-4147-A177-3AD203B41FA5}">
                      <a16:colId xmlns:a16="http://schemas.microsoft.com/office/drawing/2014/main" val="71157996"/>
                    </a:ext>
                  </a:extLst>
                </a:gridCol>
                <a:gridCol w="2727962">
                  <a:extLst>
                    <a:ext uri="{9D8B030D-6E8A-4147-A177-3AD203B41FA5}">
                      <a16:colId xmlns:a16="http://schemas.microsoft.com/office/drawing/2014/main" val="53063317"/>
                    </a:ext>
                  </a:extLst>
                </a:gridCol>
                <a:gridCol w="2727962">
                  <a:extLst>
                    <a:ext uri="{9D8B030D-6E8A-4147-A177-3AD203B41FA5}">
                      <a16:colId xmlns:a16="http://schemas.microsoft.com/office/drawing/2014/main" val="3070745577"/>
                    </a:ext>
                  </a:extLst>
                </a:gridCol>
                <a:gridCol w="2727962">
                  <a:extLst>
                    <a:ext uri="{9D8B030D-6E8A-4147-A177-3AD203B41FA5}">
                      <a16:colId xmlns:a16="http://schemas.microsoft.com/office/drawing/2014/main" val="2830711666"/>
                    </a:ext>
                  </a:extLst>
                </a:gridCol>
              </a:tblGrid>
              <a:tr h="432048">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等級</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低</a:t>
                      </a: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高</a:t>
                      </a:r>
                    </a:p>
                  </a:txBody>
                  <a:tcPr anchor="ctr"/>
                </a:tc>
                <a:extLst>
                  <a:ext uri="{0D108BD9-81ED-4DB2-BD59-A6C34878D82A}">
                    <a16:rowId xmlns:a16="http://schemas.microsoft.com/office/drawing/2014/main" val="1174755970"/>
                  </a:ext>
                </a:extLst>
              </a:tr>
              <a:tr h="756084">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應用</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行銷用</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完整的判斷架構</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利用大量事件進行學習</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將問題進行高層級抽象化</a:t>
                      </a:r>
                    </a:p>
                  </a:txBody>
                  <a:tcPr anchor="ctr"/>
                </a:tc>
                <a:extLst>
                  <a:ext uri="{0D108BD9-81ED-4DB2-BD59-A6C34878D82A}">
                    <a16:rowId xmlns:a16="http://schemas.microsoft.com/office/drawing/2014/main" val="2914912397"/>
                  </a:ext>
                </a:extLst>
              </a:tr>
            </a:tbl>
          </a:graphicData>
        </a:graphic>
      </p:graphicFrame>
    </p:spTree>
    <p:extLst>
      <p:ext uri="{BB962C8B-B14F-4D97-AF65-F5344CB8AC3E}">
        <p14:creationId xmlns:p14="http://schemas.microsoft.com/office/powerpoint/2010/main" val="254834981"/>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人工智慧應用分級</a:t>
            </a:r>
          </a:p>
        </p:txBody>
      </p:sp>
      <p:sp>
        <p:nvSpPr>
          <p:cNvPr id="3" name="內容版面配置區 2"/>
          <p:cNvSpPr>
            <a:spLocks noGrp="1"/>
          </p:cNvSpPr>
          <p:nvPr>
            <p:ph idx="1"/>
          </p:nvPr>
        </p:nvSpPr>
        <p:spPr>
          <a:xfrm>
            <a:off x="1141412" y="3534924"/>
            <a:ext cx="9905999" cy="2256277"/>
          </a:xfrm>
        </p:spPr>
        <p:txBody>
          <a:bodyPr/>
          <a:lstStyle/>
          <a:p>
            <a:r>
              <a:rPr lang="zh-TW" altLang="en-US" dirty="0">
                <a:latin typeface="微軟正黑體" panose="020B0604030504040204" pitchFamily="34" charset="-120"/>
                <a:ea typeface="微軟正黑體" panose="020B0604030504040204" pitchFamily="34" charset="-120"/>
              </a:rPr>
              <a:t>利用大量事件進行學習：</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影像辨識：目前主流的影像辨識機制，都是基於各自的資料庫，讓系統進行學習後，再進行對應的辨識</a:t>
            </a:r>
            <a:endParaRPr lang="en-US" altLang="zh-TW" dirty="0">
              <a:latin typeface="微軟正黑體" panose="020B0604030504040204" pitchFamily="34" charset="-120"/>
              <a:ea typeface="微軟正黑體" panose="020B0604030504040204" pitchFamily="34"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327647694"/>
              </p:ext>
            </p:extLst>
          </p:nvPr>
        </p:nvGraphicFramePr>
        <p:xfrm>
          <a:off x="126747" y="2221940"/>
          <a:ext cx="11935328" cy="1188132"/>
        </p:xfrm>
        <a:graphic>
          <a:graphicData uri="http://schemas.openxmlformats.org/drawingml/2006/table">
            <a:tbl>
              <a:tblPr firstRow="1" bandRow="1">
                <a:tableStyleId>{5C22544A-7EE6-4342-B048-85BDC9FD1C3A}</a:tableStyleId>
              </a:tblPr>
              <a:tblGrid>
                <a:gridCol w="1023480">
                  <a:extLst>
                    <a:ext uri="{9D8B030D-6E8A-4147-A177-3AD203B41FA5}">
                      <a16:colId xmlns:a16="http://schemas.microsoft.com/office/drawing/2014/main" val="1624851598"/>
                    </a:ext>
                  </a:extLst>
                </a:gridCol>
                <a:gridCol w="2727962">
                  <a:extLst>
                    <a:ext uri="{9D8B030D-6E8A-4147-A177-3AD203B41FA5}">
                      <a16:colId xmlns:a16="http://schemas.microsoft.com/office/drawing/2014/main" val="71157996"/>
                    </a:ext>
                  </a:extLst>
                </a:gridCol>
                <a:gridCol w="2727962">
                  <a:extLst>
                    <a:ext uri="{9D8B030D-6E8A-4147-A177-3AD203B41FA5}">
                      <a16:colId xmlns:a16="http://schemas.microsoft.com/office/drawing/2014/main" val="53063317"/>
                    </a:ext>
                  </a:extLst>
                </a:gridCol>
                <a:gridCol w="2727962">
                  <a:extLst>
                    <a:ext uri="{9D8B030D-6E8A-4147-A177-3AD203B41FA5}">
                      <a16:colId xmlns:a16="http://schemas.microsoft.com/office/drawing/2014/main" val="3070745577"/>
                    </a:ext>
                  </a:extLst>
                </a:gridCol>
                <a:gridCol w="2727962">
                  <a:extLst>
                    <a:ext uri="{9D8B030D-6E8A-4147-A177-3AD203B41FA5}">
                      <a16:colId xmlns:a16="http://schemas.microsoft.com/office/drawing/2014/main" val="2830711666"/>
                    </a:ext>
                  </a:extLst>
                </a:gridCol>
              </a:tblGrid>
              <a:tr h="432048">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等級</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低</a:t>
                      </a: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高</a:t>
                      </a:r>
                    </a:p>
                  </a:txBody>
                  <a:tcPr anchor="ctr"/>
                </a:tc>
                <a:extLst>
                  <a:ext uri="{0D108BD9-81ED-4DB2-BD59-A6C34878D82A}">
                    <a16:rowId xmlns:a16="http://schemas.microsoft.com/office/drawing/2014/main" val="1174755970"/>
                  </a:ext>
                </a:extLst>
              </a:tr>
              <a:tr h="756084">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應用</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行銷用</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完整的判斷架構</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利用大量事件進行學習</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將問題進行高層級抽象化</a:t>
                      </a:r>
                    </a:p>
                  </a:txBody>
                  <a:tcPr anchor="ctr"/>
                </a:tc>
                <a:extLst>
                  <a:ext uri="{0D108BD9-81ED-4DB2-BD59-A6C34878D82A}">
                    <a16:rowId xmlns:a16="http://schemas.microsoft.com/office/drawing/2014/main" val="2914912397"/>
                  </a:ext>
                </a:extLst>
              </a:tr>
            </a:tbl>
          </a:graphicData>
        </a:graphic>
      </p:graphicFrame>
      <p:sp>
        <p:nvSpPr>
          <p:cNvPr id="6" name="五角星形 5"/>
          <p:cNvSpPr/>
          <p:nvPr/>
        </p:nvSpPr>
        <p:spPr bwMode="auto">
          <a:xfrm>
            <a:off x="8409548" y="1737088"/>
            <a:ext cx="720000" cy="720000"/>
          </a:xfrm>
          <a:prstGeom prst="star5">
            <a:avLst/>
          </a:prstGeom>
          <a:solidFill>
            <a:srgbClr val="FFFF00"/>
          </a:solidFill>
          <a:ln w="50800" cap="flat" cmpd="sng" algn="ctr">
            <a:solidFill>
              <a:srgbClr val="FF0000"/>
            </a:solid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0" lang="zh-TW" altLang="en-US" sz="1800" b="0" i="0" u="none" strike="noStrike" cap="none" normalizeH="0" baseline="0">
              <a:ln>
                <a:noFill/>
              </a:ln>
              <a:solidFill>
                <a:schemeClr val="tx1"/>
              </a:solidFill>
              <a:effectLst/>
              <a:latin typeface="微軟正黑體" panose="020B0604030504040204" pitchFamily="34" charset="-120"/>
              <a:ea typeface="微軟正黑體" panose="020B0604030504040204" pitchFamily="34" charset="-120"/>
              <a:cs typeface="Arial" panose="020B0604020202020204" pitchFamily="34" charset="0"/>
            </a:endParaRPr>
          </a:p>
        </p:txBody>
      </p:sp>
    </p:spTree>
    <p:extLst>
      <p:ext uri="{BB962C8B-B14F-4D97-AF65-F5344CB8AC3E}">
        <p14:creationId xmlns:p14="http://schemas.microsoft.com/office/powerpoint/2010/main" val="16663727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標題 1"/>
          <p:cNvSpPr>
            <a:spLocks noGrp="1"/>
          </p:cNvSpPr>
          <p:nvPr>
            <p:ph type="title"/>
          </p:nvPr>
        </p:nvSpPr>
        <p:spPr/>
        <p:txBody>
          <a:bodyPr/>
          <a:lstStyle/>
          <a:p>
            <a:r>
              <a:rPr lang="zh-TW" altLang="en-US" dirty="0">
                <a:latin typeface="微軟正黑體" panose="020B0604030504040204" pitchFamily="34" charset="-120"/>
                <a:ea typeface="微軟正黑體" panose="020B0604030504040204" pitchFamily="34" charset="-120"/>
              </a:rPr>
              <a:t>人工智慧應用分級</a:t>
            </a:r>
          </a:p>
        </p:txBody>
      </p:sp>
      <p:sp>
        <p:nvSpPr>
          <p:cNvPr id="3" name="內容版面配置區 2"/>
          <p:cNvSpPr>
            <a:spLocks noGrp="1"/>
          </p:cNvSpPr>
          <p:nvPr>
            <p:ph idx="1"/>
          </p:nvPr>
        </p:nvSpPr>
        <p:spPr>
          <a:xfrm>
            <a:off x="1141412" y="3534924"/>
            <a:ext cx="9905999" cy="2256277"/>
          </a:xfrm>
        </p:spPr>
        <p:txBody>
          <a:bodyPr/>
          <a:lstStyle/>
          <a:p>
            <a:r>
              <a:rPr lang="zh-TW" altLang="en-US" dirty="0">
                <a:latin typeface="微軟正黑體" panose="020B0604030504040204" pitchFamily="34" charset="-120"/>
                <a:ea typeface="微軟正黑體" panose="020B0604030504040204" pitchFamily="34" charset="-120"/>
              </a:rPr>
              <a:t>將問題進行高層級抽象化：</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未來，大家希望能將需要解決的問題進行抽象化，讓系統能自動地利用不同的人工智慧子系統幫人們解決問題</a:t>
            </a:r>
            <a:endParaRPr lang="en-US" altLang="zh-TW" dirty="0">
              <a:latin typeface="微軟正黑體" panose="020B0604030504040204" pitchFamily="34" charset="-120"/>
              <a:ea typeface="微軟正黑體" panose="020B0604030504040204" pitchFamily="34" charset="-120"/>
            </a:endParaRPr>
          </a:p>
          <a:p>
            <a:pPr lvl="1"/>
            <a:r>
              <a:rPr lang="zh-TW" altLang="en-US" dirty="0">
                <a:latin typeface="微軟正黑體" panose="020B0604030504040204" pitchFamily="34" charset="-120"/>
                <a:ea typeface="微軟正黑體" panose="020B0604030504040204" pitchFamily="34" charset="-120"/>
              </a:rPr>
              <a:t>這個願景就涉及更多不同的人工智慧應用領域了</a:t>
            </a:r>
            <a:endParaRPr lang="en-US" altLang="zh-TW" dirty="0">
              <a:latin typeface="微軟正黑體" panose="020B0604030504040204" pitchFamily="34" charset="-120"/>
              <a:ea typeface="微軟正黑體" panose="020B0604030504040204" pitchFamily="34" charset="-120"/>
            </a:endParaRPr>
          </a:p>
        </p:txBody>
      </p:sp>
      <p:graphicFrame>
        <p:nvGraphicFramePr>
          <p:cNvPr id="5" name="表格 4"/>
          <p:cNvGraphicFramePr>
            <a:graphicFrameLocks noGrp="1"/>
          </p:cNvGraphicFramePr>
          <p:nvPr>
            <p:extLst>
              <p:ext uri="{D42A27DB-BD31-4B8C-83A1-F6EECF244321}">
                <p14:modId xmlns:p14="http://schemas.microsoft.com/office/powerpoint/2010/main" val="1708099763"/>
              </p:ext>
            </p:extLst>
          </p:nvPr>
        </p:nvGraphicFramePr>
        <p:xfrm>
          <a:off x="126747" y="2221940"/>
          <a:ext cx="11935328" cy="1188132"/>
        </p:xfrm>
        <a:graphic>
          <a:graphicData uri="http://schemas.openxmlformats.org/drawingml/2006/table">
            <a:tbl>
              <a:tblPr firstRow="1" bandRow="1">
                <a:tableStyleId>{5C22544A-7EE6-4342-B048-85BDC9FD1C3A}</a:tableStyleId>
              </a:tblPr>
              <a:tblGrid>
                <a:gridCol w="1023480">
                  <a:extLst>
                    <a:ext uri="{9D8B030D-6E8A-4147-A177-3AD203B41FA5}">
                      <a16:colId xmlns:a16="http://schemas.microsoft.com/office/drawing/2014/main" val="1624851598"/>
                    </a:ext>
                  </a:extLst>
                </a:gridCol>
                <a:gridCol w="2727962">
                  <a:extLst>
                    <a:ext uri="{9D8B030D-6E8A-4147-A177-3AD203B41FA5}">
                      <a16:colId xmlns:a16="http://schemas.microsoft.com/office/drawing/2014/main" val="71157996"/>
                    </a:ext>
                  </a:extLst>
                </a:gridCol>
                <a:gridCol w="2727962">
                  <a:extLst>
                    <a:ext uri="{9D8B030D-6E8A-4147-A177-3AD203B41FA5}">
                      <a16:colId xmlns:a16="http://schemas.microsoft.com/office/drawing/2014/main" val="53063317"/>
                    </a:ext>
                  </a:extLst>
                </a:gridCol>
                <a:gridCol w="2727962">
                  <a:extLst>
                    <a:ext uri="{9D8B030D-6E8A-4147-A177-3AD203B41FA5}">
                      <a16:colId xmlns:a16="http://schemas.microsoft.com/office/drawing/2014/main" val="3070745577"/>
                    </a:ext>
                  </a:extLst>
                </a:gridCol>
                <a:gridCol w="2727962">
                  <a:extLst>
                    <a:ext uri="{9D8B030D-6E8A-4147-A177-3AD203B41FA5}">
                      <a16:colId xmlns:a16="http://schemas.microsoft.com/office/drawing/2014/main" val="2830711666"/>
                    </a:ext>
                  </a:extLst>
                </a:gridCol>
              </a:tblGrid>
              <a:tr h="432048">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等級</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低</a:t>
                      </a: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en-US" altLang="zh-TW" b="0" dirty="0">
                          <a:solidFill>
                            <a:schemeClr val="bg1"/>
                          </a:solidFill>
                          <a:latin typeface="微軟正黑體" panose="020B0604030504040204" pitchFamily="34" charset="-120"/>
                          <a:ea typeface="微軟正黑體" panose="020B0604030504040204" pitchFamily="34" charset="-120"/>
                        </a:rPr>
                        <a:t>~</a:t>
                      </a:r>
                      <a:endParaRPr lang="zh-TW" altLang="en-US"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高</a:t>
                      </a:r>
                    </a:p>
                  </a:txBody>
                  <a:tcPr anchor="ctr"/>
                </a:tc>
                <a:extLst>
                  <a:ext uri="{0D108BD9-81ED-4DB2-BD59-A6C34878D82A}">
                    <a16:rowId xmlns:a16="http://schemas.microsoft.com/office/drawing/2014/main" val="1174755970"/>
                  </a:ext>
                </a:extLst>
              </a:tr>
              <a:tr h="756084">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應用</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行銷用</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完整的判斷架構</a:t>
                      </a:r>
                      <a:endParaRPr lang="en-US" altLang="zh-TW" b="0" dirty="0">
                        <a:solidFill>
                          <a:schemeClr val="bg1"/>
                        </a:solidFill>
                        <a:latin typeface="微軟正黑體" panose="020B0604030504040204" pitchFamily="34" charset="-120"/>
                        <a:ea typeface="微軟正黑體" panose="020B0604030504040204" pitchFamily="34" charset="-120"/>
                      </a:endParaRP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利用大量事件進行學習</a:t>
                      </a:r>
                    </a:p>
                  </a:txBody>
                  <a:tcPr anchor="ctr"/>
                </a:tc>
                <a:tc>
                  <a:txBody>
                    <a:bodyPr/>
                    <a:lstStyle/>
                    <a:p>
                      <a:pPr algn="ctr"/>
                      <a:r>
                        <a:rPr lang="zh-TW" altLang="en-US" b="0" dirty="0">
                          <a:solidFill>
                            <a:schemeClr val="bg1"/>
                          </a:solidFill>
                          <a:latin typeface="微軟正黑體" panose="020B0604030504040204" pitchFamily="34" charset="-120"/>
                          <a:ea typeface="微軟正黑體" panose="020B0604030504040204" pitchFamily="34" charset="-120"/>
                        </a:rPr>
                        <a:t>將問題進行高層級抽象化</a:t>
                      </a:r>
                    </a:p>
                  </a:txBody>
                  <a:tcPr anchor="ctr"/>
                </a:tc>
                <a:extLst>
                  <a:ext uri="{0D108BD9-81ED-4DB2-BD59-A6C34878D82A}">
                    <a16:rowId xmlns:a16="http://schemas.microsoft.com/office/drawing/2014/main" val="2914912397"/>
                  </a:ext>
                </a:extLst>
              </a:tr>
            </a:tbl>
          </a:graphicData>
        </a:graphic>
      </p:graphicFrame>
    </p:spTree>
    <p:extLst>
      <p:ext uri="{BB962C8B-B14F-4D97-AF65-F5344CB8AC3E}">
        <p14:creationId xmlns:p14="http://schemas.microsoft.com/office/powerpoint/2010/main" val="2508347838"/>
      </p:ext>
    </p:extLst>
  </p:cSld>
  <p:clrMapOvr>
    <a:masterClrMapping/>
  </p:clrMapOvr>
  <mc:AlternateContent xmlns:mc="http://schemas.openxmlformats.org/markup-compatibility/2006" xmlns:p14="http://schemas.microsoft.com/office/powerpoint/2010/main">
    <mc:Choice Requires="p14">
      <p:transition spd="slow" p14:dur="2000">
        <p:cut/>
      </p:transition>
    </mc:Choice>
    <mc:Fallback xmlns="">
      <p:transition spd="slow">
        <p:cut/>
      </p:transition>
    </mc:Fallback>
  </mc:AlternateContent>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電路">
  <a:themeElements>
    <a:clrScheme name="電路">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電路">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電路">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佈景主題">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TM04033919[[fn=電路]]</Template>
  <TotalTime>6070</TotalTime>
  <Words>2546</Words>
  <Application>Microsoft Office PowerPoint</Application>
  <PresentationFormat>寬螢幕</PresentationFormat>
  <Paragraphs>340</Paragraphs>
  <Slides>47</Slides>
  <Notes>9</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47</vt:i4>
      </vt:variant>
    </vt:vector>
  </HeadingPairs>
  <TitlesOfParts>
    <vt:vector size="53" baseType="lpstr">
      <vt:lpstr>微軟正黑體</vt:lpstr>
      <vt:lpstr>Arial</vt:lpstr>
      <vt:lpstr>Calibri</vt:lpstr>
      <vt:lpstr>Tw Cen MT</vt:lpstr>
      <vt:lpstr>Wingdings</vt:lpstr>
      <vt:lpstr>電路</vt:lpstr>
      <vt:lpstr>人工智慧概論與實務</vt:lpstr>
      <vt:lpstr>簡介</vt:lpstr>
      <vt:lpstr>簡介</vt:lpstr>
      <vt:lpstr>簡介</vt:lpstr>
      <vt:lpstr>簡介</vt:lpstr>
      <vt:lpstr>PowerPoint 簡報</vt:lpstr>
      <vt:lpstr>簡介</vt:lpstr>
      <vt:lpstr>PowerPoint 簡報</vt:lpstr>
      <vt:lpstr>什麼是智慧? 什麼是人工智慧?</vt:lpstr>
      <vt:lpstr>什麼是智慧? 什麼是人工智慧?</vt:lpstr>
      <vt:lpstr>什麼是智慧? 什麼是人工智慧?</vt:lpstr>
      <vt:lpstr>什麼是智慧? 什麼是人工智慧?</vt:lpstr>
      <vt:lpstr>PowerPoint 簡報</vt:lpstr>
      <vt:lpstr>PowerPoint 簡報</vt:lpstr>
      <vt:lpstr>PowerPoint 簡報</vt:lpstr>
      <vt:lpstr>PowerPoint 簡報</vt:lpstr>
      <vt:lpstr>PowerPoint 簡報</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人工智慧的發展</vt:lpstr>
      <vt:lpstr>PowerPoint 簡報</vt:lpstr>
      <vt:lpstr>人工智慧的發展</vt:lpstr>
      <vt:lpstr>人工智慧的發展</vt:lpstr>
      <vt:lpstr>人工智慧的發展</vt:lpstr>
      <vt:lpstr>人工智慧的發展</vt:lpstr>
      <vt:lpstr>人工智慧的發展</vt:lpstr>
      <vt:lpstr>PowerPoint 簡報</vt:lpstr>
      <vt:lpstr>人工智慧應用分級</vt:lpstr>
      <vt:lpstr>人工智慧應用分級</vt:lpstr>
      <vt:lpstr>人工智慧應用分級</vt:lpstr>
      <vt:lpstr>人工智慧應用分級</vt:lpstr>
      <vt:lpstr>人工智慧應用分級</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機器學習基礎理論與實作</dc:title>
  <dc:creator>Ray</dc:creator>
  <cp:lastModifiedBy>張哲誠</cp:lastModifiedBy>
  <cp:revision>77</cp:revision>
  <dcterms:created xsi:type="dcterms:W3CDTF">2019-11-16T08:00:53Z</dcterms:created>
  <dcterms:modified xsi:type="dcterms:W3CDTF">2026-03-05T15:13:40Z</dcterms:modified>
</cp:coreProperties>
</file>