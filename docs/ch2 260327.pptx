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80"/>
  </p:notesMasterIdLst>
  <p:sldIdLst>
    <p:sldId id="324" r:id="rId2"/>
    <p:sldId id="326" r:id="rId3"/>
    <p:sldId id="398" r:id="rId4"/>
    <p:sldId id="329" r:id="rId5"/>
    <p:sldId id="330" r:id="rId6"/>
    <p:sldId id="332" r:id="rId7"/>
    <p:sldId id="334" r:id="rId8"/>
    <p:sldId id="335" r:id="rId9"/>
    <p:sldId id="336" r:id="rId10"/>
    <p:sldId id="337" r:id="rId11"/>
    <p:sldId id="338" r:id="rId12"/>
    <p:sldId id="333" r:id="rId13"/>
    <p:sldId id="331" r:id="rId14"/>
    <p:sldId id="328" r:id="rId15"/>
    <p:sldId id="325" r:id="rId16"/>
    <p:sldId id="339" r:id="rId17"/>
    <p:sldId id="340" r:id="rId18"/>
    <p:sldId id="341" r:id="rId19"/>
    <p:sldId id="342" r:id="rId20"/>
    <p:sldId id="351" r:id="rId21"/>
    <p:sldId id="352" r:id="rId22"/>
    <p:sldId id="353" r:id="rId23"/>
    <p:sldId id="354" r:id="rId24"/>
    <p:sldId id="355" r:id="rId25"/>
    <p:sldId id="356" r:id="rId26"/>
    <p:sldId id="357" r:id="rId27"/>
    <p:sldId id="358" r:id="rId28"/>
    <p:sldId id="359" r:id="rId29"/>
    <p:sldId id="367" r:id="rId30"/>
    <p:sldId id="368" r:id="rId31"/>
    <p:sldId id="369" r:id="rId32"/>
    <p:sldId id="360" r:id="rId33"/>
    <p:sldId id="361" r:id="rId34"/>
    <p:sldId id="362" r:id="rId35"/>
    <p:sldId id="363" r:id="rId36"/>
    <p:sldId id="370" r:id="rId37"/>
    <p:sldId id="371" r:id="rId38"/>
    <p:sldId id="364" r:id="rId39"/>
    <p:sldId id="372" r:id="rId40"/>
    <p:sldId id="365" r:id="rId41"/>
    <p:sldId id="382" r:id="rId42"/>
    <p:sldId id="383" r:id="rId43"/>
    <p:sldId id="384" r:id="rId44"/>
    <p:sldId id="366" r:id="rId45"/>
    <p:sldId id="385" r:id="rId46"/>
    <p:sldId id="386" r:id="rId47"/>
    <p:sldId id="387" r:id="rId48"/>
    <p:sldId id="373" r:id="rId49"/>
    <p:sldId id="374" r:id="rId50"/>
    <p:sldId id="375" r:id="rId51"/>
    <p:sldId id="414" r:id="rId52"/>
    <p:sldId id="415" r:id="rId53"/>
    <p:sldId id="416" r:id="rId54"/>
    <p:sldId id="417" r:id="rId55"/>
    <p:sldId id="388" r:id="rId56"/>
    <p:sldId id="390" r:id="rId57"/>
    <p:sldId id="389" r:id="rId58"/>
    <p:sldId id="413" r:id="rId59"/>
    <p:sldId id="391" r:id="rId60"/>
    <p:sldId id="376" r:id="rId61"/>
    <p:sldId id="392" r:id="rId62"/>
    <p:sldId id="393" r:id="rId63"/>
    <p:sldId id="399" r:id="rId64"/>
    <p:sldId id="401" r:id="rId65"/>
    <p:sldId id="402" r:id="rId66"/>
    <p:sldId id="403" r:id="rId67"/>
    <p:sldId id="404" r:id="rId68"/>
    <p:sldId id="405" r:id="rId69"/>
    <p:sldId id="406" r:id="rId70"/>
    <p:sldId id="407" r:id="rId71"/>
    <p:sldId id="394" r:id="rId72"/>
    <p:sldId id="395" r:id="rId73"/>
    <p:sldId id="408" r:id="rId74"/>
    <p:sldId id="409" r:id="rId75"/>
    <p:sldId id="410" r:id="rId76"/>
    <p:sldId id="412" r:id="rId77"/>
    <p:sldId id="411" r:id="rId78"/>
    <p:sldId id="418" r:id="rId7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24C5C3-B5CD-46D6-A8F2-5A4B18653789}" v="2" dt="2026-03-26T22:38:44.274"/>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111" autoAdjust="0"/>
  </p:normalViewPr>
  <p:slideViewPr>
    <p:cSldViewPr snapToGrid="0">
      <p:cViewPr>
        <p:scale>
          <a:sx n="66" d="100"/>
          <a:sy n="66" d="100"/>
        </p:scale>
        <p:origin x="2274" y="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張哲誠" userId="5d6e92af-707e-44d9-a48f-9a80309f0b3d" providerId="ADAL" clId="{87957148-FB1E-4665-A019-A686AD00C742}"/>
    <pc:docChg chg="custSel addSld modSld">
      <pc:chgData name="張哲誠" userId="5d6e92af-707e-44d9-a48f-9a80309f0b3d" providerId="ADAL" clId="{87957148-FB1E-4665-A019-A686AD00C742}" dt="2026-03-26T22:38:44.247" v="31" actId="20577"/>
      <pc:docMkLst>
        <pc:docMk/>
      </pc:docMkLst>
      <pc:sldChg chg="delSp modSp mod">
        <pc:chgData name="張哲誠" userId="5d6e92af-707e-44d9-a48f-9a80309f0b3d" providerId="ADAL" clId="{87957148-FB1E-4665-A019-A686AD00C742}" dt="2026-03-12T15:32:24.948" v="28" actId="478"/>
        <pc:sldMkLst>
          <pc:docMk/>
          <pc:sldMk cId="3873183971" sldId="328"/>
        </pc:sldMkLst>
        <pc:spChg chg="mod">
          <ac:chgData name="張哲誠" userId="5d6e92af-707e-44d9-a48f-9a80309f0b3d" providerId="ADAL" clId="{87957148-FB1E-4665-A019-A686AD00C742}" dt="2026-03-12T15:32:18.623" v="27" actId="6549"/>
          <ac:spMkLst>
            <pc:docMk/>
            <pc:sldMk cId="3873183971" sldId="328"/>
            <ac:spMk id="3" creationId="{00000000-0000-0000-0000-000000000000}"/>
          </ac:spMkLst>
        </pc:spChg>
      </pc:sldChg>
      <pc:sldChg chg="modSp new mod">
        <pc:chgData name="張哲誠" userId="5d6e92af-707e-44d9-a48f-9a80309f0b3d" providerId="ADAL" clId="{87957148-FB1E-4665-A019-A686AD00C742}" dt="2026-03-26T22:38:44.247" v="31" actId="20577"/>
        <pc:sldMkLst>
          <pc:docMk/>
          <pc:sldMk cId="2483400929" sldId="418"/>
        </pc:sldMkLst>
        <pc:spChg chg="mod">
          <ac:chgData name="張哲誠" userId="5d6e92af-707e-44d9-a48f-9a80309f0b3d" providerId="ADAL" clId="{87957148-FB1E-4665-A019-A686AD00C742}" dt="2026-03-26T22:38:44.247" v="31" actId="20577"/>
          <ac:spMkLst>
            <pc:docMk/>
            <pc:sldMk cId="2483400929" sldId="418"/>
            <ac:spMk id="3" creationId="{E831FE53-D797-05FF-4825-7FED1E0417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C2E46C-1491-4BA9-92F0-B7A573D65F14}" type="datetimeFigureOut">
              <a:rPr lang="zh-TW" altLang="en-US" smtClean="0"/>
              <a:t>2026/3/27</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D4DA1C-903D-4734-9FD4-63059C5936E9}" type="slidenum">
              <a:rPr lang="zh-TW" altLang="en-US" smtClean="0"/>
              <a:t>‹#›</a:t>
            </a:fld>
            <a:endParaRPr lang="zh-TW" altLang="en-US"/>
          </a:p>
        </p:txBody>
      </p:sp>
    </p:spTree>
    <p:extLst>
      <p:ext uri="{BB962C8B-B14F-4D97-AF65-F5344CB8AC3E}">
        <p14:creationId xmlns:p14="http://schemas.microsoft.com/office/powerpoint/2010/main" val="2451734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pixabay.com/zh/vectors/mushroom-toadstool-fungus-red-23912/"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svgsilh.com/zh/image/156548.html"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zh/photos/pets-cute-cat-dog-cute-wallpaper-3715733/"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flickr.com/photos/zh1yong/70414316"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pixabay.com/zh/illustrations/car-automobile-3d-self-driving-4343633/"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commons.wikimedia.org/wiki/File:KnnClassification.svg"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Binary_search_tree#/media/File:Binary_search_tree.svg"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publicdomainvectors.org/zh-CHS/%E5%85%8D%E8%B4%B9%E5%89%AA%E8%B4%B4/%E5%8D%A1%E9%80%9A%E7%8B%90%E7%8B%B8/36873.html" TargetMode="External"/><Relationship Id="rId2" Type="http://schemas.openxmlformats.org/officeDocument/2006/relationships/slide" Target="../slides/slide69.xml"/><Relationship Id="rId1" Type="http://schemas.openxmlformats.org/officeDocument/2006/relationships/notesMaster" Target="../notesMasters/notesMaster1.xml"/><Relationship Id="rId5" Type="http://schemas.openxmlformats.org/officeDocument/2006/relationships/hyperlink" Target="https://pixabay.com/zh/vectors/penguin-tux-animal-linux-cartoon-23159/" TargetMode="External"/><Relationship Id="rId4" Type="http://schemas.openxmlformats.org/officeDocument/2006/relationships/hyperlink" Target="https://pixabay.com/zh/vectors/polar-bear-bear-animals-white-fish-308990/"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publicdomainvectors.org/zh-CHS/%E5%85%8D%E8%B4%B9%E5%89%AA%E8%B4%B4/%E5%8D%A1%E9%80%9A%E7%8B%90%E7%8B%B8/36873.html" TargetMode="External"/><Relationship Id="rId2" Type="http://schemas.openxmlformats.org/officeDocument/2006/relationships/slide" Target="../slides/slide70.xml"/><Relationship Id="rId1" Type="http://schemas.openxmlformats.org/officeDocument/2006/relationships/notesMaster" Target="../notesMasters/notesMaster1.xml"/><Relationship Id="rId5" Type="http://schemas.openxmlformats.org/officeDocument/2006/relationships/hyperlink" Target="https://pixabay.com/zh/vectors/penguin-tux-animal-linux-cartoon-23159/" TargetMode="External"/><Relationship Id="rId4" Type="http://schemas.openxmlformats.org/officeDocument/2006/relationships/hyperlink" Target="https://pixabay.com/zh/vectors/polar-bear-bear-animals-white-fish-308990/"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needpix.com/photo/99298/man-person-boy-cartoon-smile-free-vector-graphics" TargetMode="External"/><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https://pixabay.com/zh/vectors/mushroom-toadstool-fungus-red-23912/</a:t>
            </a:r>
            <a:endParaRPr lang="en-US" altLang="zh-TW" dirty="0"/>
          </a:p>
          <a:p>
            <a:r>
              <a:rPr lang="en-US" altLang="zh-TW" dirty="0">
                <a:hlinkClick r:id="rId4"/>
              </a:rPr>
              <a:t>https://svgsilh.com/zh/image/156548.html</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4</a:t>
            </a:fld>
            <a:endParaRPr lang="zh-TW" altLang="en-US"/>
          </a:p>
        </p:txBody>
      </p:sp>
    </p:spTree>
    <p:extLst>
      <p:ext uri="{BB962C8B-B14F-4D97-AF65-F5344CB8AC3E}">
        <p14:creationId xmlns:p14="http://schemas.microsoft.com/office/powerpoint/2010/main" val="3133936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https://pixabay.com/zh/photos/pets-cute-cat-dog-cute-wallpaper-3715733/</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17</a:t>
            </a:fld>
            <a:endParaRPr lang="zh-TW" altLang="en-US"/>
          </a:p>
        </p:txBody>
      </p:sp>
    </p:spTree>
    <p:extLst>
      <p:ext uri="{BB962C8B-B14F-4D97-AF65-F5344CB8AC3E}">
        <p14:creationId xmlns:p14="http://schemas.microsoft.com/office/powerpoint/2010/main" val="2283527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https://www.flickr.com/photos/zh1yong/70414316</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21</a:t>
            </a:fld>
            <a:endParaRPr lang="zh-TW" altLang="en-US"/>
          </a:p>
        </p:txBody>
      </p:sp>
    </p:spTree>
    <p:extLst>
      <p:ext uri="{BB962C8B-B14F-4D97-AF65-F5344CB8AC3E}">
        <p14:creationId xmlns:p14="http://schemas.microsoft.com/office/powerpoint/2010/main" val="2132046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https://pixabay.com/zh/illustrations/car-automobile-3d-self-driving-4343633/</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22</a:t>
            </a:fld>
            <a:endParaRPr lang="zh-TW" altLang="en-US"/>
          </a:p>
        </p:txBody>
      </p:sp>
    </p:spTree>
    <p:extLst>
      <p:ext uri="{BB962C8B-B14F-4D97-AF65-F5344CB8AC3E}">
        <p14:creationId xmlns:p14="http://schemas.microsoft.com/office/powerpoint/2010/main" val="3049060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https://commons.wikimedia.org/wiki/File:KnnClassification.svg</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25</a:t>
            </a:fld>
            <a:endParaRPr lang="zh-TW" altLang="en-US"/>
          </a:p>
        </p:txBody>
      </p:sp>
    </p:spTree>
    <p:extLst>
      <p:ext uri="{BB962C8B-B14F-4D97-AF65-F5344CB8AC3E}">
        <p14:creationId xmlns:p14="http://schemas.microsoft.com/office/powerpoint/2010/main" val="655015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https://en.wikipedia.org/wiki/Binary_search_tree#/media/File:Binary_search_tree.svg</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38</a:t>
            </a:fld>
            <a:endParaRPr lang="zh-TW" altLang="en-US"/>
          </a:p>
        </p:txBody>
      </p:sp>
    </p:spTree>
    <p:extLst>
      <p:ext uri="{BB962C8B-B14F-4D97-AF65-F5344CB8AC3E}">
        <p14:creationId xmlns:p14="http://schemas.microsoft.com/office/powerpoint/2010/main" val="3092578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39</a:t>
            </a:fld>
            <a:endParaRPr lang="zh-TW" altLang="en-US"/>
          </a:p>
        </p:txBody>
      </p:sp>
    </p:spTree>
    <p:extLst>
      <p:ext uri="{BB962C8B-B14F-4D97-AF65-F5344CB8AC3E}">
        <p14:creationId xmlns:p14="http://schemas.microsoft.com/office/powerpoint/2010/main" val="578484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https://publicdomainvectors.org/zh-CHS/%E5%85%8D%E8%B4%B9%E5%89%AA%E8%B4%B4/%E5%8D%A1%E9%80%9A%E7%8B%90%E7%8B%B8/36873.html</a:t>
            </a:r>
            <a:endParaRPr lang="en-US" altLang="zh-TW" dirty="0"/>
          </a:p>
          <a:p>
            <a:r>
              <a:rPr lang="en-US" altLang="zh-TW" dirty="0">
                <a:hlinkClick r:id="rId4"/>
              </a:rPr>
              <a:t>https://pixabay.com/zh/vectors/polar-bear-bear-animals-white-fish-308990/</a:t>
            </a:r>
            <a:endParaRPr lang="en-US" altLang="zh-TW" dirty="0"/>
          </a:p>
          <a:p>
            <a:r>
              <a:rPr lang="en-US" altLang="zh-TW" dirty="0">
                <a:hlinkClick r:id="rId5"/>
              </a:rPr>
              <a:t>https://pixabay.com/zh/vectors/penguin-tux-animal-linux-cartoon-23159/</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69</a:t>
            </a:fld>
            <a:endParaRPr lang="zh-TW" altLang="en-US"/>
          </a:p>
        </p:txBody>
      </p:sp>
    </p:spTree>
    <p:extLst>
      <p:ext uri="{BB962C8B-B14F-4D97-AF65-F5344CB8AC3E}">
        <p14:creationId xmlns:p14="http://schemas.microsoft.com/office/powerpoint/2010/main" val="3742545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https://publicdomainvectors.org/zh-CHS/%E5%85%8D%E8%B4%B9%E5%89%AA%E8%B4%B4/%E5%8D%A1%E9%80%9A%E7%8B%90%E7%8B%B8/36873.html</a:t>
            </a:r>
            <a:endParaRPr lang="en-US" altLang="zh-TW" dirty="0"/>
          </a:p>
          <a:p>
            <a:r>
              <a:rPr lang="en-US" altLang="zh-TW" dirty="0">
                <a:hlinkClick r:id="rId4"/>
              </a:rPr>
              <a:t>https://pixabay.com/zh/vectors/polar-bear-bear-animals-white-fish-308990/</a:t>
            </a:r>
            <a:endParaRPr lang="en-US" altLang="zh-TW" dirty="0"/>
          </a:p>
          <a:p>
            <a:r>
              <a:rPr lang="en-US" altLang="zh-TW" dirty="0">
                <a:hlinkClick r:id="rId5"/>
              </a:rPr>
              <a:t>https://pixabay.com/zh/vectors/penguin-tux-animal-linux-cartoon-23159/</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70</a:t>
            </a:fld>
            <a:endParaRPr lang="zh-TW" altLang="en-US"/>
          </a:p>
        </p:txBody>
      </p:sp>
    </p:spTree>
    <p:extLst>
      <p:ext uri="{BB962C8B-B14F-4D97-AF65-F5344CB8AC3E}">
        <p14:creationId xmlns:p14="http://schemas.microsoft.com/office/powerpoint/2010/main" val="133036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https://www.needpix.com/photo/99298/man-person-boy-cartoon-smile-free-vector-graphics</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74</a:t>
            </a:fld>
            <a:endParaRPr lang="zh-TW" altLang="en-US"/>
          </a:p>
        </p:txBody>
      </p:sp>
    </p:spTree>
    <p:extLst>
      <p:ext uri="{BB962C8B-B14F-4D97-AF65-F5344CB8AC3E}">
        <p14:creationId xmlns:p14="http://schemas.microsoft.com/office/powerpoint/2010/main" val="4031910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zh-TW" altLang="en-US"/>
              <a:t>按一下以編輯母片標題樣式</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3872059-2B87-4DC7-8B67-4E1111268401}" type="datetimeFigureOut">
              <a:rPr lang="zh-TW" altLang="en-US" smtClean="0"/>
              <a:t>2026/3/27</a:t>
            </a:fld>
            <a:endParaRPr lang="zh-TW" altLang="en-US"/>
          </a:p>
        </p:txBody>
      </p:sp>
      <p:sp>
        <p:nvSpPr>
          <p:cNvPr id="5" name="Footer Placeholder 4"/>
          <p:cNvSpPr>
            <a:spLocks noGrp="1"/>
          </p:cNvSpPr>
          <p:nvPr>
            <p:ph type="ftr" sz="quarter" idx="11"/>
          </p:nvPr>
        </p:nvSpPr>
        <p:spPr>
          <a:xfrm>
            <a:off x="1876424" y="5410201"/>
            <a:ext cx="5124886" cy="365125"/>
          </a:xfrm>
        </p:spPr>
        <p:txBody>
          <a:bodyPr/>
          <a:lstStyle/>
          <a:p>
            <a:endParaRPr lang="zh-TW" altLang="en-US"/>
          </a:p>
        </p:txBody>
      </p:sp>
      <p:sp>
        <p:nvSpPr>
          <p:cNvPr id="6" name="Slide Number Placeholder 5"/>
          <p:cNvSpPr>
            <a:spLocks noGrp="1"/>
          </p:cNvSpPr>
          <p:nvPr>
            <p:ph type="sldNum" sz="quarter" idx="12"/>
          </p:nvPr>
        </p:nvSpPr>
        <p:spPr>
          <a:xfrm>
            <a:off x="9896911" y="5410199"/>
            <a:ext cx="771089" cy="365125"/>
          </a:xfrm>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79613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4075562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zh-TW" altLang="en-US"/>
              <a:t>按一下以編輯母片標題樣式</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696496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368086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141410" y="3073397"/>
            <a:ext cx="4878391" cy="2717801"/>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172200" y="3073397"/>
            <a:ext cx="4875210" cy="2717801"/>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2260202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667122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12296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1007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425987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標題)">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zh-TW" altLang="en-US"/>
              <a:t>按一下圖示以新增圖片</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603771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794548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zh-TW" altLang="en-US"/>
              <a:t>按一下以編輯母片標題樣式</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94639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021591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欄">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zh-TW" altLang="en-US"/>
              <a:t>按一下以編輯母片標題樣式</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346133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圖片欄">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zh-TW" altLang="en-US"/>
              <a:t>按一下以編輯母片標題樣式</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TW" altLang="en-US"/>
              <a:t>按一下圖示以新增圖片</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TW" altLang="en-US"/>
              <a:t>按一下圖示以新增圖片</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TW" altLang="en-US"/>
              <a:t>按一下圖示以新增圖片</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124823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6775612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3872059-2B87-4DC7-8B67-4E1111268401}" type="datetimeFigureOut">
              <a:rPr lang="zh-TW" altLang="en-US" smtClean="0"/>
              <a:t>2026/3/27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116386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zh-TW" alt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zh-TW" alt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zh-TW" alt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zh-TW" alt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zh-TW" alt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3872059-2B87-4DC7-8B67-4E1111268401}" type="datetimeFigureOut">
              <a:rPr lang="zh-TW" altLang="en-US" smtClean="0"/>
              <a:t>2026/3/27</a:t>
            </a:fld>
            <a:endParaRPr lang="zh-TW" alt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15532225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Boy%20Girl%20Conditional%20Probablity.mp4"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www.youtube.com/watch?v=4w0QS9ADlu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人工智慧技術發展從前兩波熱潮得到了一些成功的經驗，但最終仍是遇到無法突破的瓶頸，這也帶來了第三波的熱潮</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第一波：邏輯推論</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第二波：專家系統</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第三波：機器學習（進行中）</a:t>
            </a:r>
          </a:p>
        </p:txBody>
      </p:sp>
    </p:spTree>
    <p:extLst>
      <p:ext uri="{BB962C8B-B14F-4D97-AF65-F5344CB8AC3E}">
        <p14:creationId xmlns:p14="http://schemas.microsoft.com/office/powerpoint/2010/main" val="347473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第一波：邏輯推論</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利用人類已知的技巧，對特定問題進行邏輯推論</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第二波：專家系統</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利用大量現有的專家知識，對專業問題進行判別</a:t>
            </a:r>
          </a:p>
          <a:p>
            <a:r>
              <a:rPr lang="zh-TW" altLang="en-US" dirty="0">
                <a:latin typeface="微軟正黑體" panose="020B0604030504040204" pitchFamily="34" charset="-120"/>
                <a:ea typeface="微軟正黑體" panose="020B0604030504040204" pitchFamily="34" charset="-120"/>
              </a:rPr>
              <a:t>第三波：機器學習（進行中）</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機器是怎麼學東西的</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0714538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3" name="內容版面配置區 2"/>
          <p:cNvSpPr>
            <a:spLocks noGrp="1"/>
          </p:cNvSpPr>
          <p:nvPr>
            <p:ph idx="1"/>
          </p:nvPr>
        </p:nvSpPr>
        <p:spPr/>
        <p:txBody>
          <a:bodyPr>
            <a:normAutofit/>
          </a:bodyPr>
          <a:lstStyle/>
          <a:p>
            <a:r>
              <a:rPr lang="zh-TW" altLang="en-US" dirty="0">
                <a:latin typeface="微軟正黑體" panose="020B0604030504040204" pitchFamily="34" charset="-120"/>
                <a:ea typeface="微軟正黑體" panose="020B0604030504040204" pitchFamily="34" charset="-120"/>
              </a:rPr>
              <a:t>機器學習是從大量資料中取得對應的特徵，然後儲存下來，當下次於新資料中再遇到這些特徵時，系統就能判斷這筆新資料是不是符合我們想要的特性</a:t>
            </a:r>
          </a:p>
        </p:txBody>
      </p:sp>
      <p:sp>
        <p:nvSpPr>
          <p:cNvPr id="4" name="矩形 3"/>
          <p:cNvSpPr/>
          <p:nvPr/>
        </p:nvSpPr>
        <p:spPr>
          <a:xfrm>
            <a:off x="2324660" y="3718469"/>
            <a:ext cx="1800000" cy="10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大量資料</a:t>
            </a:r>
          </a:p>
        </p:txBody>
      </p:sp>
      <p:cxnSp>
        <p:nvCxnSpPr>
          <p:cNvPr id="6" name="直線單箭頭接點 5"/>
          <p:cNvCxnSpPr>
            <a:stCxn id="4" idx="3"/>
            <a:endCxn id="9" idx="1"/>
          </p:cNvCxnSpPr>
          <p:nvPr/>
        </p:nvCxnSpPr>
        <p:spPr>
          <a:xfrm>
            <a:off x="4124660" y="4258469"/>
            <a:ext cx="1593626" cy="0"/>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5718286" y="3718469"/>
            <a:ext cx="1800000" cy="10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特徵資料集</a:t>
            </a:r>
          </a:p>
        </p:txBody>
      </p:sp>
      <p:sp>
        <p:nvSpPr>
          <p:cNvPr id="11" name="矩形 10"/>
          <p:cNvSpPr/>
          <p:nvPr/>
        </p:nvSpPr>
        <p:spPr>
          <a:xfrm>
            <a:off x="2324660" y="5400677"/>
            <a:ext cx="1800000" cy="1080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新資料</a:t>
            </a:r>
          </a:p>
        </p:txBody>
      </p:sp>
      <p:cxnSp>
        <p:nvCxnSpPr>
          <p:cNvPr id="12" name="直線單箭頭接點 11"/>
          <p:cNvCxnSpPr>
            <a:stCxn id="11" idx="3"/>
            <a:endCxn id="13" idx="1"/>
          </p:cNvCxnSpPr>
          <p:nvPr/>
        </p:nvCxnSpPr>
        <p:spPr>
          <a:xfrm>
            <a:off x="4124660" y="5940677"/>
            <a:ext cx="1593626" cy="0"/>
          </a:xfrm>
          <a:prstGeom prst="straightConnector1">
            <a:avLst/>
          </a:prstGeom>
          <a:ln w="50800">
            <a:tailEnd type="triangle" w="lg" len="lg"/>
          </a:ln>
        </p:spPr>
        <p:style>
          <a:lnRef idx="2">
            <a:schemeClr val="accent5"/>
          </a:lnRef>
          <a:fillRef idx="0">
            <a:schemeClr val="accent5"/>
          </a:fillRef>
          <a:effectRef idx="1">
            <a:schemeClr val="accent5"/>
          </a:effectRef>
          <a:fontRef idx="minor">
            <a:schemeClr val="tx1"/>
          </a:fontRef>
        </p:style>
      </p:cxnSp>
      <p:sp>
        <p:nvSpPr>
          <p:cNvPr id="13" name="矩形 12"/>
          <p:cNvSpPr/>
          <p:nvPr/>
        </p:nvSpPr>
        <p:spPr>
          <a:xfrm>
            <a:off x="5718286" y="5400677"/>
            <a:ext cx="1800000" cy="1080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比對</a:t>
            </a:r>
          </a:p>
        </p:txBody>
      </p:sp>
      <p:cxnSp>
        <p:nvCxnSpPr>
          <p:cNvPr id="14" name="直線單箭頭接點 13"/>
          <p:cNvCxnSpPr>
            <a:stCxn id="13" idx="3"/>
            <a:endCxn id="22" idx="1"/>
          </p:cNvCxnSpPr>
          <p:nvPr/>
        </p:nvCxnSpPr>
        <p:spPr>
          <a:xfrm flipV="1">
            <a:off x="7518286" y="5937376"/>
            <a:ext cx="1158989" cy="3301"/>
          </a:xfrm>
          <a:prstGeom prst="straightConnector1">
            <a:avLst/>
          </a:prstGeom>
          <a:ln w="50800">
            <a:tailEnd type="triangle" w="lg" len="lg"/>
          </a:ln>
        </p:spPr>
        <p:style>
          <a:lnRef idx="2">
            <a:schemeClr val="accent5"/>
          </a:lnRef>
          <a:fillRef idx="0">
            <a:schemeClr val="accent5"/>
          </a:fillRef>
          <a:effectRef idx="1">
            <a:schemeClr val="accent5"/>
          </a:effectRef>
          <a:fontRef idx="minor">
            <a:schemeClr val="tx1"/>
          </a:fontRef>
        </p:style>
      </p:cxnSp>
      <p:cxnSp>
        <p:nvCxnSpPr>
          <p:cNvPr id="17" name="直線單箭頭接點 16"/>
          <p:cNvCxnSpPr>
            <a:stCxn id="9" idx="2"/>
            <a:endCxn id="13" idx="0"/>
          </p:cNvCxnSpPr>
          <p:nvPr/>
        </p:nvCxnSpPr>
        <p:spPr>
          <a:xfrm>
            <a:off x="6618286" y="4798469"/>
            <a:ext cx="0" cy="602208"/>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8677275" y="5397376"/>
            <a:ext cx="1800000" cy="1080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是否符合特性</a:t>
            </a:r>
          </a:p>
        </p:txBody>
      </p:sp>
    </p:spTree>
    <p:extLst>
      <p:ext uri="{BB962C8B-B14F-4D97-AF65-F5344CB8AC3E}">
        <p14:creationId xmlns:p14="http://schemas.microsoft.com/office/powerpoint/2010/main" val="345581326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在山上迷路並且沒有糧食的時候，當你看到路邊有菇菇時，要怎麼判別有沒有毒</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能不能拿來吃</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pic>
        <p:nvPicPr>
          <p:cNvPr id="1028" name="Picture 4" descr="https://cdn.pixabay.com/photo/2012/04/01/18/32/mushroom-23912_960_72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2700" y="3189762"/>
            <a:ext cx="3644900" cy="3412651"/>
          </a:xfrm>
          <a:prstGeom prst="rect">
            <a:avLst/>
          </a:prstGeom>
          <a:noFill/>
          <a:extLst>
            <a:ext uri="{909E8E84-426E-40DD-AFC4-6F175D3DCCD1}">
              <a14:hiddenFill xmlns:a14="http://schemas.microsoft.com/office/drawing/2010/main">
                <a:solidFill>
                  <a:srgbClr val="FFFFFF"/>
                </a:solidFill>
              </a14:hiddenFill>
            </a:ext>
          </a:extLst>
        </p:spPr>
      </p:pic>
      <p:pic>
        <p:nvPicPr>
          <p:cNvPr id="7" name="圖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7600" y="3037363"/>
            <a:ext cx="1334295" cy="1141448"/>
          </a:xfrm>
          <a:prstGeom prst="rect">
            <a:avLst/>
          </a:prstGeom>
          <a:solidFill>
            <a:schemeClr val="accent1">
              <a:tint val="40000"/>
              <a:alpha val="60000"/>
            </a:schemeClr>
          </a:solidFill>
        </p:spPr>
      </p:pic>
    </p:spTree>
    <p:extLst>
      <p:ext uri="{BB962C8B-B14F-4D97-AF65-F5344CB8AC3E}">
        <p14:creationId xmlns:p14="http://schemas.microsoft.com/office/powerpoint/2010/main" val="160770203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5" name="矩形 4"/>
          <p:cNvSpPr/>
          <p:nvPr/>
        </p:nvSpPr>
        <p:spPr>
          <a:xfrm>
            <a:off x="7137400" y="192088"/>
            <a:ext cx="4953000" cy="1320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本範例是設計用來說明機器學習的</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，請勿參考此表格來判別食材有沒有毒</a:t>
            </a:r>
          </a:p>
        </p:txBody>
      </p:sp>
      <p:sp>
        <p:nvSpPr>
          <p:cNvPr id="6" name="內容版面配置區 5"/>
          <p:cNvSpPr>
            <a:spLocks noGrp="1"/>
          </p:cNvSpPr>
          <p:nvPr>
            <p:ph idx="1"/>
          </p:nvPr>
        </p:nvSpPr>
        <p:spPr/>
        <p:txBody>
          <a:bodyPr/>
          <a:lstStyle/>
          <a:p>
            <a:endParaRPr lang="zh-TW" altLang="en-US"/>
          </a:p>
        </p:txBody>
      </p:sp>
      <p:graphicFrame>
        <p:nvGraphicFramePr>
          <p:cNvPr id="7" name="內容版面配置區 3"/>
          <p:cNvGraphicFramePr>
            <a:graphicFrameLocks/>
          </p:cNvGraphicFramePr>
          <p:nvPr>
            <p:extLst>
              <p:ext uri="{D42A27DB-BD31-4B8C-83A1-F6EECF244321}">
                <p14:modId xmlns:p14="http://schemas.microsoft.com/office/powerpoint/2010/main" val="532955648"/>
              </p:ext>
            </p:extLst>
          </p:nvPr>
        </p:nvGraphicFramePr>
        <p:xfrm>
          <a:off x="1141413" y="2249488"/>
          <a:ext cx="9906000" cy="296672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3397221537"/>
                    </a:ext>
                  </a:extLst>
                </a:gridCol>
                <a:gridCol w="1651000">
                  <a:extLst>
                    <a:ext uri="{9D8B030D-6E8A-4147-A177-3AD203B41FA5}">
                      <a16:colId xmlns:a16="http://schemas.microsoft.com/office/drawing/2014/main" val="390932910"/>
                    </a:ext>
                  </a:extLst>
                </a:gridCol>
                <a:gridCol w="1651000">
                  <a:extLst>
                    <a:ext uri="{9D8B030D-6E8A-4147-A177-3AD203B41FA5}">
                      <a16:colId xmlns:a16="http://schemas.microsoft.com/office/drawing/2014/main" val="326201479"/>
                    </a:ext>
                  </a:extLst>
                </a:gridCol>
                <a:gridCol w="1651000">
                  <a:extLst>
                    <a:ext uri="{9D8B030D-6E8A-4147-A177-3AD203B41FA5}">
                      <a16:colId xmlns:a16="http://schemas.microsoft.com/office/drawing/2014/main" val="1600667871"/>
                    </a:ext>
                  </a:extLst>
                </a:gridCol>
                <a:gridCol w="1651000">
                  <a:extLst>
                    <a:ext uri="{9D8B030D-6E8A-4147-A177-3AD203B41FA5}">
                      <a16:colId xmlns:a16="http://schemas.microsoft.com/office/drawing/2014/main" val="2986742347"/>
                    </a:ext>
                  </a:extLst>
                </a:gridCol>
                <a:gridCol w="1651000">
                  <a:extLst>
                    <a:ext uri="{9D8B030D-6E8A-4147-A177-3AD203B41FA5}">
                      <a16:colId xmlns:a16="http://schemas.microsoft.com/office/drawing/2014/main" val="1765620504"/>
                    </a:ext>
                  </a:extLst>
                </a:gridCol>
              </a:tblGrid>
              <a:tr h="370840">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菇菇編號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外觀</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顏色</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生長環境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味道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是否有毒</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828204579"/>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1</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101992836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2</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33315290"/>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3</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白</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395638807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4</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8797040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腥味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44863474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6</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742331038"/>
                  </a:ext>
                </a:extLst>
              </a:tr>
              <a:tr h="370840">
                <a:tc>
                  <a:txBody>
                    <a:bodyPr/>
                    <a:lstStyle/>
                    <a:p>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答案</a:t>
                      </a:r>
                    </a:p>
                  </a:txBody>
                  <a:tcPr/>
                </a:tc>
                <a:extLst>
                  <a:ext uri="{0D108BD9-81ED-4DB2-BD59-A6C34878D82A}">
                    <a16:rowId xmlns:a16="http://schemas.microsoft.com/office/drawing/2014/main" val="1214652521"/>
                  </a:ext>
                </a:extLst>
              </a:tr>
            </a:tbl>
          </a:graphicData>
        </a:graphic>
      </p:graphicFrame>
    </p:spTree>
    <p:extLst>
      <p:ext uri="{BB962C8B-B14F-4D97-AF65-F5344CB8AC3E}">
        <p14:creationId xmlns:p14="http://schemas.microsoft.com/office/powerpoint/2010/main" val="3034368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5" name="矩形 4"/>
          <p:cNvSpPr/>
          <p:nvPr/>
        </p:nvSpPr>
        <p:spPr>
          <a:xfrm>
            <a:off x="7137400" y="192088"/>
            <a:ext cx="4953000" cy="1320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本範例是設計用來說明機器學習的</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，請勿參考此表格來判別食材有沒有毒</a:t>
            </a:r>
          </a:p>
        </p:txBody>
      </p:sp>
      <p:graphicFrame>
        <p:nvGraphicFramePr>
          <p:cNvPr id="3" name="表格 2"/>
          <p:cNvGraphicFramePr>
            <a:graphicFrameLocks noGrp="1"/>
          </p:cNvGraphicFramePr>
          <p:nvPr>
            <p:extLst>
              <p:ext uri="{D42A27DB-BD31-4B8C-83A1-F6EECF244321}">
                <p14:modId xmlns:p14="http://schemas.microsoft.com/office/powerpoint/2010/main" val="4082143272"/>
              </p:ext>
            </p:extLst>
          </p:nvPr>
        </p:nvGraphicFramePr>
        <p:xfrm>
          <a:off x="1141413" y="5848668"/>
          <a:ext cx="9906000" cy="370840"/>
        </p:xfrm>
        <a:graphic>
          <a:graphicData uri="http://schemas.openxmlformats.org/drawingml/2006/table">
            <a:tbl>
              <a:tblPr firstRow="1" bandRow="1">
                <a:tableStyleId>{00A15C55-8517-42AA-B614-E9B94910E393}</a:tableStyleId>
              </a:tblPr>
              <a:tblGrid>
                <a:gridCol w="1651000">
                  <a:extLst>
                    <a:ext uri="{9D8B030D-6E8A-4147-A177-3AD203B41FA5}">
                      <a16:colId xmlns:a16="http://schemas.microsoft.com/office/drawing/2014/main" val="3771633464"/>
                    </a:ext>
                  </a:extLst>
                </a:gridCol>
                <a:gridCol w="1651000">
                  <a:extLst>
                    <a:ext uri="{9D8B030D-6E8A-4147-A177-3AD203B41FA5}">
                      <a16:colId xmlns:a16="http://schemas.microsoft.com/office/drawing/2014/main" val="4032618944"/>
                    </a:ext>
                  </a:extLst>
                </a:gridCol>
                <a:gridCol w="1651000">
                  <a:extLst>
                    <a:ext uri="{9D8B030D-6E8A-4147-A177-3AD203B41FA5}">
                      <a16:colId xmlns:a16="http://schemas.microsoft.com/office/drawing/2014/main" val="3069432607"/>
                    </a:ext>
                  </a:extLst>
                </a:gridCol>
                <a:gridCol w="1651000">
                  <a:extLst>
                    <a:ext uri="{9D8B030D-6E8A-4147-A177-3AD203B41FA5}">
                      <a16:colId xmlns:a16="http://schemas.microsoft.com/office/drawing/2014/main" val="322634709"/>
                    </a:ext>
                  </a:extLst>
                </a:gridCol>
                <a:gridCol w="1651000">
                  <a:extLst>
                    <a:ext uri="{9D8B030D-6E8A-4147-A177-3AD203B41FA5}">
                      <a16:colId xmlns:a16="http://schemas.microsoft.com/office/drawing/2014/main" val="2592017647"/>
                    </a:ext>
                  </a:extLst>
                </a:gridCol>
                <a:gridCol w="1651000">
                  <a:extLst>
                    <a:ext uri="{9D8B030D-6E8A-4147-A177-3AD203B41FA5}">
                      <a16:colId xmlns:a16="http://schemas.microsoft.com/office/drawing/2014/main" val="2503314286"/>
                    </a:ext>
                  </a:extLst>
                </a:gridCol>
              </a:tblGrid>
              <a:tr h="370840">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手上的菇菇</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980059285"/>
                  </a:ext>
                </a:extLst>
              </a:tr>
            </a:tbl>
          </a:graphicData>
        </a:graphic>
      </p:graphicFrame>
      <p:sp>
        <p:nvSpPr>
          <p:cNvPr id="6" name="內容版面配置區 5"/>
          <p:cNvSpPr>
            <a:spLocks noGrp="1"/>
          </p:cNvSpPr>
          <p:nvPr>
            <p:ph idx="1"/>
          </p:nvPr>
        </p:nvSpPr>
        <p:spPr/>
        <p:txBody>
          <a:bodyPr/>
          <a:lstStyle/>
          <a:p>
            <a:endParaRPr lang="zh-TW" altLang="en-US"/>
          </a:p>
        </p:txBody>
      </p:sp>
      <p:graphicFrame>
        <p:nvGraphicFramePr>
          <p:cNvPr id="7" name="內容版面配置區 3"/>
          <p:cNvGraphicFramePr>
            <a:graphicFrameLocks/>
          </p:cNvGraphicFramePr>
          <p:nvPr/>
        </p:nvGraphicFramePr>
        <p:xfrm>
          <a:off x="1141413" y="2249488"/>
          <a:ext cx="9906000" cy="296672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3397221537"/>
                    </a:ext>
                  </a:extLst>
                </a:gridCol>
                <a:gridCol w="1651000">
                  <a:extLst>
                    <a:ext uri="{9D8B030D-6E8A-4147-A177-3AD203B41FA5}">
                      <a16:colId xmlns:a16="http://schemas.microsoft.com/office/drawing/2014/main" val="390932910"/>
                    </a:ext>
                  </a:extLst>
                </a:gridCol>
                <a:gridCol w="1651000">
                  <a:extLst>
                    <a:ext uri="{9D8B030D-6E8A-4147-A177-3AD203B41FA5}">
                      <a16:colId xmlns:a16="http://schemas.microsoft.com/office/drawing/2014/main" val="326201479"/>
                    </a:ext>
                  </a:extLst>
                </a:gridCol>
                <a:gridCol w="1651000">
                  <a:extLst>
                    <a:ext uri="{9D8B030D-6E8A-4147-A177-3AD203B41FA5}">
                      <a16:colId xmlns:a16="http://schemas.microsoft.com/office/drawing/2014/main" val="1600667871"/>
                    </a:ext>
                  </a:extLst>
                </a:gridCol>
                <a:gridCol w="1651000">
                  <a:extLst>
                    <a:ext uri="{9D8B030D-6E8A-4147-A177-3AD203B41FA5}">
                      <a16:colId xmlns:a16="http://schemas.microsoft.com/office/drawing/2014/main" val="2986742347"/>
                    </a:ext>
                  </a:extLst>
                </a:gridCol>
                <a:gridCol w="1651000">
                  <a:extLst>
                    <a:ext uri="{9D8B030D-6E8A-4147-A177-3AD203B41FA5}">
                      <a16:colId xmlns:a16="http://schemas.microsoft.com/office/drawing/2014/main" val="1765620504"/>
                    </a:ext>
                  </a:extLst>
                </a:gridCol>
              </a:tblGrid>
              <a:tr h="370840">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菇菇編號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外觀</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顏色</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生長環境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味道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是否有毒</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828204579"/>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1</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101992836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2</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33315290"/>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3</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白</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395638807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4</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8797040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腥味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44863474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6</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742331038"/>
                  </a:ext>
                </a:extLst>
              </a:tr>
              <a:tr h="370840">
                <a:tc>
                  <a:txBody>
                    <a:bodyPr/>
                    <a:lstStyle/>
                    <a:p>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答案</a:t>
                      </a:r>
                    </a:p>
                  </a:txBody>
                  <a:tcPr/>
                </a:tc>
                <a:extLst>
                  <a:ext uri="{0D108BD9-81ED-4DB2-BD59-A6C34878D82A}">
                    <a16:rowId xmlns:a16="http://schemas.microsoft.com/office/drawing/2014/main" val="1214652521"/>
                  </a:ext>
                </a:extLst>
              </a:tr>
            </a:tbl>
          </a:graphicData>
        </a:graphic>
      </p:graphicFrame>
    </p:spTree>
    <p:extLst>
      <p:ext uri="{BB962C8B-B14F-4D97-AF65-F5344CB8AC3E}">
        <p14:creationId xmlns:p14="http://schemas.microsoft.com/office/powerpoint/2010/main" val="15237751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5" name="矩形 4"/>
          <p:cNvSpPr/>
          <p:nvPr/>
        </p:nvSpPr>
        <p:spPr>
          <a:xfrm>
            <a:off x="7137400" y="192088"/>
            <a:ext cx="4953000" cy="1320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本範例是設計用來說明機器學習的</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，請勿參考此表格來判別食材有沒有毒</a:t>
            </a:r>
          </a:p>
        </p:txBody>
      </p:sp>
      <p:graphicFrame>
        <p:nvGraphicFramePr>
          <p:cNvPr id="3" name="表格 2"/>
          <p:cNvGraphicFramePr>
            <a:graphicFrameLocks noGrp="1"/>
          </p:cNvGraphicFramePr>
          <p:nvPr/>
        </p:nvGraphicFramePr>
        <p:xfrm>
          <a:off x="1141413" y="5848668"/>
          <a:ext cx="9906000" cy="370840"/>
        </p:xfrm>
        <a:graphic>
          <a:graphicData uri="http://schemas.openxmlformats.org/drawingml/2006/table">
            <a:tbl>
              <a:tblPr firstRow="1" bandRow="1">
                <a:tableStyleId>{00A15C55-8517-42AA-B614-E9B94910E393}</a:tableStyleId>
              </a:tblPr>
              <a:tblGrid>
                <a:gridCol w="1651000">
                  <a:extLst>
                    <a:ext uri="{9D8B030D-6E8A-4147-A177-3AD203B41FA5}">
                      <a16:colId xmlns:a16="http://schemas.microsoft.com/office/drawing/2014/main" val="3771633464"/>
                    </a:ext>
                  </a:extLst>
                </a:gridCol>
                <a:gridCol w="1651000">
                  <a:extLst>
                    <a:ext uri="{9D8B030D-6E8A-4147-A177-3AD203B41FA5}">
                      <a16:colId xmlns:a16="http://schemas.microsoft.com/office/drawing/2014/main" val="4032618944"/>
                    </a:ext>
                  </a:extLst>
                </a:gridCol>
                <a:gridCol w="1651000">
                  <a:extLst>
                    <a:ext uri="{9D8B030D-6E8A-4147-A177-3AD203B41FA5}">
                      <a16:colId xmlns:a16="http://schemas.microsoft.com/office/drawing/2014/main" val="3069432607"/>
                    </a:ext>
                  </a:extLst>
                </a:gridCol>
                <a:gridCol w="1651000">
                  <a:extLst>
                    <a:ext uri="{9D8B030D-6E8A-4147-A177-3AD203B41FA5}">
                      <a16:colId xmlns:a16="http://schemas.microsoft.com/office/drawing/2014/main" val="322634709"/>
                    </a:ext>
                  </a:extLst>
                </a:gridCol>
                <a:gridCol w="1651000">
                  <a:extLst>
                    <a:ext uri="{9D8B030D-6E8A-4147-A177-3AD203B41FA5}">
                      <a16:colId xmlns:a16="http://schemas.microsoft.com/office/drawing/2014/main" val="2592017647"/>
                    </a:ext>
                  </a:extLst>
                </a:gridCol>
                <a:gridCol w="1651000">
                  <a:extLst>
                    <a:ext uri="{9D8B030D-6E8A-4147-A177-3AD203B41FA5}">
                      <a16:colId xmlns:a16="http://schemas.microsoft.com/office/drawing/2014/main" val="2503314286"/>
                    </a:ext>
                  </a:extLst>
                </a:gridCol>
              </a:tblGrid>
              <a:tr h="370840">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手上的菇菇</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980059285"/>
                  </a:ext>
                </a:extLst>
              </a:tr>
            </a:tbl>
          </a:graphicData>
        </a:graphic>
      </p:graphicFrame>
      <p:sp>
        <p:nvSpPr>
          <p:cNvPr id="6" name="內容版面配置區 5"/>
          <p:cNvSpPr>
            <a:spLocks noGrp="1"/>
          </p:cNvSpPr>
          <p:nvPr>
            <p:ph idx="1"/>
          </p:nvPr>
        </p:nvSpPr>
        <p:spPr/>
        <p:txBody>
          <a:bodyPr/>
          <a:lstStyle/>
          <a:p>
            <a:endParaRPr lang="zh-TW" altLang="en-US"/>
          </a:p>
        </p:txBody>
      </p:sp>
      <p:graphicFrame>
        <p:nvGraphicFramePr>
          <p:cNvPr id="7" name="內容版面配置區 3"/>
          <p:cNvGraphicFramePr>
            <a:graphicFrameLocks/>
          </p:cNvGraphicFramePr>
          <p:nvPr>
            <p:extLst>
              <p:ext uri="{D42A27DB-BD31-4B8C-83A1-F6EECF244321}">
                <p14:modId xmlns:p14="http://schemas.microsoft.com/office/powerpoint/2010/main" val="1776648667"/>
              </p:ext>
            </p:extLst>
          </p:nvPr>
        </p:nvGraphicFramePr>
        <p:xfrm>
          <a:off x="1141413" y="2249488"/>
          <a:ext cx="9906000" cy="296672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3397221537"/>
                    </a:ext>
                  </a:extLst>
                </a:gridCol>
                <a:gridCol w="1651000">
                  <a:extLst>
                    <a:ext uri="{9D8B030D-6E8A-4147-A177-3AD203B41FA5}">
                      <a16:colId xmlns:a16="http://schemas.microsoft.com/office/drawing/2014/main" val="390932910"/>
                    </a:ext>
                  </a:extLst>
                </a:gridCol>
                <a:gridCol w="1651000">
                  <a:extLst>
                    <a:ext uri="{9D8B030D-6E8A-4147-A177-3AD203B41FA5}">
                      <a16:colId xmlns:a16="http://schemas.microsoft.com/office/drawing/2014/main" val="326201479"/>
                    </a:ext>
                  </a:extLst>
                </a:gridCol>
                <a:gridCol w="1651000">
                  <a:extLst>
                    <a:ext uri="{9D8B030D-6E8A-4147-A177-3AD203B41FA5}">
                      <a16:colId xmlns:a16="http://schemas.microsoft.com/office/drawing/2014/main" val="1600667871"/>
                    </a:ext>
                  </a:extLst>
                </a:gridCol>
                <a:gridCol w="1651000">
                  <a:extLst>
                    <a:ext uri="{9D8B030D-6E8A-4147-A177-3AD203B41FA5}">
                      <a16:colId xmlns:a16="http://schemas.microsoft.com/office/drawing/2014/main" val="2986742347"/>
                    </a:ext>
                  </a:extLst>
                </a:gridCol>
                <a:gridCol w="1651000">
                  <a:extLst>
                    <a:ext uri="{9D8B030D-6E8A-4147-A177-3AD203B41FA5}">
                      <a16:colId xmlns:a16="http://schemas.microsoft.com/office/drawing/2014/main" val="1765620504"/>
                    </a:ext>
                  </a:extLst>
                </a:gridCol>
              </a:tblGrid>
              <a:tr h="370840">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菇菇編號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外觀</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顏色</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生長環境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味道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是否有毒</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828204579"/>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1</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101992836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2</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33315290"/>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3</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白</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395638807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4</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rgbClr val="FF0000"/>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8797040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腥味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44863474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6</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742331038"/>
                  </a:ext>
                </a:extLst>
              </a:tr>
              <a:tr h="370840">
                <a:tc>
                  <a:txBody>
                    <a:bodyPr/>
                    <a:lstStyle/>
                    <a:p>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答案</a:t>
                      </a:r>
                    </a:p>
                  </a:txBody>
                  <a:tcPr/>
                </a:tc>
                <a:extLst>
                  <a:ext uri="{0D108BD9-81ED-4DB2-BD59-A6C34878D82A}">
                    <a16:rowId xmlns:a16="http://schemas.microsoft.com/office/drawing/2014/main" val="1214652521"/>
                  </a:ext>
                </a:extLst>
              </a:tr>
            </a:tbl>
          </a:graphicData>
        </a:graphic>
      </p:graphicFrame>
      <p:sp>
        <p:nvSpPr>
          <p:cNvPr id="8" name="向下箭號 7"/>
          <p:cNvSpPr/>
          <p:nvPr/>
        </p:nvSpPr>
        <p:spPr>
          <a:xfrm flipV="1">
            <a:off x="3149600" y="6302376"/>
            <a:ext cx="546100" cy="4794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3009900" y="5327968"/>
            <a:ext cx="825500" cy="437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latin typeface="微軟正黑體" panose="020B0604030504040204" pitchFamily="34" charset="-120"/>
                <a:ea typeface="微軟正黑體" panose="020B0604030504040204" pitchFamily="34" charset="-120"/>
              </a:rPr>
              <a:t>100%</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3757643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5" name="矩形 4"/>
          <p:cNvSpPr/>
          <p:nvPr/>
        </p:nvSpPr>
        <p:spPr>
          <a:xfrm>
            <a:off x="7137400" y="192088"/>
            <a:ext cx="4953000" cy="1320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本範例是設計用來說明機器學習的</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，請勿參考此表格來判別食材有沒有毒</a:t>
            </a:r>
          </a:p>
        </p:txBody>
      </p:sp>
      <p:graphicFrame>
        <p:nvGraphicFramePr>
          <p:cNvPr id="3" name="表格 2"/>
          <p:cNvGraphicFramePr>
            <a:graphicFrameLocks noGrp="1"/>
          </p:cNvGraphicFramePr>
          <p:nvPr/>
        </p:nvGraphicFramePr>
        <p:xfrm>
          <a:off x="1141413" y="5848668"/>
          <a:ext cx="9906000" cy="370840"/>
        </p:xfrm>
        <a:graphic>
          <a:graphicData uri="http://schemas.openxmlformats.org/drawingml/2006/table">
            <a:tbl>
              <a:tblPr firstRow="1" bandRow="1">
                <a:tableStyleId>{00A15C55-8517-42AA-B614-E9B94910E393}</a:tableStyleId>
              </a:tblPr>
              <a:tblGrid>
                <a:gridCol w="1651000">
                  <a:extLst>
                    <a:ext uri="{9D8B030D-6E8A-4147-A177-3AD203B41FA5}">
                      <a16:colId xmlns:a16="http://schemas.microsoft.com/office/drawing/2014/main" val="3771633464"/>
                    </a:ext>
                  </a:extLst>
                </a:gridCol>
                <a:gridCol w="1651000">
                  <a:extLst>
                    <a:ext uri="{9D8B030D-6E8A-4147-A177-3AD203B41FA5}">
                      <a16:colId xmlns:a16="http://schemas.microsoft.com/office/drawing/2014/main" val="4032618944"/>
                    </a:ext>
                  </a:extLst>
                </a:gridCol>
                <a:gridCol w="1651000">
                  <a:extLst>
                    <a:ext uri="{9D8B030D-6E8A-4147-A177-3AD203B41FA5}">
                      <a16:colId xmlns:a16="http://schemas.microsoft.com/office/drawing/2014/main" val="3069432607"/>
                    </a:ext>
                  </a:extLst>
                </a:gridCol>
                <a:gridCol w="1651000">
                  <a:extLst>
                    <a:ext uri="{9D8B030D-6E8A-4147-A177-3AD203B41FA5}">
                      <a16:colId xmlns:a16="http://schemas.microsoft.com/office/drawing/2014/main" val="322634709"/>
                    </a:ext>
                  </a:extLst>
                </a:gridCol>
                <a:gridCol w="1651000">
                  <a:extLst>
                    <a:ext uri="{9D8B030D-6E8A-4147-A177-3AD203B41FA5}">
                      <a16:colId xmlns:a16="http://schemas.microsoft.com/office/drawing/2014/main" val="2592017647"/>
                    </a:ext>
                  </a:extLst>
                </a:gridCol>
                <a:gridCol w="1651000">
                  <a:extLst>
                    <a:ext uri="{9D8B030D-6E8A-4147-A177-3AD203B41FA5}">
                      <a16:colId xmlns:a16="http://schemas.microsoft.com/office/drawing/2014/main" val="2503314286"/>
                    </a:ext>
                  </a:extLst>
                </a:gridCol>
              </a:tblGrid>
              <a:tr h="370840">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手上的菇菇</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980059285"/>
                  </a:ext>
                </a:extLst>
              </a:tr>
            </a:tbl>
          </a:graphicData>
        </a:graphic>
      </p:graphicFrame>
      <p:sp>
        <p:nvSpPr>
          <p:cNvPr id="6" name="內容版面配置區 5"/>
          <p:cNvSpPr>
            <a:spLocks noGrp="1"/>
          </p:cNvSpPr>
          <p:nvPr>
            <p:ph idx="1"/>
          </p:nvPr>
        </p:nvSpPr>
        <p:spPr/>
        <p:txBody>
          <a:bodyPr/>
          <a:lstStyle/>
          <a:p>
            <a:endParaRPr lang="zh-TW" altLang="en-US"/>
          </a:p>
        </p:txBody>
      </p:sp>
      <p:graphicFrame>
        <p:nvGraphicFramePr>
          <p:cNvPr id="7" name="內容版面配置區 3"/>
          <p:cNvGraphicFramePr>
            <a:graphicFrameLocks/>
          </p:cNvGraphicFramePr>
          <p:nvPr>
            <p:extLst>
              <p:ext uri="{D42A27DB-BD31-4B8C-83A1-F6EECF244321}">
                <p14:modId xmlns:p14="http://schemas.microsoft.com/office/powerpoint/2010/main" val="3027787439"/>
              </p:ext>
            </p:extLst>
          </p:nvPr>
        </p:nvGraphicFramePr>
        <p:xfrm>
          <a:off x="1141413" y="2249488"/>
          <a:ext cx="9906000" cy="296672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3397221537"/>
                    </a:ext>
                  </a:extLst>
                </a:gridCol>
                <a:gridCol w="1651000">
                  <a:extLst>
                    <a:ext uri="{9D8B030D-6E8A-4147-A177-3AD203B41FA5}">
                      <a16:colId xmlns:a16="http://schemas.microsoft.com/office/drawing/2014/main" val="390932910"/>
                    </a:ext>
                  </a:extLst>
                </a:gridCol>
                <a:gridCol w="1651000">
                  <a:extLst>
                    <a:ext uri="{9D8B030D-6E8A-4147-A177-3AD203B41FA5}">
                      <a16:colId xmlns:a16="http://schemas.microsoft.com/office/drawing/2014/main" val="326201479"/>
                    </a:ext>
                  </a:extLst>
                </a:gridCol>
                <a:gridCol w="1651000">
                  <a:extLst>
                    <a:ext uri="{9D8B030D-6E8A-4147-A177-3AD203B41FA5}">
                      <a16:colId xmlns:a16="http://schemas.microsoft.com/office/drawing/2014/main" val="1600667871"/>
                    </a:ext>
                  </a:extLst>
                </a:gridCol>
                <a:gridCol w="1651000">
                  <a:extLst>
                    <a:ext uri="{9D8B030D-6E8A-4147-A177-3AD203B41FA5}">
                      <a16:colId xmlns:a16="http://schemas.microsoft.com/office/drawing/2014/main" val="2986742347"/>
                    </a:ext>
                  </a:extLst>
                </a:gridCol>
                <a:gridCol w="1651000">
                  <a:extLst>
                    <a:ext uri="{9D8B030D-6E8A-4147-A177-3AD203B41FA5}">
                      <a16:colId xmlns:a16="http://schemas.microsoft.com/office/drawing/2014/main" val="1765620504"/>
                    </a:ext>
                  </a:extLst>
                </a:gridCol>
              </a:tblGrid>
              <a:tr h="370840">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菇菇編號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外觀</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顏色</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生長環境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味道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是否有毒</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828204579"/>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1</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101992836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2</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33315290"/>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3</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白</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395638807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4</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8797040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腥味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44863474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6</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742331038"/>
                  </a:ext>
                </a:extLst>
              </a:tr>
              <a:tr h="370840">
                <a:tc>
                  <a:txBody>
                    <a:bodyPr/>
                    <a:lstStyle/>
                    <a:p>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答案</a:t>
                      </a:r>
                    </a:p>
                  </a:txBody>
                  <a:tcPr/>
                </a:tc>
                <a:extLst>
                  <a:ext uri="{0D108BD9-81ED-4DB2-BD59-A6C34878D82A}">
                    <a16:rowId xmlns:a16="http://schemas.microsoft.com/office/drawing/2014/main" val="1214652521"/>
                  </a:ext>
                </a:extLst>
              </a:tr>
            </a:tbl>
          </a:graphicData>
        </a:graphic>
      </p:graphicFrame>
      <p:sp>
        <p:nvSpPr>
          <p:cNvPr id="8" name="向下箭號 7"/>
          <p:cNvSpPr/>
          <p:nvPr/>
        </p:nvSpPr>
        <p:spPr>
          <a:xfrm flipV="1">
            <a:off x="4927600" y="6288088"/>
            <a:ext cx="546100" cy="4794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4787900" y="5313680"/>
            <a:ext cx="825500" cy="437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latin typeface="微軟正黑體" panose="020B0604030504040204" pitchFamily="34" charset="-120"/>
                <a:ea typeface="微軟正黑體" panose="020B0604030504040204" pitchFamily="34" charset="-120"/>
              </a:rPr>
              <a:t>100%</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99743430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5" name="矩形 4"/>
          <p:cNvSpPr/>
          <p:nvPr/>
        </p:nvSpPr>
        <p:spPr>
          <a:xfrm>
            <a:off x="7137400" y="192088"/>
            <a:ext cx="4953000" cy="1320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本範例是設計用來說明機器學習的</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，請勿參考此表格來判別食材有沒有毒</a:t>
            </a:r>
          </a:p>
        </p:txBody>
      </p:sp>
      <p:graphicFrame>
        <p:nvGraphicFramePr>
          <p:cNvPr id="3" name="表格 2"/>
          <p:cNvGraphicFramePr>
            <a:graphicFrameLocks noGrp="1"/>
          </p:cNvGraphicFramePr>
          <p:nvPr/>
        </p:nvGraphicFramePr>
        <p:xfrm>
          <a:off x="1141413" y="5848668"/>
          <a:ext cx="9906000" cy="370840"/>
        </p:xfrm>
        <a:graphic>
          <a:graphicData uri="http://schemas.openxmlformats.org/drawingml/2006/table">
            <a:tbl>
              <a:tblPr firstRow="1" bandRow="1">
                <a:tableStyleId>{00A15C55-8517-42AA-B614-E9B94910E393}</a:tableStyleId>
              </a:tblPr>
              <a:tblGrid>
                <a:gridCol w="1651000">
                  <a:extLst>
                    <a:ext uri="{9D8B030D-6E8A-4147-A177-3AD203B41FA5}">
                      <a16:colId xmlns:a16="http://schemas.microsoft.com/office/drawing/2014/main" val="3771633464"/>
                    </a:ext>
                  </a:extLst>
                </a:gridCol>
                <a:gridCol w="1651000">
                  <a:extLst>
                    <a:ext uri="{9D8B030D-6E8A-4147-A177-3AD203B41FA5}">
                      <a16:colId xmlns:a16="http://schemas.microsoft.com/office/drawing/2014/main" val="4032618944"/>
                    </a:ext>
                  </a:extLst>
                </a:gridCol>
                <a:gridCol w="1651000">
                  <a:extLst>
                    <a:ext uri="{9D8B030D-6E8A-4147-A177-3AD203B41FA5}">
                      <a16:colId xmlns:a16="http://schemas.microsoft.com/office/drawing/2014/main" val="3069432607"/>
                    </a:ext>
                  </a:extLst>
                </a:gridCol>
                <a:gridCol w="1651000">
                  <a:extLst>
                    <a:ext uri="{9D8B030D-6E8A-4147-A177-3AD203B41FA5}">
                      <a16:colId xmlns:a16="http://schemas.microsoft.com/office/drawing/2014/main" val="322634709"/>
                    </a:ext>
                  </a:extLst>
                </a:gridCol>
                <a:gridCol w="1651000">
                  <a:extLst>
                    <a:ext uri="{9D8B030D-6E8A-4147-A177-3AD203B41FA5}">
                      <a16:colId xmlns:a16="http://schemas.microsoft.com/office/drawing/2014/main" val="2592017647"/>
                    </a:ext>
                  </a:extLst>
                </a:gridCol>
                <a:gridCol w="1651000">
                  <a:extLst>
                    <a:ext uri="{9D8B030D-6E8A-4147-A177-3AD203B41FA5}">
                      <a16:colId xmlns:a16="http://schemas.microsoft.com/office/drawing/2014/main" val="2503314286"/>
                    </a:ext>
                  </a:extLst>
                </a:gridCol>
              </a:tblGrid>
              <a:tr h="370840">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手上的菇菇</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980059285"/>
                  </a:ext>
                </a:extLst>
              </a:tr>
            </a:tbl>
          </a:graphicData>
        </a:graphic>
      </p:graphicFrame>
      <p:sp>
        <p:nvSpPr>
          <p:cNvPr id="6" name="內容版面配置區 5"/>
          <p:cNvSpPr>
            <a:spLocks noGrp="1"/>
          </p:cNvSpPr>
          <p:nvPr>
            <p:ph idx="1"/>
          </p:nvPr>
        </p:nvSpPr>
        <p:spPr/>
        <p:txBody>
          <a:bodyPr/>
          <a:lstStyle/>
          <a:p>
            <a:endParaRPr lang="zh-TW" altLang="en-US"/>
          </a:p>
        </p:txBody>
      </p:sp>
      <p:graphicFrame>
        <p:nvGraphicFramePr>
          <p:cNvPr id="7" name="內容版面配置區 3"/>
          <p:cNvGraphicFramePr>
            <a:graphicFrameLocks/>
          </p:cNvGraphicFramePr>
          <p:nvPr>
            <p:extLst>
              <p:ext uri="{D42A27DB-BD31-4B8C-83A1-F6EECF244321}">
                <p14:modId xmlns:p14="http://schemas.microsoft.com/office/powerpoint/2010/main" val="3343867701"/>
              </p:ext>
            </p:extLst>
          </p:nvPr>
        </p:nvGraphicFramePr>
        <p:xfrm>
          <a:off x="1141413" y="2249488"/>
          <a:ext cx="9906000" cy="296672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3397221537"/>
                    </a:ext>
                  </a:extLst>
                </a:gridCol>
                <a:gridCol w="1651000">
                  <a:extLst>
                    <a:ext uri="{9D8B030D-6E8A-4147-A177-3AD203B41FA5}">
                      <a16:colId xmlns:a16="http://schemas.microsoft.com/office/drawing/2014/main" val="390932910"/>
                    </a:ext>
                  </a:extLst>
                </a:gridCol>
                <a:gridCol w="1651000">
                  <a:extLst>
                    <a:ext uri="{9D8B030D-6E8A-4147-A177-3AD203B41FA5}">
                      <a16:colId xmlns:a16="http://schemas.microsoft.com/office/drawing/2014/main" val="326201479"/>
                    </a:ext>
                  </a:extLst>
                </a:gridCol>
                <a:gridCol w="1651000">
                  <a:extLst>
                    <a:ext uri="{9D8B030D-6E8A-4147-A177-3AD203B41FA5}">
                      <a16:colId xmlns:a16="http://schemas.microsoft.com/office/drawing/2014/main" val="1600667871"/>
                    </a:ext>
                  </a:extLst>
                </a:gridCol>
                <a:gridCol w="1651000">
                  <a:extLst>
                    <a:ext uri="{9D8B030D-6E8A-4147-A177-3AD203B41FA5}">
                      <a16:colId xmlns:a16="http://schemas.microsoft.com/office/drawing/2014/main" val="2986742347"/>
                    </a:ext>
                  </a:extLst>
                </a:gridCol>
                <a:gridCol w="1651000">
                  <a:extLst>
                    <a:ext uri="{9D8B030D-6E8A-4147-A177-3AD203B41FA5}">
                      <a16:colId xmlns:a16="http://schemas.microsoft.com/office/drawing/2014/main" val="1765620504"/>
                    </a:ext>
                  </a:extLst>
                </a:gridCol>
              </a:tblGrid>
              <a:tr h="370840">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菇菇編號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外觀</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顏色</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生長環境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味道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是否有毒</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828204579"/>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1</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101992836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2</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33315290"/>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3</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白</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395638807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4</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8797040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腥味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44863474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6</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742331038"/>
                  </a:ext>
                </a:extLst>
              </a:tr>
              <a:tr h="370840">
                <a:tc>
                  <a:txBody>
                    <a:bodyPr/>
                    <a:lstStyle/>
                    <a:p>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答案</a:t>
                      </a:r>
                    </a:p>
                  </a:txBody>
                  <a:tcPr/>
                </a:tc>
                <a:extLst>
                  <a:ext uri="{0D108BD9-81ED-4DB2-BD59-A6C34878D82A}">
                    <a16:rowId xmlns:a16="http://schemas.microsoft.com/office/drawing/2014/main" val="1214652521"/>
                  </a:ext>
                </a:extLst>
              </a:tr>
            </a:tbl>
          </a:graphicData>
        </a:graphic>
      </p:graphicFrame>
      <p:sp>
        <p:nvSpPr>
          <p:cNvPr id="8" name="向下箭號 7"/>
          <p:cNvSpPr/>
          <p:nvPr/>
        </p:nvSpPr>
        <p:spPr>
          <a:xfrm flipV="1">
            <a:off x="6616700" y="6288090"/>
            <a:ext cx="546100" cy="4794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6477000" y="5313682"/>
            <a:ext cx="825500" cy="437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latin typeface="微軟正黑體" panose="020B0604030504040204" pitchFamily="34" charset="-120"/>
                <a:ea typeface="微軟正黑體" panose="020B0604030504040204" pitchFamily="34" charset="-120"/>
              </a:rPr>
              <a:t>50%</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40309342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5" name="矩形 4"/>
          <p:cNvSpPr/>
          <p:nvPr/>
        </p:nvSpPr>
        <p:spPr>
          <a:xfrm>
            <a:off x="7137400" y="192088"/>
            <a:ext cx="4953000" cy="1320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本範例是設計用來說明機器學習的</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，請勿參考此表格來判別食材有沒有毒</a:t>
            </a:r>
          </a:p>
        </p:txBody>
      </p:sp>
      <p:graphicFrame>
        <p:nvGraphicFramePr>
          <p:cNvPr id="3" name="表格 2"/>
          <p:cNvGraphicFramePr>
            <a:graphicFrameLocks noGrp="1"/>
          </p:cNvGraphicFramePr>
          <p:nvPr/>
        </p:nvGraphicFramePr>
        <p:xfrm>
          <a:off x="1141413" y="5848668"/>
          <a:ext cx="9906000" cy="370840"/>
        </p:xfrm>
        <a:graphic>
          <a:graphicData uri="http://schemas.openxmlformats.org/drawingml/2006/table">
            <a:tbl>
              <a:tblPr firstRow="1" bandRow="1">
                <a:tableStyleId>{00A15C55-8517-42AA-B614-E9B94910E393}</a:tableStyleId>
              </a:tblPr>
              <a:tblGrid>
                <a:gridCol w="1651000">
                  <a:extLst>
                    <a:ext uri="{9D8B030D-6E8A-4147-A177-3AD203B41FA5}">
                      <a16:colId xmlns:a16="http://schemas.microsoft.com/office/drawing/2014/main" val="3771633464"/>
                    </a:ext>
                  </a:extLst>
                </a:gridCol>
                <a:gridCol w="1651000">
                  <a:extLst>
                    <a:ext uri="{9D8B030D-6E8A-4147-A177-3AD203B41FA5}">
                      <a16:colId xmlns:a16="http://schemas.microsoft.com/office/drawing/2014/main" val="4032618944"/>
                    </a:ext>
                  </a:extLst>
                </a:gridCol>
                <a:gridCol w="1651000">
                  <a:extLst>
                    <a:ext uri="{9D8B030D-6E8A-4147-A177-3AD203B41FA5}">
                      <a16:colId xmlns:a16="http://schemas.microsoft.com/office/drawing/2014/main" val="3069432607"/>
                    </a:ext>
                  </a:extLst>
                </a:gridCol>
                <a:gridCol w="1651000">
                  <a:extLst>
                    <a:ext uri="{9D8B030D-6E8A-4147-A177-3AD203B41FA5}">
                      <a16:colId xmlns:a16="http://schemas.microsoft.com/office/drawing/2014/main" val="322634709"/>
                    </a:ext>
                  </a:extLst>
                </a:gridCol>
                <a:gridCol w="1651000">
                  <a:extLst>
                    <a:ext uri="{9D8B030D-6E8A-4147-A177-3AD203B41FA5}">
                      <a16:colId xmlns:a16="http://schemas.microsoft.com/office/drawing/2014/main" val="2592017647"/>
                    </a:ext>
                  </a:extLst>
                </a:gridCol>
                <a:gridCol w="1651000">
                  <a:extLst>
                    <a:ext uri="{9D8B030D-6E8A-4147-A177-3AD203B41FA5}">
                      <a16:colId xmlns:a16="http://schemas.microsoft.com/office/drawing/2014/main" val="2503314286"/>
                    </a:ext>
                  </a:extLst>
                </a:gridCol>
              </a:tblGrid>
              <a:tr h="370840">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手上的菇菇</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980059285"/>
                  </a:ext>
                </a:extLst>
              </a:tr>
            </a:tbl>
          </a:graphicData>
        </a:graphic>
      </p:graphicFrame>
      <p:sp>
        <p:nvSpPr>
          <p:cNvPr id="6" name="內容版面配置區 5"/>
          <p:cNvSpPr>
            <a:spLocks noGrp="1"/>
          </p:cNvSpPr>
          <p:nvPr>
            <p:ph idx="1"/>
          </p:nvPr>
        </p:nvSpPr>
        <p:spPr/>
        <p:txBody>
          <a:bodyPr/>
          <a:lstStyle/>
          <a:p>
            <a:endParaRPr lang="zh-TW" altLang="en-US" dirty="0"/>
          </a:p>
        </p:txBody>
      </p:sp>
      <p:graphicFrame>
        <p:nvGraphicFramePr>
          <p:cNvPr id="7" name="內容版面配置區 3"/>
          <p:cNvGraphicFramePr>
            <a:graphicFrameLocks/>
          </p:cNvGraphicFramePr>
          <p:nvPr>
            <p:extLst>
              <p:ext uri="{D42A27DB-BD31-4B8C-83A1-F6EECF244321}">
                <p14:modId xmlns:p14="http://schemas.microsoft.com/office/powerpoint/2010/main" val="2126721309"/>
              </p:ext>
            </p:extLst>
          </p:nvPr>
        </p:nvGraphicFramePr>
        <p:xfrm>
          <a:off x="1141413" y="2249488"/>
          <a:ext cx="9906000" cy="296672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3397221537"/>
                    </a:ext>
                  </a:extLst>
                </a:gridCol>
                <a:gridCol w="1651000">
                  <a:extLst>
                    <a:ext uri="{9D8B030D-6E8A-4147-A177-3AD203B41FA5}">
                      <a16:colId xmlns:a16="http://schemas.microsoft.com/office/drawing/2014/main" val="390932910"/>
                    </a:ext>
                  </a:extLst>
                </a:gridCol>
                <a:gridCol w="1651000">
                  <a:extLst>
                    <a:ext uri="{9D8B030D-6E8A-4147-A177-3AD203B41FA5}">
                      <a16:colId xmlns:a16="http://schemas.microsoft.com/office/drawing/2014/main" val="326201479"/>
                    </a:ext>
                  </a:extLst>
                </a:gridCol>
                <a:gridCol w="1651000">
                  <a:extLst>
                    <a:ext uri="{9D8B030D-6E8A-4147-A177-3AD203B41FA5}">
                      <a16:colId xmlns:a16="http://schemas.microsoft.com/office/drawing/2014/main" val="1600667871"/>
                    </a:ext>
                  </a:extLst>
                </a:gridCol>
                <a:gridCol w="1651000">
                  <a:extLst>
                    <a:ext uri="{9D8B030D-6E8A-4147-A177-3AD203B41FA5}">
                      <a16:colId xmlns:a16="http://schemas.microsoft.com/office/drawing/2014/main" val="2986742347"/>
                    </a:ext>
                  </a:extLst>
                </a:gridCol>
                <a:gridCol w="1651000">
                  <a:extLst>
                    <a:ext uri="{9D8B030D-6E8A-4147-A177-3AD203B41FA5}">
                      <a16:colId xmlns:a16="http://schemas.microsoft.com/office/drawing/2014/main" val="1765620504"/>
                    </a:ext>
                  </a:extLst>
                </a:gridCol>
              </a:tblGrid>
              <a:tr h="370840">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菇菇編號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外觀</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顏色</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生長環境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味道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是否有毒</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828204579"/>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1</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無</a:t>
                      </a:r>
                    </a:p>
                  </a:txBody>
                  <a:tcPr/>
                </a:tc>
                <a:tc>
                  <a:txBody>
                    <a:bodyPr/>
                    <a:lstStyle/>
                    <a:p>
                      <a:r>
                        <a:rPr lang="zh-TW" altLang="en-US" dirty="0">
                          <a:solidFill>
                            <a:srgbClr val="FF0000"/>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101992836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2</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33315290"/>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3</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白</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395638807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4</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8797040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腥味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44863474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6</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742331038"/>
                  </a:ext>
                </a:extLst>
              </a:tr>
              <a:tr h="370840">
                <a:tc>
                  <a:txBody>
                    <a:bodyPr/>
                    <a:lstStyle/>
                    <a:p>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答案</a:t>
                      </a:r>
                    </a:p>
                  </a:txBody>
                  <a:tcPr/>
                </a:tc>
                <a:extLst>
                  <a:ext uri="{0D108BD9-81ED-4DB2-BD59-A6C34878D82A}">
                    <a16:rowId xmlns:a16="http://schemas.microsoft.com/office/drawing/2014/main" val="1214652521"/>
                  </a:ext>
                </a:extLst>
              </a:tr>
            </a:tbl>
          </a:graphicData>
        </a:graphic>
      </p:graphicFrame>
      <p:sp>
        <p:nvSpPr>
          <p:cNvPr id="8" name="向下箭號 7"/>
          <p:cNvSpPr/>
          <p:nvPr/>
        </p:nvSpPr>
        <p:spPr>
          <a:xfrm flipV="1">
            <a:off x="8242300" y="6288088"/>
            <a:ext cx="546100" cy="4794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8102600" y="5313680"/>
            <a:ext cx="825500" cy="437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latin typeface="微軟正黑體" panose="020B0604030504040204" pitchFamily="34" charset="-120"/>
                <a:ea typeface="微軟正黑體" panose="020B0604030504040204" pitchFamily="34" charset="-120"/>
              </a:rPr>
              <a:t>100%</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3378314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5" name="矩形 4"/>
          <p:cNvSpPr/>
          <p:nvPr/>
        </p:nvSpPr>
        <p:spPr>
          <a:xfrm>
            <a:off x="7137400" y="192088"/>
            <a:ext cx="4953000" cy="1320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本範例是設計用來說明機器學習的</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，請勿參考此表格來判別食材有沒有毒</a:t>
            </a:r>
          </a:p>
        </p:txBody>
      </p:sp>
      <p:graphicFrame>
        <p:nvGraphicFramePr>
          <p:cNvPr id="3" name="表格 2"/>
          <p:cNvGraphicFramePr>
            <a:graphicFrameLocks noGrp="1"/>
          </p:cNvGraphicFramePr>
          <p:nvPr/>
        </p:nvGraphicFramePr>
        <p:xfrm>
          <a:off x="1141413" y="5848668"/>
          <a:ext cx="9906000" cy="370840"/>
        </p:xfrm>
        <a:graphic>
          <a:graphicData uri="http://schemas.openxmlformats.org/drawingml/2006/table">
            <a:tbl>
              <a:tblPr firstRow="1" bandRow="1">
                <a:tableStyleId>{00A15C55-8517-42AA-B614-E9B94910E393}</a:tableStyleId>
              </a:tblPr>
              <a:tblGrid>
                <a:gridCol w="1651000">
                  <a:extLst>
                    <a:ext uri="{9D8B030D-6E8A-4147-A177-3AD203B41FA5}">
                      <a16:colId xmlns:a16="http://schemas.microsoft.com/office/drawing/2014/main" val="3771633464"/>
                    </a:ext>
                  </a:extLst>
                </a:gridCol>
                <a:gridCol w="1651000">
                  <a:extLst>
                    <a:ext uri="{9D8B030D-6E8A-4147-A177-3AD203B41FA5}">
                      <a16:colId xmlns:a16="http://schemas.microsoft.com/office/drawing/2014/main" val="4032618944"/>
                    </a:ext>
                  </a:extLst>
                </a:gridCol>
                <a:gridCol w="1651000">
                  <a:extLst>
                    <a:ext uri="{9D8B030D-6E8A-4147-A177-3AD203B41FA5}">
                      <a16:colId xmlns:a16="http://schemas.microsoft.com/office/drawing/2014/main" val="3069432607"/>
                    </a:ext>
                  </a:extLst>
                </a:gridCol>
                <a:gridCol w="1651000">
                  <a:extLst>
                    <a:ext uri="{9D8B030D-6E8A-4147-A177-3AD203B41FA5}">
                      <a16:colId xmlns:a16="http://schemas.microsoft.com/office/drawing/2014/main" val="322634709"/>
                    </a:ext>
                  </a:extLst>
                </a:gridCol>
                <a:gridCol w="1651000">
                  <a:extLst>
                    <a:ext uri="{9D8B030D-6E8A-4147-A177-3AD203B41FA5}">
                      <a16:colId xmlns:a16="http://schemas.microsoft.com/office/drawing/2014/main" val="2592017647"/>
                    </a:ext>
                  </a:extLst>
                </a:gridCol>
                <a:gridCol w="1651000">
                  <a:extLst>
                    <a:ext uri="{9D8B030D-6E8A-4147-A177-3AD203B41FA5}">
                      <a16:colId xmlns:a16="http://schemas.microsoft.com/office/drawing/2014/main" val="2503314286"/>
                    </a:ext>
                  </a:extLst>
                </a:gridCol>
              </a:tblGrid>
              <a:tr h="370840">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手上的菇菇</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b="0"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980059285"/>
                  </a:ext>
                </a:extLst>
              </a:tr>
            </a:tbl>
          </a:graphicData>
        </a:graphic>
      </p:graphicFrame>
      <p:sp>
        <p:nvSpPr>
          <p:cNvPr id="6" name="內容版面配置區 5"/>
          <p:cNvSpPr>
            <a:spLocks noGrp="1"/>
          </p:cNvSpPr>
          <p:nvPr>
            <p:ph idx="1"/>
          </p:nvPr>
        </p:nvSpPr>
        <p:spPr/>
        <p:txBody>
          <a:bodyPr/>
          <a:lstStyle/>
          <a:p>
            <a:endParaRPr lang="zh-TW" altLang="en-US"/>
          </a:p>
        </p:txBody>
      </p:sp>
      <p:graphicFrame>
        <p:nvGraphicFramePr>
          <p:cNvPr id="7" name="內容版面配置區 3"/>
          <p:cNvGraphicFramePr>
            <a:graphicFrameLocks/>
          </p:cNvGraphicFramePr>
          <p:nvPr/>
        </p:nvGraphicFramePr>
        <p:xfrm>
          <a:off x="1141413" y="2249488"/>
          <a:ext cx="9906000" cy="296672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3397221537"/>
                    </a:ext>
                  </a:extLst>
                </a:gridCol>
                <a:gridCol w="1651000">
                  <a:extLst>
                    <a:ext uri="{9D8B030D-6E8A-4147-A177-3AD203B41FA5}">
                      <a16:colId xmlns:a16="http://schemas.microsoft.com/office/drawing/2014/main" val="390932910"/>
                    </a:ext>
                  </a:extLst>
                </a:gridCol>
                <a:gridCol w="1651000">
                  <a:extLst>
                    <a:ext uri="{9D8B030D-6E8A-4147-A177-3AD203B41FA5}">
                      <a16:colId xmlns:a16="http://schemas.microsoft.com/office/drawing/2014/main" val="326201479"/>
                    </a:ext>
                  </a:extLst>
                </a:gridCol>
                <a:gridCol w="1651000">
                  <a:extLst>
                    <a:ext uri="{9D8B030D-6E8A-4147-A177-3AD203B41FA5}">
                      <a16:colId xmlns:a16="http://schemas.microsoft.com/office/drawing/2014/main" val="1600667871"/>
                    </a:ext>
                  </a:extLst>
                </a:gridCol>
                <a:gridCol w="1651000">
                  <a:extLst>
                    <a:ext uri="{9D8B030D-6E8A-4147-A177-3AD203B41FA5}">
                      <a16:colId xmlns:a16="http://schemas.microsoft.com/office/drawing/2014/main" val="2986742347"/>
                    </a:ext>
                  </a:extLst>
                </a:gridCol>
                <a:gridCol w="1651000">
                  <a:extLst>
                    <a:ext uri="{9D8B030D-6E8A-4147-A177-3AD203B41FA5}">
                      <a16:colId xmlns:a16="http://schemas.microsoft.com/office/drawing/2014/main" val="1765620504"/>
                    </a:ext>
                  </a:extLst>
                </a:gridCol>
              </a:tblGrid>
              <a:tr h="370840">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菇菇編號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外觀</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顏色</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生長環境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味道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是否有毒</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828204579"/>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1</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101992836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2</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草堆</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33315290"/>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3</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白</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395638807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4</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solidFill>
                            <a:schemeClr val="bg1"/>
                          </a:solidFill>
                          <a:latin typeface="微軟正黑體" panose="020B0604030504040204" pitchFamily="34" charset="-120"/>
                          <a:ea typeface="微軟正黑體" panose="020B0604030504040204" pitchFamily="34" charset="-120"/>
                        </a:rPr>
                        <a:t>圓錐形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黑白相間</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腐木</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霉味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2287970404"/>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球形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腥味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有毒</a:t>
                      </a:r>
                    </a:p>
                  </a:txBody>
                  <a:tcPr/>
                </a:tc>
                <a:extLst>
                  <a:ext uri="{0D108BD9-81ED-4DB2-BD59-A6C34878D82A}">
                    <a16:rowId xmlns:a16="http://schemas.microsoft.com/office/drawing/2014/main" val="448634747"/>
                  </a:ext>
                </a:extLst>
              </a:tr>
              <a:tr h="370840">
                <a:tc>
                  <a:txBody>
                    <a:bodyPr/>
                    <a:lstStyle/>
                    <a:p>
                      <a:r>
                        <a:rPr lang="en-US" altLang="zh-TW" dirty="0">
                          <a:solidFill>
                            <a:schemeClr val="bg1"/>
                          </a:solidFill>
                          <a:latin typeface="微軟正黑體" panose="020B0604030504040204" pitchFamily="34" charset="-120"/>
                          <a:ea typeface="微軟正黑體" panose="020B0604030504040204" pitchFamily="34" charset="-120"/>
                        </a:rPr>
                        <a:t>6</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扁平形</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黃</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泥土</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臭味</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無毒</a:t>
                      </a:r>
                    </a:p>
                  </a:txBody>
                  <a:tcPr/>
                </a:tc>
                <a:extLst>
                  <a:ext uri="{0D108BD9-81ED-4DB2-BD59-A6C34878D82A}">
                    <a16:rowId xmlns:a16="http://schemas.microsoft.com/office/drawing/2014/main" val="742331038"/>
                  </a:ext>
                </a:extLst>
              </a:tr>
              <a:tr h="370840">
                <a:tc>
                  <a:txBody>
                    <a:bodyPr/>
                    <a:lstStyle/>
                    <a:p>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特徵</a:t>
                      </a:r>
                    </a:p>
                  </a:txBody>
                  <a:tcPr/>
                </a:tc>
                <a:tc>
                  <a:txBody>
                    <a:bodyPr/>
                    <a:lstStyle/>
                    <a:p>
                      <a:r>
                        <a:rPr lang="zh-TW" altLang="en-US" dirty="0">
                          <a:solidFill>
                            <a:schemeClr val="bg1"/>
                          </a:solidFill>
                          <a:latin typeface="微軟正黑體" panose="020B0604030504040204" pitchFamily="34" charset="-120"/>
                          <a:ea typeface="微軟正黑體" panose="020B0604030504040204" pitchFamily="34" charset="-120"/>
                        </a:rPr>
                        <a:t>答案</a:t>
                      </a:r>
                    </a:p>
                  </a:txBody>
                  <a:tcPr/>
                </a:tc>
                <a:extLst>
                  <a:ext uri="{0D108BD9-81ED-4DB2-BD59-A6C34878D82A}">
                    <a16:rowId xmlns:a16="http://schemas.microsoft.com/office/drawing/2014/main" val="1214652521"/>
                  </a:ext>
                </a:extLst>
              </a:tr>
            </a:tbl>
          </a:graphicData>
        </a:graphic>
      </p:graphicFrame>
      <p:sp>
        <p:nvSpPr>
          <p:cNvPr id="8" name="矩形 7"/>
          <p:cNvSpPr/>
          <p:nvPr/>
        </p:nvSpPr>
        <p:spPr>
          <a:xfrm>
            <a:off x="8102600" y="5313680"/>
            <a:ext cx="825500" cy="437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latin typeface="微軟正黑體" panose="020B0604030504040204" pitchFamily="34" charset="-120"/>
                <a:ea typeface="微軟正黑體" panose="020B0604030504040204" pitchFamily="34" charset="-120"/>
              </a:rPr>
              <a:t>100%</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
        <p:nvSpPr>
          <p:cNvPr id="9" name="矩形 8"/>
          <p:cNvSpPr/>
          <p:nvPr/>
        </p:nvSpPr>
        <p:spPr>
          <a:xfrm>
            <a:off x="6477000" y="5313682"/>
            <a:ext cx="825500" cy="437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latin typeface="微軟正黑體" panose="020B0604030504040204" pitchFamily="34" charset="-120"/>
                <a:ea typeface="微軟正黑體" panose="020B0604030504040204" pitchFamily="34" charset="-120"/>
              </a:rPr>
              <a:t>50%</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
        <p:nvSpPr>
          <p:cNvPr id="10" name="矩形 9"/>
          <p:cNvSpPr/>
          <p:nvPr/>
        </p:nvSpPr>
        <p:spPr>
          <a:xfrm>
            <a:off x="4787900" y="5313680"/>
            <a:ext cx="825500" cy="437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latin typeface="微軟正黑體" panose="020B0604030504040204" pitchFamily="34" charset="-120"/>
                <a:ea typeface="微軟正黑體" panose="020B0604030504040204" pitchFamily="34" charset="-120"/>
              </a:rPr>
              <a:t>100%</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
        <p:nvSpPr>
          <p:cNvPr id="11" name="矩形 10"/>
          <p:cNvSpPr/>
          <p:nvPr/>
        </p:nvSpPr>
        <p:spPr>
          <a:xfrm>
            <a:off x="3009900" y="5327968"/>
            <a:ext cx="825500" cy="437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latin typeface="微軟正黑體" panose="020B0604030504040204" pitchFamily="34" charset="-120"/>
                <a:ea typeface="微軟正黑體" panose="020B0604030504040204" pitchFamily="34" charset="-120"/>
              </a:rPr>
              <a:t>100%</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
        <p:nvSpPr>
          <p:cNvPr id="12" name="矩形 11"/>
          <p:cNvSpPr/>
          <p:nvPr/>
        </p:nvSpPr>
        <p:spPr>
          <a:xfrm>
            <a:off x="9728200" y="5327968"/>
            <a:ext cx="825500" cy="437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rgbClr val="FF0000"/>
                </a:solidFill>
                <a:latin typeface="微軟正黑體" panose="020B0604030504040204" pitchFamily="34" charset="-120"/>
                <a:ea typeface="微軟正黑體" panose="020B0604030504040204" pitchFamily="34" charset="-120"/>
              </a:rPr>
              <a:t>有毒</a:t>
            </a:r>
          </a:p>
        </p:txBody>
      </p:sp>
    </p:spTree>
    <p:extLst>
      <p:ext uri="{BB962C8B-B14F-4D97-AF65-F5344CB8AC3E}">
        <p14:creationId xmlns:p14="http://schemas.microsoft.com/office/powerpoint/2010/main" val="34265219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很明顯地，要實現機器學習的概念，首先必須要有大量的資料做為後盾</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同時，由於科技的進步，收集大量且可用的資料變得一點也不困難</a:t>
            </a:r>
          </a:p>
        </p:txBody>
      </p:sp>
    </p:spTree>
    <p:extLst>
      <p:ext uri="{BB962C8B-B14F-4D97-AF65-F5344CB8AC3E}">
        <p14:creationId xmlns:p14="http://schemas.microsoft.com/office/powerpoint/2010/main" val="39556748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3" name="內容版面配置區 2"/>
          <p:cNvSpPr>
            <a:spLocks noGrp="1"/>
          </p:cNvSpPr>
          <p:nvPr>
            <p:ph idx="1"/>
          </p:nvPr>
        </p:nvSpPr>
        <p:spPr/>
        <p:txBody>
          <a:bodyPr>
            <a:normAutofit/>
          </a:bodyPr>
          <a:lstStyle/>
          <a:p>
            <a:r>
              <a:rPr lang="zh-TW" altLang="en-US" dirty="0">
                <a:latin typeface="微軟正黑體" panose="020B0604030504040204" pitchFamily="34" charset="-120"/>
                <a:ea typeface="微軟正黑體" panose="020B0604030504040204" pitchFamily="34" charset="-120"/>
              </a:rPr>
              <a:t>由於通訊及半導體技術的進步，資料收集及儲存成本變得相當便宜</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Google</a:t>
            </a:r>
            <a:r>
              <a:rPr lang="zh-TW" altLang="en-US" dirty="0">
                <a:latin typeface="微軟正黑體" panose="020B0604030504040204" pitchFamily="34" charset="-120"/>
                <a:ea typeface="微軟正黑體" panose="020B0604030504040204" pitchFamily="34" charset="-120"/>
              </a:rPr>
              <a:t>每天要處理的資料量是美國國家圖書館所有紙本出版品資料量的千倍以上</a:t>
            </a:r>
          </a:p>
          <a:p>
            <a:pPr lvl="1"/>
            <a:r>
              <a:rPr lang="zh-TW" altLang="en-US" dirty="0">
                <a:latin typeface="微軟正黑體" panose="020B0604030504040204" pitchFamily="34" charset="-120"/>
                <a:ea typeface="微軟正黑體" panose="020B0604030504040204" pitchFamily="34" charset="-120"/>
              </a:rPr>
              <a:t>全球的</a:t>
            </a:r>
            <a:r>
              <a:rPr lang="en-US" altLang="zh-TW" dirty="0">
                <a:latin typeface="微軟正黑體" panose="020B0604030504040204" pitchFamily="34" charset="-120"/>
                <a:ea typeface="微軟正黑體" panose="020B0604030504040204" pitchFamily="34" charset="-120"/>
              </a:rPr>
              <a:t>YouTube</a:t>
            </a:r>
            <a:r>
              <a:rPr lang="zh-TW" altLang="en-US" dirty="0">
                <a:latin typeface="微軟正黑體" panose="020B0604030504040204" pitchFamily="34" charset="-120"/>
                <a:ea typeface="微軟正黑體" panose="020B0604030504040204" pitchFamily="34" charset="-120"/>
              </a:rPr>
              <a:t>使用者每天在線上觀看影片的總時數達上億小時</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30</a:t>
            </a:r>
            <a:r>
              <a:rPr lang="zh-TW" altLang="en-US" dirty="0">
                <a:latin typeface="微軟正黑體" panose="020B0604030504040204" pitchFamily="34" charset="-120"/>
                <a:ea typeface="微軟正黑體" panose="020B0604030504040204" pitchFamily="34" charset="-120"/>
              </a:rPr>
              <a:t>多年前，</a:t>
            </a:r>
            <a:r>
              <a:rPr lang="en-US" altLang="zh-TW" dirty="0">
                <a:latin typeface="微軟正黑體" panose="020B0604030504040204" pitchFamily="34" charset="-120"/>
                <a:ea typeface="微軟正黑體" panose="020B0604030504040204" pitchFamily="34" charset="-120"/>
              </a:rPr>
              <a:t>1TB</a:t>
            </a:r>
            <a:r>
              <a:rPr lang="zh-TW" altLang="en-US" dirty="0">
                <a:latin typeface="微軟正黑體" panose="020B0604030504040204" pitchFamily="34" charset="-120"/>
                <a:ea typeface="微軟正黑體" panose="020B0604030504040204" pitchFamily="34" charset="-120"/>
              </a:rPr>
              <a:t>資料的儲存成本為</a:t>
            </a:r>
            <a:r>
              <a:rPr lang="en-US" altLang="zh-TW" dirty="0">
                <a:latin typeface="微軟正黑體" panose="020B0604030504040204" pitchFamily="34" charset="-120"/>
                <a:ea typeface="微軟正黑體" panose="020B0604030504040204" pitchFamily="34" charset="-120"/>
              </a:rPr>
              <a:t>16</a:t>
            </a:r>
            <a:r>
              <a:rPr lang="zh-TW" altLang="en-US" dirty="0">
                <a:latin typeface="微軟正黑體" panose="020B0604030504040204" pitchFamily="34" charset="-120"/>
                <a:ea typeface="微軟正黑體" panose="020B0604030504040204" pitchFamily="34" charset="-120"/>
              </a:rPr>
              <a:t>億美金，現在一個</a:t>
            </a:r>
            <a:r>
              <a:rPr lang="en-US" altLang="zh-TW" dirty="0">
                <a:latin typeface="微軟正黑體" panose="020B0604030504040204" pitchFamily="34" charset="-120"/>
                <a:ea typeface="微軟正黑體" panose="020B0604030504040204" pitchFamily="34" charset="-120"/>
              </a:rPr>
              <a:t>1TB</a:t>
            </a:r>
            <a:r>
              <a:rPr lang="zh-TW" altLang="en-US" dirty="0">
                <a:latin typeface="微軟正黑體" panose="020B0604030504040204" pitchFamily="34" charset="-120"/>
                <a:ea typeface="微軟正黑體" panose="020B0604030504040204" pitchFamily="34" charset="-120"/>
              </a:rPr>
              <a:t>的硬碟不到</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美金</a:t>
            </a:r>
          </a:p>
        </p:txBody>
      </p:sp>
    </p:spTree>
    <p:extLst>
      <p:ext uri="{BB962C8B-B14F-4D97-AF65-F5344CB8AC3E}">
        <p14:creationId xmlns:p14="http://schemas.microsoft.com/office/powerpoint/2010/main" val="28286388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機器是怎麼學東西的</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上述條件提供了機器學習極佳的發展環境，直接地加速了機器學習相關技術的發展</a:t>
            </a:r>
            <a:endParaRPr lang="en-US" altLang="zh-TW"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8731839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276797049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機器學習演算法的分類</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常見的機器學習演算法分類類別：</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監督式學習（</a:t>
            </a:r>
            <a:r>
              <a:rPr lang="en-US" altLang="zh-TW" dirty="0">
                <a:latin typeface="微軟正黑體" panose="020B0604030504040204" pitchFamily="34" charset="-120"/>
                <a:ea typeface="微軟正黑體" panose="020B0604030504040204" pitchFamily="34" charset="-120"/>
              </a:rPr>
              <a:t>Supervised Learning</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非監督式學習（</a:t>
            </a:r>
            <a:r>
              <a:rPr lang="en-US" altLang="zh-TW" dirty="0">
                <a:latin typeface="微軟正黑體" panose="020B0604030504040204" pitchFamily="34" charset="-120"/>
                <a:ea typeface="微軟正黑體" panose="020B0604030504040204" pitchFamily="34" charset="-120"/>
              </a:rPr>
              <a:t>Unsupervised Learning</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半監督式學習（</a:t>
            </a:r>
            <a:r>
              <a:rPr lang="en-US" altLang="zh-TW" dirty="0">
                <a:latin typeface="微軟正黑體" panose="020B0604030504040204" pitchFamily="34" charset="-120"/>
                <a:ea typeface="微軟正黑體" panose="020B0604030504040204" pitchFamily="34" charset="-120"/>
              </a:rPr>
              <a:t>Semi-supervised learning</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增強學習（</a:t>
            </a:r>
            <a:r>
              <a:rPr lang="en-US" altLang="zh-TW" dirty="0">
                <a:latin typeface="微軟正黑體" panose="020B0604030504040204" pitchFamily="34" charset="-120"/>
                <a:ea typeface="微軟正黑體" panose="020B0604030504040204" pitchFamily="34" charset="-120"/>
              </a:rPr>
              <a:t>Reinforcement learning</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38522290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機器學習演算法的分類</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監督式學習（</a:t>
            </a:r>
            <a:r>
              <a:rPr lang="en-US" altLang="zh-TW" dirty="0">
                <a:latin typeface="微軟正黑體" panose="020B0604030504040204" pitchFamily="34" charset="-120"/>
                <a:ea typeface="微軟正黑體" panose="020B0604030504040204" pitchFamily="34" charset="-120"/>
              </a:rPr>
              <a:t>Supervised Learning</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所有資料都有答案，提供機器學習輸出時判斷使用</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提供一些動物照片並且事先標記（</a:t>
            </a:r>
            <a:r>
              <a:rPr lang="en-US" altLang="zh-TW" dirty="0">
                <a:latin typeface="微軟正黑體" panose="020B0604030504040204" pitchFamily="34" charset="-120"/>
                <a:ea typeface="微軟正黑體" panose="020B0604030504040204" pitchFamily="34" charset="-120"/>
              </a:rPr>
              <a:t>label</a:t>
            </a:r>
            <a:r>
              <a:rPr lang="zh-TW" altLang="en-US" dirty="0">
                <a:latin typeface="微軟正黑體" panose="020B0604030504040204" pitchFamily="34" charset="-120"/>
                <a:ea typeface="微軟正黑體" panose="020B0604030504040204" pitchFamily="34" charset="-120"/>
              </a:rPr>
              <a:t>）哪些是狗</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哪些是貓</a:t>
            </a:r>
            <a:r>
              <a:rPr lang="en-US" altLang="zh-TW"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因為已經標記了答案，接下來就是把照片內的特徵（</a:t>
            </a:r>
            <a:r>
              <a:rPr lang="en-US" altLang="zh-TW" dirty="0">
                <a:latin typeface="微軟正黑體" panose="020B0604030504040204" pitchFamily="34" charset="-120"/>
                <a:ea typeface="微軟正黑體" panose="020B0604030504040204" pitchFamily="34" charset="-120"/>
              </a:rPr>
              <a:t>feature</a:t>
            </a:r>
            <a:r>
              <a:rPr lang="zh-TW" altLang="en-US" dirty="0">
                <a:latin typeface="微軟正黑體" panose="020B0604030504040204" pitchFamily="34" charset="-120"/>
                <a:ea typeface="微軟正黑體" panose="020B0604030504040204" pitchFamily="34" charset="-120"/>
              </a:rPr>
              <a:t>）取出來，將來預測時只要比對已知的特徵就可以辨識貓</a:t>
            </a:r>
          </a:p>
          <a:p>
            <a:pPr lvl="2"/>
            <a:r>
              <a:rPr lang="zh-TW" altLang="en-US" dirty="0">
                <a:latin typeface="微軟正黑體" panose="020B0604030504040204" pitchFamily="34" charset="-120"/>
                <a:ea typeface="微軟正黑體" panose="020B0604030504040204" pitchFamily="34" charset="-120"/>
              </a:rPr>
              <a:t>四隻腳、尖耳朵、長鬍子</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pic>
        <p:nvPicPr>
          <p:cNvPr id="4" name="圖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64220" y="175933"/>
            <a:ext cx="3548380" cy="2363739"/>
          </a:xfrm>
          <a:prstGeom prst="rect">
            <a:avLst/>
          </a:prstGeom>
        </p:spPr>
      </p:pic>
    </p:spTree>
    <p:extLst>
      <p:ext uri="{BB962C8B-B14F-4D97-AF65-F5344CB8AC3E}">
        <p14:creationId xmlns:p14="http://schemas.microsoft.com/office/powerpoint/2010/main" val="7313739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機器學習演算法的分類</a:t>
            </a:r>
          </a:p>
        </p:txBody>
      </p:sp>
      <p:sp>
        <p:nvSpPr>
          <p:cNvPr id="3" name="內容版面配置區 2"/>
          <p:cNvSpPr>
            <a:spLocks noGrp="1"/>
          </p:cNvSpPr>
          <p:nvPr>
            <p:ph idx="1"/>
          </p:nvPr>
        </p:nvSpPr>
        <p:spPr/>
        <p:txBody>
          <a:bodyPr>
            <a:normAutofit/>
          </a:bodyPr>
          <a:lstStyle/>
          <a:p>
            <a:r>
              <a:rPr lang="zh-TW" altLang="en-US" dirty="0">
                <a:latin typeface="微軟正黑體" panose="020B0604030504040204" pitchFamily="34" charset="-120"/>
                <a:ea typeface="微軟正黑體" panose="020B0604030504040204" pitchFamily="34" charset="-120"/>
              </a:rPr>
              <a:t>非監督式學習（</a:t>
            </a:r>
            <a:r>
              <a:rPr lang="en-US" altLang="zh-TW" dirty="0">
                <a:latin typeface="微軟正黑體" panose="020B0604030504040204" pitchFamily="34" charset="-120"/>
                <a:ea typeface="微軟正黑體" panose="020B0604030504040204" pitchFamily="34" charset="-120"/>
              </a:rPr>
              <a:t>Unsupervised Learning</a:t>
            </a:r>
            <a:r>
              <a:rPr lang="zh-TW" altLang="en-US"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所有資料都沒有答案，無法提供機器學習輸出時判斷使用</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提供一些動物照片但並沒有事先標記</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接下來就是把照片內的特徵取出來，由於並沒有標記的資訊，所以將來預測時只會知道是哪一類的動物</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是不是同一類的動物</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無法知道這是什麼動物</a:t>
            </a:r>
          </a:p>
        </p:txBody>
      </p:sp>
    </p:spTree>
    <p:extLst>
      <p:ext uri="{BB962C8B-B14F-4D97-AF65-F5344CB8AC3E}">
        <p14:creationId xmlns:p14="http://schemas.microsoft.com/office/powerpoint/2010/main" val="21317695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機器學習演算法的分類</a:t>
            </a:r>
          </a:p>
        </p:txBody>
      </p:sp>
      <p:sp>
        <p:nvSpPr>
          <p:cNvPr id="3" name="內容版面配置區 2"/>
          <p:cNvSpPr>
            <a:spLocks noGrp="1"/>
          </p:cNvSpPr>
          <p:nvPr>
            <p:ph idx="1"/>
          </p:nvPr>
        </p:nvSpPr>
        <p:spPr/>
        <p:txBody>
          <a:bodyPr>
            <a:normAutofit/>
          </a:bodyPr>
          <a:lstStyle/>
          <a:p>
            <a:r>
              <a:rPr lang="zh-TW" altLang="en-US" dirty="0">
                <a:latin typeface="微軟正黑體" panose="020B0604030504040204" pitchFamily="34" charset="-120"/>
                <a:ea typeface="微軟正黑體" panose="020B0604030504040204" pitchFamily="34" charset="-120"/>
              </a:rPr>
              <a:t>半監督式學習（</a:t>
            </a:r>
            <a:r>
              <a:rPr lang="en-US" altLang="zh-TW" dirty="0">
                <a:latin typeface="微軟正黑體" panose="020B0604030504040204" pitchFamily="34" charset="-120"/>
                <a:ea typeface="微軟正黑體" panose="020B0604030504040204" pitchFamily="34" charset="-120"/>
              </a:rPr>
              <a:t>Semi-supervised learning</a:t>
            </a:r>
            <a:r>
              <a:rPr lang="zh-TW" altLang="en-US"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少部分資料有答案，大部分資料沒有答案</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監督式</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非監督式</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提供</a:t>
            </a:r>
            <a:r>
              <a:rPr lang="en-US" altLang="zh-TW" dirty="0">
                <a:latin typeface="微軟正黑體" panose="020B0604030504040204" pitchFamily="34" charset="-120"/>
                <a:ea typeface="微軟正黑體" panose="020B0604030504040204" pitchFamily="34" charset="-120"/>
              </a:rPr>
              <a:t>10000</a:t>
            </a:r>
            <a:r>
              <a:rPr lang="zh-TW" altLang="en-US" dirty="0">
                <a:latin typeface="微軟正黑體" panose="020B0604030504040204" pitchFamily="34" charset="-120"/>
                <a:ea typeface="微軟正黑體" panose="020B0604030504040204" pitchFamily="34" charset="-120"/>
              </a:rPr>
              <a:t>張圖片，其中只有</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張標記哪些是貓</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哪些是狗</a:t>
            </a:r>
            <a:r>
              <a:rPr lang="en-US" altLang="zh-TW"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將有標記的</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張圖片的特徵取出來，就能知道貓、狗對應的特徵（監督式）</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利用特徵將</a:t>
            </a:r>
            <a:r>
              <a:rPr lang="en-US" altLang="zh-TW" dirty="0">
                <a:latin typeface="微軟正黑體" panose="020B0604030504040204" pitchFamily="34" charset="-120"/>
                <a:ea typeface="微軟正黑體" panose="020B0604030504040204" pitchFamily="34" charset="-120"/>
              </a:rPr>
              <a:t>10000</a:t>
            </a:r>
            <a:r>
              <a:rPr lang="zh-TW" altLang="en-US" dirty="0">
                <a:latin typeface="微軟正黑體" panose="020B0604030504040204" pitchFamily="34" charset="-120"/>
                <a:ea typeface="微軟正黑體" panose="020B0604030504040204" pitchFamily="34" charset="-120"/>
              </a:rPr>
              <a:t>張圖片分成</a:t>
            </a:r>
            <a:r>
              <a:rPr lang="en-US" altLang="zh-TW" dirty="0">
                <a:latin typeface="微軟正黑體" panose="020B0604030504040204" pitchFamily="34" charset="-120"/>
                <a:ea typeface="微軟正黑體" panose="020B0604030504040204" pitchFamily="34" charset="-120"/>
              </a:rPr>
              <a:t>A</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B</a:t>
            </a:r>
            <a:r>
              <a:rPr lang="zh-TW" altLang="en-US" dirty="0">
                <a:latin typeface="微軟正黑體" panose="020B0604030504040204" pitchFamily="34" charset="-120"/>
                <a:ea typeface="微軟正黑體" panose="020B0604030504040204" pitchFamily="34" charset="-120"/>
              </a:rPr>
              <a:t>兩類（非監督式）</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比對貓、狗與</a:t>
            </a:r>
            <a:r>
              <a:rPr lang="en-US" altLang="zh-TW" dirty="0">
                <a:latin typeface="微軟正黑體" panose="020B0604030504040204" pitchFamily="34" charset="-120"/>
                <a:ea typeface="微軟正黑體" panose="020B0604030504040204" pitchFamily="34" charset="-120"/>
              </a:rPr>
              <a:t>A</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B</a:t>
            </a:r>
            <a:r>
              <a:rPr lang="zh-TW" altLang="en-US" dirty="0">
                <a:latin typeface="微軟正黑體" panose="020B0604030504040204" pitchFamily="34" charset="-120"/>
                <a:ea typeface="微軟正黑體" panose="020B0604030504040204" pitchFamily="34" charset="-120"/>
              </a:rPr>
              <a:t>類的特徵，用來確認分類</a:t>
            </a:r>
          </a:p>
          <a:p>
            <a:pPr lvl="1"/>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5324582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機器學習演算法的分類</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增強學習（</a:t>
            </a:r>
            <a:r>
              <a:rPr lang="en-US" altLang="zh-TW" dirty="0">
                <a:latin typeface="微軟正黑體" panose="020B0604030504040204" pitchFamily="34" charset="-120"/>
                <a:ea typeface="微軟正黑體" panose="020B0604030504040204" pitchFamily="34" charset="-120"/>
              </a:rPr>
              <a:t>Reinforcement learning</a:t>
            </a:r>
            <a:r>
              <a:rPr lang="zh-TW" altLang="en-US"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上述討論的學習方法，對於單次決策的輸出資訊都有明確的答案，但增強學習卻不是如此</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增強學習是連續多次的決策，用來達成一個最終的目標（某個參數達到特定值）</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例如：象棋程式、自動駕駛系統</a:t>
            </a:r>
          </a:p>
        </p:txBody>
      </p:sp>
    </p:spTree>
    <p:extLst>
      <p:ext uri="{BB962C8B-B14F-4D97-AF65-F5344CB8AC3E}">
        <p14:creationId xmlns:p14="http://schemas.microsoft.com/office/powerpoint/2010/main" val="29536602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機器學習演算法的分類</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增強學習（</a:t>
            </a:r>
            <a:r>
              <a:rPr lang="en-US" altLang="zh-TW" dirty="0">
                <a:latin typeface="微軟正黑體" panose="020B0604030504040204" pitchFamily="34" charset="-120"/>
                <a:ea typeface="微軟正黑體" panose="020B0604030504040204" pitchFamily="34" charset="-120"/>
              </a:rPr>
              <a:t>Reinforcement learning</a:t>
            </a:r>
            <a:r>
              <a:rPr lang="zh-TW" altLang="en-US"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象棋程式</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假設現在有</a:t>
            </a:r>
            <a:r>
              <a:rPr lang="en-US" altLang="zh-TW" dirty="0">
                <a:latin typeface="微軟正黑體" panose="020B0604030504040204" pitchFamily="34" charset="-120"/>
                <a:ea typeface="微軟正黑體" panose="020B0604030504040204" pitchFamily="34" charset="-120"/>
              </a:rPr>
              <a:t>A</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B</a:t>
            </a:r>
            <a:r>
              <a:rPr lang="zh-TW" altLang="en-US" dirty="0">
                <a:latin typeface="微軟正黑體" panose="020B0604030504040204" pitchFamily="34" charset="-120"/>
                <a:ea typeface="微軟正黑體" panose="020B0604030504040204" pitchFamily="34" charset="-120"/>
              </a:rPr>
              <a:t>兩隻象棋程式，雙方的最終目標當然都是贏得棋局</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如果我們設計一個參數來判斷棋局，當有一方達到</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分時，就表示一定會贏得該棋局（即對手確定輸了，沒有辦法再掙扎了）</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一開始雙方都是</a:t>
            </a:r>
            <a:r>
              <a:rPr lang="en-US" altLang="zh-TW" dirty="0">
                <a:latin typeface="微軟正黑體" panose="020B0604030504040204" pitchFamily="34" charset="-120"/>
                <a:ea typeface="微軟正黑體" panose="020B0604030504040204" pitchFamily="34" charset="-120"/>
              </a:rPr>
              <a:t>50</a:t>
            </a:r>
            <a:r>
              <a:rPr lang="zh-TW" altLang="en-US" dirty="0">
                <a:latin typeface="微軟正黑體" panose="020B0604030504040204" pitchFamily="34" charset="-120"/>
                <a:ea typeface="微軟正黑體" panose="020B0604030504040204" pitchFamily="34" charset="-120"/>
              </a:rPr>
              <a:t>分，此時若</a:t>
            </a:r>
            <a:r>
              <a:rPr lang="en-US" altLang="zh-TW" dirty="0">
                <a:latin typeface="微軟正黑體" panose="020B0604030504040204" pitchFamily="34" charset="-120"/>
                <a:ea typeface="微軟正黑體" panose="020B0604030504040204" pitchFamily="34" charset="-120"/>
              </a:rPr>
              <a:t>A</a:t>
            </a:r>
            <a:r>
              <a:rPr lang="zh-TW" altLang="en-US" dirty="0">
                <a:latin typeface="微軟正黑體" panose="020B0604030504040204" pitchFamily="34" charset="-120"/>
                <a:ea typeface="微軟正黑體" panose="020B0604030504040204" pitchFamily="34" charset="-120"/>
              </a:rPr>
              <a:t>先走一步，</a:t>
            </a:r>
            <a:r>
              <a:rPr lang="en-US" altLang="zh-TW" dirty="0">
                <a:latin typeface="微軟正黑體" panose="020B0604030504040204" pitchFamily="34" charset="-120"/>
                <a:ea typeface="微軟正黑體" panose="020B0604030504040204" pitchFamily="34" charset="-120"/>
              </a:rPr>
              <a:t>A</a:t>
            </a:r>
            <a:r>
              <a:rPr lang="zh-TW" altLang="en-US" dirty="0">
                <a:latin typeface="微軟正黑體" panose="020B0604030504040204" pitchFamily="34" charset="-120"/>
                <a:ea typeface="微軟正黑體" panose="020B0604030504040204" pitchFamily="34" charset="-120"/>
              </a:rPr>
              <a:t>當然會希望它走的這一步能最大化它的分數（同時減少對手的分數）</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競爭關係的增強學習</a:t>
            </a:r>
            <a:endParaRPr lang="en-US" altLang="zh-TW" dirty="0">
              <a:latin typeface="微軟正黑體" panose="020B0604030504040204" pitchFamily="34" charset="-120"/>
              <a:ea typeface="微軟正黑體" panose="020B0604030504040204" pitchFamily="34" charset="-120"/>
            </a:endParaRPr>
          </a:p>
        </p:txBody>
      </p:sp>
      <p:pic>
        <p:nvPicPr>
          <p:cNvPr id="1026" name="Picture 2" descr="「象棋」的圖片搜尋結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5175" y="618518"/>
            <a:ext cx="3603625" cy="2303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0961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機器學習演算法的分類</a:t>
            </a:r>
          </a:p>
        </p:txBody>
      </p:sp>
      <p:sp>
        <p:nvSpPr>
          <p:cNvPr id="3" name="內容版面配置區 2"/>
          <p:cNvSpPr>
            <a:spLocks noGrp="1"/>
          </p:cNvSpPr>
          <p:nvPr>
            <p:ph idx="1"/>
          </p:nvPr>
        </p:nvSpPr>
        <p:spPr/>
        <p:txBody>
          <a:bodyPr>
            <a:normAutofit/>
          </a:bodyPr>
          <a:lstStyle/>
          <a:p>
            <a:r>
              <a:rPr lang="zh-TW" altLang="en-US" dirty="0">
                <a:latin typeface="微軟正黑體" panose="020B0604030504040204" pitchFamily="34" charset="-120"/>
                <a:ea typeface="微軟正黑體" panose="020B0604030504040204" pitchFamily="34" charset="-120"/>
              </a:rPr>
              <a:t>增強學習（</a:t>
            </a:r>
            <a:r>
              <a:rPr lang="en-US" altLang="zh-TW" dirty="0">
                <a:latin typeface="微軟正黑體" panose="020B0604030504040204" pitchFamily="34" charset="-120"/>
                <a:ea typeface="微軟正黑體" panose="020B0604030504040204" pitchFamily="34" charset="-120"/>
              </a:rPr>
              <a:t>Reinforcement learning</a:t>
            </a:r>
            <a:r>
              <a:rPr lang="zh-TW" altLang="en-US"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自動駕駛系統</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假設現在有兩台自動駕駛車輛，雙方的最終目標當然都是安全到達目的地</a:t>
            </a:r>
          </a:p>
          <a:p>
            <a:pPr lvl="1"/>
            <a:r>
              <a:rPr lang="zh-TW" altLang="en-US" dirty="0">
                <a:latin typeface="微軟正黑體" panose="020B0604030504040204" pitchFamily="34" charset="-120"/>
                <a:ea typeface="微軟正黑體" panose="020B0604030504040204" pitchFamily="34" charset="-120"/>
              </a:rPr>
              <a:t>如果我們設計一個參數來定義行車的安全性，當達到</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分時，就表示處於絕對安全的行車環境</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雙方為了增加各自的安全性，一定會進行最安全的駕駛方式，也不會想要減少對方的分數（撞擊對方來讓對方扣分嗎</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這樣子自己也會扣分</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互助合作關係的增強學習</a:t>
            </a:r>
            <a:endParaRPr lang="en-US" altLang="zh-TW" dirty="0">
              <a:latin typeface="微軟正黑體" panose="020B0604030504040204" pitchFamily="34" charset="-120"/>
              <a:ea typeface="微軟正黑體" panose="020B0604030504040204" pitchFamily="34" charset="-120"/>
            </a:endParaRPr>
          </a:p>
          <a:p>
            <a:pPr lvl="1"/>
            <a:endParaRPr lang="zh-TW" altLang="en-US" dirty="0">
              <a:latin typeface="微軟正黑體" panose="020B0604030504040204" pitchFamily="34" charset="-120"/>
              <a:ea typeface="微軟正黑體" panose="020B0604030504040204" pitchFamily="34" charset="-120"/>
            </a:endParaRPr>
          </a:p>
        </p:txBody>
      </p:sp>
      <p:pic>
        <p:nvPicPr>
          <p:cNvPr id="6" name="圖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18400" y="368300"/>
            <a:ext cx="4312356" cy="2425700"/>
          </a:xfrm>
          <a:prstGeom prst="rect">
            <a:avLst/>
          </a:prstGeom>
        </p:spPr>
      </p:pic>
    </p:spTree>
    <p:extLst>
      <p:ext uri="{BB962C8B-B14F-4D97-AF65-F5344CB8AC3E}">
        <p14:creationId xmlns:p14="http://schemas.microsoft.com/office/powerpoint/2010/main" val="1559336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2980082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a:xfrm>
            <a:off x="1141412" y="2249487"/>
            <a:ext cx="9905999" cy="4427084"/>
          </a:xfrm>
        </p:spPr>
        <p:txBody>
          <a:bodyPr>
            <a:normAutofit/>
          </a:bodyPr>
          <a:lstStyle/>
          <a:p>
            <a:r>
              <a:rPr lang="zh-TW" altLang="en-US" dirty="0">
                <a:latin typeface="微軟正黑體" panose="020B0604030504040204" pitchFamily="34" charset="-120"/>
                <a:ea typeface="微軟正黑體" panose="020B0604030504040204" pitchFamily="34" charset="-120"/>
              </a:rPr>
              <a:t>我們會在本節說明一部份的監督式學習範例，這些在實作過程較為簡單，僅會使用到一些基本的數學運算</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用來讓大家了解學習演算法的運作過程</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對於一部份較為複雜的監督式學習範例，可能會使用到一些工程數學技巧，我們將會於之後的章節，使用程式語言及對應的函式，來帶領同學實作</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讓同學利用已有的程式語言及函式，在不用了解工程數學的情況下，也能學到這些專題是如何運作的</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避免有些同學尚未學習到工程數學，而無法跟上專題進度</a:t>
            </a:r>
          </a:p>
        </p:txBody>
      </p:sp>
    </p:spTree>
    <p:extLst>
      <p:ext uri="{BB962C8B-B14F-4D97-AF65-F5344CB8AC3E}">
        <p14:creationId xmlns:p14="http://schemas.microsoft.com/office/powerpoint/2010/main" val="30427576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The Nearest Neighbor Classifier</a:t>
            </a:r>
          </a:p>
          <a:p>
            <a:pPr lvl="1"/>
            <a:r>
              <a:rPr lang="zh-TW" altLang="en-US" dirty="0">
                <a:latin typeface="微軟正黑體" panose="020B0604030504040204" pitchFamily="34" charset="-120"/>
                <a:ea typeface="微軟正黑體" panose="020B0604030504040204" pitchFamily="34" charset="-120"/>
              </a:rPr>
              <a:t>最近鄰居法</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主要是用來從所有訓練資料（</a:t>
            </a:r>
            <a:r>
              <a:rPr lang="en-US" altLang="zh-TW" dirty="0">
                <a:latin typeface="微軟正黑體" panose="020B0604030504040204" pitchFamily="34" charset="-120"/>
                <a:ea typeface="微軟正黑體" panose="020B0604030504040204" pitchFamily="34" charset="-120"/>
              </a:rPr>
              <a:t>training dataset</a:t>
            </a:r>
            <a:r>
              <a:rPr lang="zh-TW" altLang="en-US" dirty="0">
                <a:latin typeface="微軟正黑體" panose="020B0604030504040204" pitchFamily="34" charset="-120"/>
                <a:ea typeface="微軟正黑體" panose="020B0604030504040204" pitchFamily="34" charset="-120"/>
              </a:rPr>
              <a:t>）中，找出一些特性與測試資料（</a:t>
            </a:r>
            <a:r>
              <a:rPr lang="en-US" altLang="zh-TW" dirty="0">
                <a:latin typeface="微軟正黑體" panose="020B0604030504040204" pitchFamily="34" charset="-120"/>
                <a:ea typeface="微軟正黑體" panose="020B0604030504040204" pitchFamily="34" charset="-120"/>
              </a:rPr>
              <a:t>test sample</a:t>
            </a:r>
            <a:r>
              <a:rPr lang="zh-TW" altLang="en-US" dirty="0">
                <a:latin typeface="微軟正黑體" panose="020B0604030504040204" pitchFamily="34" charset="-120"/>
                <a:ea typeface="微軟正黑體" panose="020B0604030504040204" pitchFamily="34" charset="-120"/>
              </a:rPr>
              <a:t>）最為相似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相近的子集合（</a:t>
            </a:r>
            <a:r>
              <a:rPr lang="en-US" altLang="zh-TW" dirty="0">
                <a:latin typeface="微軟正黑體" panose="020B0604030504040204" pitchFamily="34" charset="-120"/>
                <a:ea typeface="微軟正黑體" panose="020B0604030504040204" pitchFamily="34" charset="-120"/>
              </a:rPr>
              <a:t>nearest neighbors</a:t>
            </a:r>
            <a:r>
              <a:rPr lang="zh-TW" altLang="en-US" dirty="0">
                <a:latin typeface="微軟正黑體" panose="020B0604030504040204" pitchFamily="34" charset="-120"/>
                <a:ea typeface="微軟正黑體" panose="020B0604030504040204" pitchFamily="34" charset="-120"/>
              </a:rPr>
              <a:t>），因此我們就能推估測試資料的標籤（</a:t>
            </a:r>
            <a:r>
              <a:rPr lang="en-US" altLang="zh-TW" dirty="0">
                <a:latin typeface="微軟正黑體" panose="020B0604030504040204" pitchFamily="34" charset="-120"/>
                <a:ea typeface="微軟正黑體" panose="020B0604030504040204" pitchFamily="34" charset="-120"/>
              </a:rPr>
              <a:t>label</a:t>
            </a:r>
            <a:r>
              <a:rPr lang="zh-TW" altLang="en-US" dirty="0">
                <a:latin typeface="微軟正黑體" panose="020B0604030504040204" pitchFamily="34" charset="-120"/>
                <a:ea typeface="微軟正黑體" panose="020B0604030504040204" pitchFamily="34" charset="-120"/>
              </a:rPr>
              <a:t>）</a:t>
            </a:r>
          </a:p>
        </p:txBody>
      </p:sp>
      <p:pic>
        <p:nvPicPr>
          <p:cNvPr id="3078" name="Picture 6" descr="undefin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80359" y="264469"/>
            <a:ext cx="3019869" cy="2727908"/>
          </a:xfrm>
          <a:prstGeom prst="rect">
            <a:avLst/>
          </a:prstGeom>
          <a:solidFill>
            <a:schemeClr val="accent1">
              <a:alpha val="60000"/>
            </a:schemeClr>
          </a:solidFill>
        </p:spPr>
      </p:pic>
    </p:spTree>
    <p:extLst>
      <p:ext uri="{BB962C8B-B14F-4D97-AF65-F5344CB8AC3E}">
        <p14:creationId xmlns:p14="http://schemas.microsoft.com/office/powerpoint/2010/main" val="7867646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The Nearest Neighbor Classifier</a:t>
            </a:r>
          </a:p>
          <a:p>
            <a:pPr lvl="1"/>
            <a:r>
              <a:rPr lang="zh-TW" altLang="en-US" dirty="0">
                <a:latin typeface="微軟正黑體" panose="020B0604030504040204" pitchFamily="34" charset="-120"/>
                <a:ea typeface="微軟正黑體" panose="020B0604030504040204" pitchFamily="34" charset="-120"/>
              </a:rPr>
              <a:t>首先，先定義總共會有多少特徵值需要考量（假設有</a:t>
            </a:r>
            <a:r>
              <a:rPr lang="en-US" altLang="zh-TW" dirty="0">
                <a:latin typeface="微軟正黑體" panose="020B0604030504040204" pitchFamily="34" charset="-120"/>
                <a:ea typeface="微軟正黑體" panose="020B0604030504040204" pitchFamily="34" charset="-120"/>
              </a:rPr>
              <a:t>n</a:t>
            </a:r>
            <a:r>
              <a:rPr lang="zh-TW" altLang="en-US" dirty="0">
                <a:latin typeface="微軟正黑體" panose="020B0604030504040204" pitchFamily="34" charset="-120"/>
                <a:ea typeface="微軟正黑體" panose="020B0604030504040204" pitchFamily="34" charset="-120"/>
              </a:rPr>
              <a:t>個）</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將每筆資料轉換成一個</a:t>
            </a:r>
            <a:r>
              <a:rPr lang="en-US" altLang="zh-TW" dirty="0">
                <a:latin typeface="微軟正黑體" panose="020B0604030504040204" pitchFamily="34" charset="-120"/>
                <a:ea typeface="微軟正黑體" panose="020B0604030504040204" pitchFamily="34" charset="-120"/>
              </a:rPr>
              <a:t>n</a:t>
            </a:r>
            <a:r>
              <a:rPr lang="zh-TW" altLang="en-US" dirty="0">
                <a:latin typeface="微軟正黑體" panose="020B0604030504040204" pitchFamily="34" charset="-120"/>
                <a:ea typeface="微軟正黑體" panose="020B0604030504040204" pitchFamily="34" charset="-120"/>
              </a:rPr>
              <a:t>維度空間中的點（包含所有訓練資料及測試資料）</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每個特徵值剛好對應到一個維度的位置數據</a:t>
            </a:r>
          </a:p>
        </p:txBody>
      </p:sp>
    </p:spTree>
    <p:extLst>
      <p:ext uri="{BB962C8B-B14F-4D97-AF65-F5344CB8AC3E}">
        <p14:creationId xmlns:p14="http://schemas.microsoft.com/office/powerpoint/2010/main" val="36833735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The Nearest Neighbor Classifier</a:t>
            </a:r>
          </a:p>
          <a:p>
            <a:pPr lvl="1"/>
            <a:r>
              <a:rPr lang="zh-TW" altLang="en-US" dirty="0">
                <a:latin typeface="微軟正黑體" panose="020B0604030504040204" pitchFamily="34" charset="-120"/>
                <a:ea typeface="微軟正黑體" panose="020B0604030504040204" pitchFamily="34" charset="-120"/>
              </a:rPr>
              <a:t>接著，要來決定最相似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相近子集合的大小，可以使用子集合中點數量的多寡或者是</a:t>
            </a:r>
            <a:r>
              <a:rPr lang="en-US" altLang="zh-TW" dirty="0">
                <a:latin typeface="微軟正黑體" panose="020B0604030504040204" pitchFamily="34" charset="-120"/>
                <a:ea typeface="微軟正黑體" panose="020B0604030504040204" pitchFamily="34" charset="-120"/>
              </a:rPr>
              <a:t>n</a:t>
            </a:r>
            <a:r>
              <a:rPr lang="zh-TW" altLang="en-US" dirty="0">
                <a:latin typeface="微軟正黑體" panose="020B0604030504040204" pitchFamily="34" charset="-120"/>
                <a:ea typeface="微軟正黑體" panose="020B0604030504040204" pitchFamily="34" charset="-120"/>
              </a:rPr>
              <a:t>維度中距離的大小來決定</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最後就是利用最相似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相近子集合中所有訓練資料的標籤，來推估測試資料的標籤為何</a:t>
            </a:r>
            <a:r>
              <a:rPr lang="en-US" altLang="zh-TW"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推估的方法可使用經典的多數決定法，或者是加上權重的多數決定法</a:t>
            </a:r>
          </a:p>
        </p:txBody>
      </p:sp>
    </p:spTree>
    <p:extLst>
      <p:ext uri="{BB962C8B-B14F-4D97-AF65-F5344CB8AC3E}">
        <p14:creationId xmlns:p14="http://schemas.microsoft.com/office/powerpoint/2010/main" val="38053235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56226" y="0"/>
            <a:ext cx="8432801"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加號 5"/>
          <p:cNvSpPr/>
          <p:nvPr/>
        </p:nvSpPr>
        <p:spPr>
          <a:xfrm>
            <a:off x="2438400" y="624115"/>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7" name="加號 6"/>
          <p:cNvSpPr/>
          <p:nvPr/>
        </p:nvSpPr>
        <p:spPr>
          <a:xfrm>
            <a:off x="3650112" y="1740095"/>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8" name="加號 7"/>
          <p:cNvSpPr/>
          <p:nvPr/>
        </p:nvSpPr>
        <p:spPr>
          <a:xfrm>
            <a:off x="4809170" y="2622609"/>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9" name="減號 8"/>
          <p:cNvSpPr/>
          <p:nvPr/>
        </p:nvSpPr>
        <p:spPr>
          <a:xfrm>
            <a:off x="5888399" y="5317865"/>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0" name="減號 9"/>
          <p:cNvSpPr/>
          <p:nvPr/>
        </p:nvSpPr>
        <p:spPr>
          <a:xfrm>
            <a:off x="6188028" y="3614017"/>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1" name="減號 10"/>
          <p:cNvSpPr/>
          <p:nvPr/>
        </p:nvSpPr>
        <p:spPr>
          <a:xfrm>
            <a:off x="4577714" y="4182201"/>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2" name="五角星形 11"/>
          <p:cNvSpPr/>
          <p:nvPr/>
        </p:nvSpPr>
        <p:spPr>
          <a:xfrm>
            <a:off x="5528399" y="3203950"/>
            <a:ext cx="720000" cy="720000"/>
          </a:xfrm>
          <a:prstGeom prst="star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3" name="加號 12"/>
          <p:cNvSpPr/>
          <p:nvPr/>
        </p:nvSpPr>
        <p:spPr>
          <a:xfrm>
            <a:off x="1983169" y="1968230"/>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4" name="加號 13"/>
          <p:cNvSpPr/>
          <p:nvPr/>
        </p:nvSpPr>
        <p:spPr>
          <a:xfrm>
            <a:off x="4010112" y="240299"/>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5" name="加號 14"/>
          <p:cNvSpPr/>
          <p:nvPr/>
        </p:nvSpPr>
        <p:spPr>
          <a:xfrm>
            <a:off x="4577714" y="1063017"/>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6" name="減號 15"/>
          <p:cNvSpPr/>
          <p:nvPr/>
        </p:nvSpPr>
        <p:spPr>
          <a:xfrm>
            <a:off x="5269227" y="480010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7" name="減號 16"/>
          <p:cNvSpPr/>
          <p:nvPr/>
        </p:nvSpPr>
        <p:spPr>
          <a:xfrm>
            <a:off x="8314371" y="516010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8" name="減號 17"/>
          <p:cNvSpPr/>
          <p:nvPr/>
        </p:nvSpPr>
        <p:spPr>
          <a:xfrm>
            <a:off x="7886199" y="626695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9" name="減號 18"/>
          <p:cNvSpPr/>
          <p:nvPr/>
        </p:nvSpPr>
        <p:spPr>
          <a:xfrm>
            <a:off x="9034371" y="320395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0" name="減號 19"/>
          <p:cNvSpPr/>
          <p:nvPr/>
        </p:nvSpPr>
        <p:spPr>
          <a:xfrm>
            <a:off x="7369127" y="4184288"/>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1" name="矩形 20"/>
          <p:cNvSpPr/>
          <p:nvPr/>
        </p:nvSpPr>
        <p:spPr>
          <a:xfrm>
            <a:off x="5989226" y="3092868"/>
            <a:ext cx="1529173" cy="369332"/>
          </a:xfrm>
          <a:prstGeom prst="rect">
            <a:avLst/>
          </a:prstGeom>
        </p:spPr>
        <p:txBody>
          <a:bodyPr wrap="square">
            <a:spAutoFit/>
          </a:bodyPr>
          <a:lstStyle/>
          <a:p>
            <a:r>
              <a:rPr lang="en-US" altLang="zh-TW" dirty="0">
                <a:solidFill>
                  <a:schemeClr val="bg1"/>
                </a:solidFill>
                <a:latin typeface="微軟正黑體" panose="020B0604030504040204" pitchFamily="34" charset="-120"/>
                <a:ea typeface="微軟正黑體" panose="020B0604030504040204" pitchFamily="34" charset="-120"/>
              </a:rPr>
              <a:t>Testing data</a:t>
            </a:r>
            <a:endParaRPr lang="zh-TW" altLang="en-US"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1931789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56226" y="0"/>
            <a:ext cx="8432801"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加號 5"/>
          <p:cNvSpPr/>
          <p:nvPr/>
        </p:nvSpPr>
        <p:spPr>
          <a:xfrm>
            <a:off x="2438400" y="624115"/>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7" name="加號 6"/>
          <p:cNvSpPr/>
          <p:nvPr/>
        </p:nvSpPr>
        <p:spPr>
          <a:xfrm>
            <a:off x="3650112" y="1740095"/>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8" name="加號 7"/>
          <p:cNvSpPr/>
          <p:nvPr/>
        </p:nvSpPr>
        <p:spPr>
          <a:xfrm>
            <a:off x="4809170" y="2622609"/>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9" name="減號 8"/>
          <p:cNvSpPr/>
          <p:nvPr/>
        </p:nvSpPr>
        <p:spPr>
          <a:xfrm>
            <a:off x="5888399" y="5317865"/>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0" name="減號 9"/>
          <p:cNvSpPr/>
          <p:nvPr/>
        </p:nvSpPr>
        <p:spPr>
          <a:xfrm>
            <a:off x="6188028" y="3614017"/>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1" name="減號 10"/>
          <p:cNvSpPr/>
          <p:nvPr/>
        </p:nvSpPr>
        <p:spPr>
          <a:xfrm>
            <a:off x="4577714" y="4182201"/>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2" name="五角星形 11"/>
          <p:cNvSpPr/>
          <p:nvPr/>
        </p:nvSpPr>
        <p:spPr>
          <a:xfrm>
            <a:off x="5528399" y="3203950"/>
            <a:ext cx="720000" cy="720000"/>
          </a:xfrm>
          <a:prstGeom prst="star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3" name="加號 12"/>
          <p:cNvSpPr/>
          <p:nvPr/>
        </p:nvSpPr>
        <p:spPr>
          <a:xfrm>
            <a:off x="1983169" y="1968230"/>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4" name="加號 13"/>
          <p:cNvSpPr/>
          <p:nvPr/>
        </p:nvSpPr>
        <p:spPr>
          <a:xfrm>
            <a:off x="4010112" y="240299"/>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5" name="加號 14"/>
          <p:cNvSpPr/>
          <p:nvPr/>
        </p:nvSpPr>
        <p:spPr>
          <a:xfrm>
            <a:off x="4577714" y="1063017"/>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6" name="減號 15"/>
          <p:cNvSpPr/>
          <p:nvPr/>
        </p:nvSpPr>
        <p:spPr>
          <a:xfrm>
            <a:off x="5269227" y="480010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7" name="減號 16"/>
          <p:cNvSpPr/>
          <p:nvPr/>
        </p:nvSpPr>
        <p:spPr>
          <a:xfrm>
            <a:off x="8314371" y="516010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8" name="減號 17"/>
          <p:cNvSpPr/>
          <p:nvPr/>
        </p:nvSpPr>
        <p:spPr>
          <a:xfrm>
            <a:off x="7886199" y="626695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9" name="減號 18"/>
          <p:cNvSpPr/>
          <p:nvPr/>
        </p:nvSpPr>
        <p:spPr>
          <a:xfrm>
            <a:off x="9034371" y="320395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0" name="減號 19"/>
          <p:cNvSpPr/>
          <p:nvPr/>
        </p:nvSpPr>
        <p:spPr>
          <a:xfrm>
            <a:off x="7369127" y="4184288"/>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1" name="矩形 20"/>
          <p:cNvSpPr/>
          <p:nvPr/>
        </p:nvSpPr>
        <p:spPr>
          <a:xfrm>
            <a:off x="5989226" y="3092868"/>
            <a:ext cx="1529173" cy="369332"/>
          </a:xfrm>
          <a:prstGeom prst="rect">
            <a:avLst/>
          </a:prstGeom>
        </p:spPr>
        <p:txBody>
          <a:bodyPr wrap="square">
            <a:spAutoFit/>
          </a:bodyPr>
          <a:lstStyle/>
          <a:p>
            <a:r>
              <a:rPr lang="en-US" altLang="zh-TW" dirty="0">
                <a:solidFill>
                  <a:schemeClr val="bg1"/>
                </a:solidFill>
                <a:latin typeface="微軟正黑體" panose="020B0604030504040204" pitchFamily="34" charset="-120"/>
                <a:ea typeface="微軟正黑體" panose="020B0604030504040204" pitchFamily="34" charset="-120"/>
              </a:rPr>
              <a:t>Testing data</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2" name="文字方塊 1"/>
          <p:cNvSpPr txBox="1"/>
          <p:nvPr/>
        </p:nvSpPr>
        <p:spPr>
          <a:xfrm>
            <a:off x="7184571" y="45742"/>
            <a:ext cx="2960913" cy="830997"/>
          </a:xfrm>
          <a:prstGeom prst="rect">
            <a:avLst/>
          </a:prstGeom>
          <a:noFill/>
          <a:ln w="25400">
            <a:solidFill>
              <a:srgbClr val="FF0000"/>
            </a:solidFill>
          </a:ln>
        </p:spPr>
        <p:txBody>
          <a:bodyPr wrap="square" rtlCol="0">
            <a:spAutoFit/>
          </a:bodyPr>
          <a:lstStyle/>
          <a:p>
            <a:r>
              <a:rPr lang="en-US" altLang="zh-TW" sz="2400" dirty="0">
                <a:solidFill>
                  <a:schemeClr val="bg1"/>
                </a:solidFill>
                <a:latin typeface="微軟正黑體" panose="020B0604030504040204" pitchFamily="34" charset="-120"/>
                <a:ea typeface="微軟正黑體" panose="020B0604030504040204" pitchFamily="34" charset="-120"/>
              </a:rPr>
              <a:t>1-nearest neighbor</a:t>
            </a:r>
          </a:p>
          <a:p>
            <a:r>
              <a:rPr lang="en-US" altLang="zh-TW" sz="2400" dirty="0">
                <a:solidFill>
                  <a:schemeClr val="bg1"/>
                </a:solidFill>
                <a:latin typeface="微軟正黑體" panose="020B0604030504040204" pitchFamily="34" charset="-120"/>
                <a:ea typeface="微軟正黑體" panose="020B0604030504040204" pitchFamily="34" charset="-120"/>
              </a:rPr>
              <a:t>Testing data = </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
        <p:nvSpPr>
          <p:cNvPr id="22" name="減號 21"/>
          <p:cNvSpPr/>
          <p:nvPr/>
        </p:nvSpPr>
        <p:spPr>
          <a:xfrm>
            <a:off x="9381942" y="278629"/>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3" name="橢圓 2"/>
          <p:cNvSpPr/>
          <p:nvPr/>
        </p:nvSpPr>
        <p:spPr>
          <a:xfrm>
            <a:off x="5466214" y="3097867"/>
            <a:ext cx="1524000" cy="123615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24231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2" grpId="0" animBg="1"/>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56226" y="0"/>
            <a:ext cx="8432801"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加號 5"/>
          <p:cNvSpPr/>
          <p:nvPr/>
        </p:nvSpPr>
        <p:spPr>
          <a:xfrm>
            <a:off x="2438400" y="624115"/>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7" name="加號 6"/>
          <p:cNvSpPr/>
          <p:nvPr/>
        </p:nvSpPr>
        <p:spPr>
          <a:xfrm>
            <a:off x="3650112" y="1740095"/>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8" name="加號 7"/>
          <p:cNvSpPr/>
          <p:nvPr/>
        </p:nvSpPr>
        <p:spPr>
          <a:xfrm>
            <a:off x="4809170" y="2622609"/>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9" name="減號 8"/>
          <p:cNvSpPr/>
          <p:nvPr/>
        </p:nvSpPr>
        <p:spPr>
          <a:xfrm>
            <a:off x="5888399" y="5317865"/>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0" name="減號 9"/>
          <p:cNvSpPr/>
          <p:nvPr/>
        </p:nvSpPr>
        <p:spPr>
          <a:xfrm>
            <a:off x="6188028" y="3614017"/>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1" name="減號 10"/>
          <p:cNvSpPr/>
          <p:nvPr/>
        </p:nvSpPr>
        <p:spPr>
          <a:xfrm>
            <a:off x="4577714" y="4182201"/>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2" name="五角星形 11"/>
          <p:cNvSpPr/>
          <p:nvPr/>
        </p:nvSpPr>
        <p:spPr>
          <a:xfrm>
            <a:off x="5528399" y="3203950"/>
            <a:ext cx="720000" cy="720000"/>
          </a:xfrm>
          <a:prstGeom prst="star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3" name="加號 12"/>
          <p:cNvSpPr/>
          <p:nvPr/>
        </p:nvSpPr>
        <p:spPr>
          <a:xfrm>
            <a:off x="1983169" y="1968230"/>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4" name="加號 13"/>
          <p:cNvSpPr/>
          <p:nvPr/>
        </p:nvSpPr>
        <p:spPr>
          <a:xfrm>
            <a:off x="4010112" y="240299"/>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5" name="加號 14"/>
          <p:cNvSpPr/>
          <p:nvPr/>
        </p:nvSpPr>
        <p:spPr>
          <a:xfrm>
            <a:off x="4577714" y="1063017"/>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6" name="減號 15"/>
          <p:cNvSpPr/>
          <p:nvPr/>
        </p:nvSpPr>
        <p:spPr>
          <a:xfrm>
            <a:off x="5269227" y="480010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7" name="減號 16"/>
          <p:cNvSpPr/>
          <p:nvPr/>
        </p:nvSpPr>
        <p:spPr>
          <a:xfrm>
            <a:off x="8314371" y="516010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8" name="減號 17"/>
          <p:cNvSpPr/>
          <p:nvPr/>
        </p:nvSpPr>
        <p:spPr>
          <a:xfrm>
            <a:off x="7886199" y="626695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9" name="減號 18"/>
          <p:cNvSpPr/>
          <p:nvPr/>
        </p:nvSpPr>
        <p:spPr>
          <a:xfrm>
            <a:off x="9034371" y="320395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0" name="減號 19"/>
          <p:cNvSpPr/>
          <p:nvPr/>
        </p:nvSpPr>
        <p:spPr>
          <a:xfrm>
            <a:off x="7369127" y="4184288"/>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1" name="矩形 20"/>
          <p:cNvSpPr/>
          <p:nvPr/>
        </p:nvSpPr>
        <p:spPr>
          <a:xfrm>
            <a:off x="5989226" y="3092868"/>
            <a:ext cx="1529173" cy="369332"/>
          </a:xfrm>
          <a:prstGeom prst="rect">
            <a:avLst/>
          </a:prstGeom>
        </p:spPr>
        <p:txBody>
          <a:bodyPr wrap="square">
            <a:spAutoFit/>
          </a:bodyPr>
          <a:lstStyle/>
          <a:p>
            <a:r>
              <a:rPr lang="en-US" altLang="zh-TW" dirty="0">
                <a:solidFill>
                  <a:schemeClr val="bg1"/>
                </a:solidFill>
                <a:latin typeface="微軟正黑體" panose="020B0604030504040204" pitchFamily="34" charset="-120"/>
                <a:ea typeface="微軟正黑體" panose="020B0604030504040204" pitchFamily="34" charset="-120"/>
              </a:rPr>
              <a:t>Testing data</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2" name="文字方塊 1"/>
          <p:cNvSpPr txBox="1"/>
          <p:nvPr/>
        </p:nvSpPr>
        <p:spPr>
          <a:xfrm>
            <a:off x="7184571" y="45742"/>
            <a:ext cx="2960913" cy="830997"/>
          </a:xfrm>
          <a:prstGeom prst="rect">
            <a:avLst/>
          </a:prstGeom>
          <a:noFill/>
          <a:ln w="25400">
            <a:solidFill>
              <a:srgbClr val="FF0000"/>
            </a:solidFill>
          </a:ln>
        </p:spPr>
        <p:txBody>
          <a:bodyPr wrap="square" rtlCol="0">
            <a:spAutoFit/>
          </a:bodyPr>
          <a:lstStyle/>
          <a:p>
            <a:r>
              <a:rPr lang="en-US" altLang="zh-TW" sz="2400" dirty="0">
                <a:solidFill>
                  <a:schemeClr val="bg1"/>
                </a:solidFill>
                <a:latin typeface="微軟正黑體" panose="020B0604030504040204" pitchFamily="34" charset="-120"/>
                <a:ea typeface="微軟正黑體" panose="020B0604030504040204" pitchFamily="34" charset="-120"/>
              </a:rPr>
              <a:t>2-nearest neighbor</a:t>
            </a:r>
          </a:p>
          <a:p>
            <a:r>
              <a:rPr lang="en-US" altLang="zh-TW" sz="2400" dirty="0">
                <a:solidFill>
                  <a:schemeClr val="bg1"/>
                </a:solidFill>
                <a:latin typeface="微軟正黑體" panose="020B0604030504040204" pitchFamily="34" charset="-120"/>
                <a:ea typeface="微軟正黑體" panose="020B0604030504040204" pitchFamily="34" charset="-120"/>
              </a:rPr>
              <a:t>Testing data = ?</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
        <p:nvSpPr>
          <p:cNvPr id="3" name="橢圓 2"/>
          <p:cNvSpPr/>
          <p:nvPr/>
        </p:nvSpPr>
        <p:spPr>
          <a:xfrm>
            <a:off x="4934857" y="2460095"/>
            <a:ext cx="2055357" cy="1873922"/>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8342926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56226" y="0"/>
            <a:ext cx="8432801"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加號 5"/>
          <p:cNvSpPr/>
          <p:nvPr/>
        </p:nvSpPr>
        <p:spPr>
          <a:xfrm>
            <a:off x="2438400" y="624115"/>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7" name="加號 6"/>
          <p:cNvSpPr/>
          <p:nvPr/>
        </p:nvSpPr>
        <p:spPr>
          <a:xfrm>
            <a:off x="3650112" y="1740095"/>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8" name="加號 7"/>
          <p:cNvSpPr/>
          <p:nvPr/>
        </p:nvSpPr>
        <p:spPr>
          <a:xfrm>
            <a:off x="4809170" y="2622609"/>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9" name="減號 8"/>
          <p:cNvSpPr/>
          <p:nvPr/>
        </p:nvSpPr>
        <p:spPr>
          <a:xfrm>
            <a:off x="5888399" y="5317865"/>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0" name="減號 9"/>
          <p:cNvSpPr/>
          <p:nvPr/>
        </p:nvSpPr>
        <p:spPr>
          <a:xfrm>
            <a:off x="6188028" y="3614017"/>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1" name="減號 10"/>
          <p:cNvSpPr/>
          <p:nvPr/>
        </p:nvSpPr>
        <p:spPr>
          <a:xfrm>
            <a:off x="4577714" y="4182201"/>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2" name="五角星形 11"/>
          <p:cNvSpPr/>
          <p:nvPr/>
        </p:nvSpPr>
        <p:spPr>
          <a:xfrm>
            <a:off x="5528399" y="3203950"/>
            <a:ext cx="720000" cy="720000"/>
          </a:xfrm>
          <a:prstGeom prst="star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3" name="加號 12"/>
          <p:cNvSpPr/>
          <p:nvPr/>
        </p:nvSpPr>
        <p:spPr>
          <a:xfrm>
            <a:off x="1983169" y="1968230"/>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4" name="加號 13"/>
          <p:cNvSpPr/>
          <p:nvPr/>
        </p:nvSpPr>
        <p:spPr>
          <a:xfrm>
            <a:off x="4010112" y="240299"/>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5" name="加號 14"/>
          <p:cNvSpPr/>
          <p:nvPr/>
        </p:nvSpPr>
        <p:spPr>
          <a:xfrm>
            <a:off x="4577714" y="1063017"/>
            <a:ext cx="720000" cy="720000"/>
          </a:xfrm>
          <a:prstGeom prst="mathPlu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6" name="減號 15"/>
          <p:cNvSpPr/>
          <p:nvPr/>
        </p:nvSpPr>
        <p:spPr>
          <a:xfrm>
            <a:off x="5269227" y="480010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7" name="減號 16"/>
          <p:cNvSpPr/>
          <p:nvPr/>
        </p:nvSpPr>
        <p:spPr>
          <a:xfrm>
            <a:off x="8314371" y="516010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8" name="減號 17"/>
          <p:cNvSpPr/>
          <p:nvPr/>
        </p:nvSpPr>
        <p:spPr>
          <a:xfrm>
            <a:off x="7886199" y="626695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9" name="減號 18"/>
          <p:cNvSpPr/>
          <p:nvPr/>
        </p:nvSpPr>
        <p:spPr>
          <a:xfrm>
            <a:off x="9034371" y="3203950"/>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0" name="減號 19"/>
          <p:cNvSpPr/>
          <p:nvPr/>
        </p:nvSpPr>
        <p:spPr>
          <a:xfrm>
            <a:off x="7369127" y="4184288"/>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1" name="矩形 20"/>
          <p:cNvSpPr/>
          <p:nvPr/>
        </p:nvSpPr>
        <p:spPr>
          <a:xfrm>
            <a:off x="5989226" y="3092868"/>
            <a:ext cx="1529173" cy="369332"/>
          </a:xfrm>
          <a:prstGeom prst="rect">
            <a:avLst/>
          </a:prstGeom>
        </p:spPr>
        <p:txBody>
          <a:bodyPr wrap="square">
            <a:spAutoFit/>
          </a:bodyPr>
          <a:lstStyle/>
          <a:p>
            <a:r>
              <a:rPr lang="en-US" altLang="zh-TW" dirty="0">
                <a:solidFill>
                  <a:schemeClr val="bg1"/>
                </a:solidFill>
                <a:latin typeface="微軟正黑體" panose="020B0604030504040204" pitchFamily="34" charset="-120"/>
                <a:ea typeface="微軟正黑體" panose="020B0604030504040204" pitchFamily="34" charset="-120"/>
              </a:rPr>
              <a:t>Testing data</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2" name="文字方塊 1"/>
          <p:cNvSpPr txBox="1"/>
          <p:nvPr/>
        </p:nvSpPr>
        <p:spPr>
          <a:xfrm>
            <a:off x="7184571" y="45742"/>
            <a:ext cx="2960913" cy="830997"/>
          </a:xfrm>
          <a:prstGeom prst="rect">
            <a:avLst/>
          </a:prstGeom>
          <a:noFill/>
          <a:ln w="25400">
            <a:solidFill>
              <a:srgbClr val="FF0000"/>
            </a:solidFill>
          </a:ln>
        </p:spPr>
        <p:txBody>
          <a:bodyPr wrap="square" rtlCol="0">
            <a:spAutoFit/>
          </a:bodyPr>
          <a:lstStyle/>
          <a:p>
            <a:r>
              <a:rPr lang="en-US" altLang="zh-TW" sz="2400" dirty="0">
                <a:solidFill>
                  <a:schemeClr val="bg1"/>
                </a:solidFill>
                <a:latin typeface="微軟正黑體" panose="020B0604030504040204" pitchFamily="34" charset="-120"/>
                <a:ea typeface="微軟正黑體" panose="020B0604030504040204" pitchFamily="34" charset="-120"/>
              </a:rPr>
              <a:t>3-nearest neighbor</a:t>
            </a:r>
          </a:p>
          <a:p>
            <a:r>
              <a:rPr lang="en-US" altLang="zh-TW" sz="2400" dirty="0">
                <a:solidFill>
                  <a:schemeClr val="bg1"/>
                </a:solidFill>
                <a:latin typeface="微軟正黑體" panose="020B0604030504040204" pitchFamily="34" charset="-120"/>
                <a:ea typeface="微軟正黑體" panose="020B0604030504040204" pitchFamily="34" charset="-120"/>
              </a:rPr>
              <a:t>Testing data = </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
        <p:nvSpPr>
          <p:cNvPr id="22" name="減號 21"/>
          <p:cNvSpPr/>
          <p:nvPr/>
        </p:nvSpPr>
        <p:spPr>
          <a:xfrm>
            <a:off x="9381942" y="278629"/>
            <a:ext cx="720000" cy="720000"/>
          </a:xfrm>
          <a:prstGeom prst="mathMin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3" name="橢圓 2"/>
          <p:cNvSpPr/>
          <p:nvPr/>
        </p:nvSpPr>
        <p:spPr>
          <a:xfrm>
            <a:off x="4324120" y="2417790"/>
            <a:ext cx="2814458" cy="2501285"/>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414793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2" grpId="0" animBg="1"/>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The Nearest Neighbor Classifier</a:t>
            </a:r>
          </a:p>
          <a:p>
            <a:pPr lvl="1"/>
            <a:r>
              <a:rPr lang="zh-TW" altLang="en-US" dirty="0">
                <a:latin typeface="微軟正黑體" panose="020B0604030504040204" pitchFamily="34" charset="-120"/>
                <a:ea typeface="微軟正黑體" panose="020B0604030504040204" pitchFamily="34" charset="-120"/>
              </a:rPr>
              <a:t>所以，對於本方法，最相似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相近子集合的大小就是一個很重要的參數</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過大可能會包含太多訓練資料，過小可能會偏頗特定訓練資料，都會導致預測結果失準</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同時，使用多數決定法時，最好是令最相似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相近子集合中的訓練資料個數能夠避免票數相同的情況產生（例如上述</a:t>
            </a:r>
            <a:r>
              <a:rPr lang="en-US" altLang="zh-TW" dirty="0">
                <a:latin typeface="微軟正黑體" panose="020B0604030504040204" pitchFamily="34" charset="-120"/>
                <a:ea typeface="微軟正黑體" panose="020B0604030504040204" pitchFamily="34" charset="-120"/>
              </a:rPr>
              <a:t>2-nearest neighbor</a:t>
            </a:r>
            <a:r>
              <a:rPr lang="zh-TW" altLang="en-US" dirty="0">
                <a:latin typeface="微軟正黑體" panose="020B0604030504040204" pitchFamily="34" charset="-120"/>
                <a:ea typeface="微軟正黑體" panose="020B0604030504040204" pitchFamily="34" charset="-120"/>
              </a:rPr>
              <a:t>的平手情況）</a:t>
            </a:r>
          </a:p>
        </p:txBody>
      </p:sp>
    </p:spTree>
    <p:extLst>
      <p:ext uri="{BB962C8B-B14F-4D97-AF65-F5344CB8AC3E}">
        <p14:creationId xmlns:p14="http://schemas.microsoft.com/office/powerpoint/2010/main" val="22448305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範例：</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高血脂症通常與三酸甘油酯以及膽固醇指數息息相關</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因此，我們能參考一個人的三酸甘油酯與膽固醇指數，來判別他是否有高血脂症</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假設有一個病人的三酸甘油酯指數為</a:t>
            </a:r>
            <a:r>
              <a:rPr lang="en-US" altLang="zh-TW" dirty="0">
                <a:latin typeface="微軟正黑體" panose="020B0604030504040204" pitchFamily="34" charset="-120"/>
                <a:ea typeface="微軟正黑體" panose="020B0604030504040204" pitchFamily="34" charset="-120"/>
              </a:rPr>
              <a:t>1.40</a:t>
            </a:r>
            <a:r>
              <a:rPr lang="zh-TW" altLang="en-US" dirty="0">
                <a:latin typeface="微軟正黑體" panose="020B0604030504040204" pitchFamily="34" charset="-120"/>
                <a:ea typeface="微軟正黑體" panose="020B0604030504040204" pitchFamily="34" charset="-120"/>
              </a:rPr>
              <a:t>，膽固醇指數為</a:t>
            </a:r>
            <a:r>
              <a:rPr lang="en-US" altLang="zh-TW" dirty="0">
                <a:latin typeface="微軟正黑體" panose="020B0604030504040204" pitchFamily="34" charset="-120"/>
                <a:ea typeface="微軟正黑體" panose="020B0604030504040204" pitchFamily="34" charset="-120"/>
              </a:rPr>
              <a:t>4.30</a:t>
            </a:r>
            <a:r>
              <a:rPr lang="zh-TW" altLang="en-US" dirty="0">
                <a:latin typeface="微軟正黑體" panose="020B0604030504040204" pitchFamily="34" charset="-120"/>
                <a:ea typeface="微軟正黑體" panose="020B0604030504040204" pitchFamily="34" charset="-120"/>
              </a:rPr>
              <a:t>，我們想要使用搜尋範圍</a:t>
            </a:r>
            <a:r>
              <a:rPr lang="en-US" altLang="zh-TW" dirty="0">
                <a:latin typeface="微軟正黑體" panose="020B0604030504040204" pitchFamily="34" charset="-120"/>
                <a:ea typeface="微軟正黑體" panose="020B0604030504040204" pitchFamily="34" charset="-120"/>
              </a:rPr>
              <a:t>0.2</a:t>
            </a:r>
            <a:r>
              <a:rPr lang="zh-TW" altLang="en-US" dirty="0">
                <a:latin typeface="微軟正黑體" panose="020B0604030504040204" pitchFamily="34" charset="-120"/>
                <a:ea typeface="微軟正黑體" panose="020B0604030504040204" pitchFamily="34" charset="-120"/>
              </a:rPr>
              <a:t>為門檻值，來推估此病人是否有高血脂症</a:t>
            </a:r>
            <a:endParaRPr lang="en-US" altLang="zh-TW" dirty="0">
              <a:latin typeface="微軟正黑體" panose="020B0604030504040204" pitchFamily="34" charset="-120"/>
              <a:ea typeface="微軟正黑體" panose="020B0604030504040204" pitchFamily="34" charset="-120"/>
            </a:endParaRPr>
          </a:p>
          <a:p>
            <a:pPr lvl="1"/>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4736092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984787053"/>
              </p:ext>
            </p:extLst>
          </p:nvPr>
        </p:nvGraphicFramePr>
        <p:xfrm>
          <a:off x="1141413" y="2249488"/>
          <a:ext cx="9906000" cy="2966720"/>
        </p:xfrm>
        <a:graphic>
          <a:graphicData uri="http://schemas.openxmlformats.org/drawingml/2006/table">
            <a:tbl>
              <a:tblPr firstRow="1" bandRow="1">
                <a:tableStyleId>{5C22544A-7EE6-4342-B048-85BDC9FD1C3A}</a:tableStyleId>
              </a:tblPr>
              <a:tblGrid>
                <a:gridCol w="2476500">
                  <a:extLst>
                    <a:ext uri="{9D8B030D-6E8A-4147-A177-3AD203B41FA5}">
                      <a16:colId xmlns:a16="http://schemas.microsoft.com/office/drawing/2014/main" val="2381042550"/>
                    </a:ext>
                  </a:extLst>
                </a:gridCol>
                <a:gridCol w="2476500">
                  <a:extLst>
                    <a:ext uri="{9D8B030D-6E8A-4147-A177-3AD203B41FA5}">
                      <a16:colId xmlns:a16="http://schemas.microsoft.com/office/drawing/2014/main" val="1678456647"/>
                    </a:ext>
                  </a:extLst>
                </a:gridCol>
                <a:gridCol w="2476500">
                  <a:extLst>
                    <a:ext uri="{9D8B030D-6E8A-4147-A177-3AD203B41FA5}">
                      <a16:colId xmlns:a16="http://schemas.microsoft.com/office/drawing/2014/main" val="1536081716"/>
                    </a:ext>
                  </a:extLst>
                </a:gridCol>
                <a:gridCol w="2476500">
                  <a:extLst>
                    <a:ext uri="{9D8B030D-6E8A-4147-A177-3AD203B41FA5}">
                      <a16:colId xmlns:a16="http://schemas.microsoft.com/office/drawing/2014/main" val="1674754121"/>
                    </a:ext>
                  </a:extLst>
                </a:gridCol>
              </a:tblGrid>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ID</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三酸甘油酯指數</a:t>
                      </a: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膽固醇指數</a:t>
                      </a: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是否有高血脂症</a:t>
                      </a:r>
                    </a:p>
                  </a:txBody>
                  <a:tcPr/>
                </a:tc>
                <a:extLst>
                  <a:ext uri="{0D108BD9-81ED-4DB2-BD59-A6C34878D82A}">
                    <a16:rowId xmlns:a16="http://schemas.microsoft.com/office/drawing/2014/main" val="2413807212"/>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1.35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4.20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701015599"/>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2</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1.35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4.15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398822093"/>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3</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1.30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4.20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482597577"/>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1.30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4.15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444244983"/>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1.45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4.25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706900722"/>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6</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1.80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4.60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83081798"/>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7</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1.90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4.55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476588230"/>
                  </a:ext>
                </a:extLst>
              </a:tr>
            </a:tbl>
          </a:graphicData>
        </a:graphic>
      </p:graphicFrame>
      <p:sp>
        <p:nvSpPr>
          <p:cNvPr id="5" name="矩形 4"/>
          <p:cNvSpPr/>
          <p:nvPr/>
        </p:nvSpPr>
        <p:spPr>
          <a:xfrm>
            <a:off x="7137400" y="192088"/>
            <a:ext cx="4953000" cy="1320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本範例是設計用來說明機器學習的</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，請勿參考此表格來判別病情</a:t>
            </a:r>
          </a:p>
        </p:txBody>
      </p:sp>
    </p:spTree>
    <p:extLst>
      <p:ext uri="{BB962C8B-B14F-4D97-AF65-F5344CB8AC3E}">
        <p14:creationId xmlns:p14="http://schemas.microsoft.com/office/powerpoint/2010/main" val="302364287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6" name="內容版面配置區 5"/>
          <p:cNvGraphicFramePr>
            <a:graphicFrameLocks noGrp="1"/>
          </p:cNvGraphicFramePr>
          <p:nvPr>
            <p:ph idx="1"/>
            <p:extLst>
              <p:ext uri="{D42A27DB-BD31-4B8C-83A1-F6EECF244321}">
                <p14:modId xmlns:p14="http://schemas.microsoft.com/office/powerpoint/2010/main" val="1267513466"/>
              </p:ext>
            </p:extLst>
          </p:nvPr>
        </p:nvGraphicFramePr>
        <p:xfrm>
          <a:off x="1141413" y="2249488"/>
          <a:ext cx="9905998" cy="2966720"/>
        </p:xfrm>
        <a:graphic>
          <a:graphicData uri="http://schemas.openxmlformats.org/drawingml/2006/table">
            <a:tbl>
              <a:tblPr firstRow="1" bandRow="1">
                <a:tableStyleId>{5C22544A-7EE6-4342-B048-85BDC9FD1C3A}</a:tableStyleId>
              </a:tblPr>
              <a:tblGrid>
                <a:gridCol w="1531351">
                  <a:extLst>
                    <a:ext uri="{9D8B030D-6E8A-4147-A177-3AD203B41FA5}">
                      <a16:colId xmlns:a16="http://schemas.microsoft.com/office/drawing/2014/main" val="3720415613"/>
                    </a:ext>
                  </a:extLst>
                </a:gridCol>
                <a:gridCol w="8374647">
                  <a:extLst>
                    <a:ext uri="{9D8B030D-6E8A-4147-A177-3AD203B41FA5}">
                      <a16:colId xmlns:a16="http://schemas.microsoft.com/office/drawing/2014/main" val="3952522582"/>
                    </a:ext>
                  </a:extLst>
                </a:gridCol>
              </a:tblGrid>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ID</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Euclidean distance</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958857702"/>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{(1.40-1.35)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+(4.30-4.20)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0.1118</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010490587"/>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2(N)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{(1.40-1.35)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+(4.30-4.15)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0.1581</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104743933"/>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3(Y)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{(1.40-1.30)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+(4.30-4.20)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0.1414</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902826820"/>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{(1.40-1.35)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+(4.30-4.15)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0.1581</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70691465"/>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5(Y)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{(1.40-1.45)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+(4.30-4.25)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0.0707</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260650748"/>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6(Y)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{(1.40-1.80)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+(4.30-4.60)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0.5000</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521091589"/>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7(Y)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{(1.40-1.90)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+(4.30-4.55)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0.5590</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294577260"/>
                  </a:ext>
                </a:extLst>
              </a:tr>
            </a:tbl>
          </a:graphicData>
        </a:graphic>
      </p:graphicFrame>
      <p:sp>
        <p:nvSpPr>
          <p:cNvPr id="4" name="矩形 3"/>
          <p:cNvSpPr/>
          <p:nvPr/>
        </p:nvSpPr>
        <p:spPr>
          <a:xfrm>
            <a:off x="6569672" y="1173137"/>
            <a:ext cx="4179349" cy="369332"/>
          </a:xfrm>
          <a:prstGeom prst="rect">
            <a:avLst/>
          </a:prstGeom>
          <a:solidFill>
            <a:schemeClr val="accent5"/>
          </a:solidFill>
        </p:spPr>
        <p:txBody>
          <a:bodyPr wrap="none">
            <a:spAutoFit/>
          </a:bodyPr>
          <a:lstStyle/>
          <a:p>
            <a:r>
              <a:rPr lang="es-ES" altLang="zh-TW" dirty="0">
                <a:solidFill>
                  <a:schemeClr val="bg1"/>
                </a:solidFill>
                <a:latin typeface="微軟正黑體" panose="020B0604030504040204" pitchFamily="34" charset="-120"/>
                <a:ea typeface="微軟正黑體" panose="020B0604030504040204" pitchFamily="34" charset="-120"/>
              </a:rPr>
              <a:t>Euclidean distance: d(x, y) = Σ|x</a:t>
            </a:r>
            <a:r>
              <a:rPr lang="es-ES" altLang="zh-TW" baseline="-25000" dirty="0">
                <a:solidFill>
                  <a:schemeClr val="bg1"/>
                </a:solidFill>
                <a:latin typeface="微軟正黑體" panose="020B0604030504040204" pitchFamily="34" charset="-120"/>
                <a:ea typeface="微軟正黑體" panose="020B0604030504040204" pitchFamily="34" charset="-120"/>
              </a:rPr>
              <a:t>k</a:t>
            </a:r>
            <a:r>
              <a:rPr lang="es-ES" altLang="zh-TW" dirty="0">
                <a:solidFill>
                  <a:schemeClr val="bg1"/>
                </a:solidFill>
                <a:latin typeface="微軟正黑體" panose="020B0604030504040204" pitchFamily="34" charset="-120"/>
                <a:ea typeface="微軟正黑體" panose="020B0604030504040204" pitchFamily="34" charset="-120"/>
              </a:rPr>
              <a:t> − y</a:t>
            </a:r>
            <a:r>
              <a:rPr lang="es-ES" altLang="zh-TW" baseline="-25000" dirty="0">
                <a:solidFill>
                  <a:schemeClr val="bg1"/>
                </a:solidFill>
                <a:latin typeface="微軟正黑體" panose="020B0604030504040204" pitchFamily="34" charset="-120"/>
                <a:ea typeface="微軟正黑體" panose="020B0604030504040204" pitchFamily="34" charset="-120"/>
              </a:rPr>
              <a:t>k</a:t>
            </a:r>
            <a:r>
              <a:rPr lang="es-ES" altLang="zh-TW" dirty="0">
                <a:solidFill>
                  <a:schemeClr val="bg1"/>
                </a:solidFill>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39241982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6" name="內容版面配置區 5"/>
          <p:cNvGraphicFramePr>
            <a:graphicFrameLocks noGrp="1"/>
          </p:cNvGraphicFramePr>
          <p:nvPr>
            <p:ph idx="1"/>
            <p:extLst>
              <p:ext uri="{D42A27DB-BD31-4B8C-83A1-F6EECF244321}">
                <p14:modId xmlns:p14="http://schemas.microsoft.com/office/powerpoint/2010/main" val="2862697216"/>
              </p:ext>
            </p:extLst>
          </p:nvPr>
        </p:nvGraphicFramePr>
        <p:xfrm>
          <a:off x="1141413" y="2249488"/>
          <a:ext cx="9905998" cy="2966720"/>
        </p:xfrm>
        <a:graphic>
          <a:graphicData uri="http://schemas.openxmlformats.org/drawingml/2006/table">
            <a:tbl>
              <a:tblPr firstRow="1" bandRow="1">
                <a:tableStyleId>{5C22544A-7EE6-4342-B048-85BDC9FD1C3A}</a:tableStyleId>
              </a:tblPr>
              <a:tblGrid>
                <a:gridCol w="1531351">
                  <a:extLst>
                    <a:ext uri="{9D8B030D-6E8A-4147-A177-3AD203B41FA5}">
                      <a16:colId xmlns:a16="http://schemas.microsoft.com/office/drawing/2014/main" val="3720415613"/>
                    </a:ext>
                  </a:extLst>
                </a:gridCol>
                <a:gridCol w="8374647">
                  <a:extLst>
                    <a:ext uri="{9D8B030D-6E8A-4147-A177-3AD203B41FA5}">
                      <a16:colId xmlns:a16="http://schemas.microsoft.com/office/drawing/2014/main" val="3952522582"/>
                    </a:ext>
                  </a:extLst>
                </a:gridCol>
              </a:tblGrid>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ID</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Euclidean distance</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958857702"/>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1(N)</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{(1.40-1.35)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+(4.30-4.20)</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0.1118</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010490587"/>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2(N)</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微軟正黑體" panose="020B0604030504040204" pitchFamily="34" charset="-120"/>
                          <a:ea typeface="微軟正黑體" panose="020B0604030504040204" pitchFamily="34" charset="-120"/>
                        </a:rPr>
                        <a:t>{(1.40-1.35)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+(4.30-4.15)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0.1581</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104743933"/>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3(Y)</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微軟正黑體" panose="020B0604030504040204" pitchFamily="34" charset="-120"/>
                          <a:ea typeface="微軟正黑體" panose="020B0604030504040204" pitchFamily="34" charset="-120"/>
                        </a:rPr>
                        <a:t>{(1.40-1.30)</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+(4.30-4.20)</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0.1414</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902826820"/>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4(N)</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微軟正黑體" panose="020B0604030504040204" pitchFamily="34" charset="-120"/>
                          <a:ea typeface="微軟正黑體" panose="020B0604030504040204" pitchFamily="34" charset="-120"/>
                        </a:rPr>
                        <a:t>{(1.40-1.35)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+(4.30-4.15)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0.1581</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70691465"/>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5(Y)</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微軟正黑體" panose="020B0604030504040204" pitchFamily="34" charset="-120"/>
                          <a:ea typeface="微軟正黑體" panose="020B0604030504040204" pitchFamily="34" charset="-120"/>
                        </a:rPr>
                        <a:t>{(1.40-1.45)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+(4.30-4.25)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0.0707</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260650748"/>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6(Y)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{(1.40-1.80)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+(4.30-4.60)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0.5000</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521091589"/>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7(Y)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{(1.40-1.90)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+(4.30-4.55)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0.5590</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294577260"/>
                  </a:ext>
                </a:extLst>
              </a:tr>
            </a:tbl>
          </a:graphicData>
        </a:graphic>
      </p:graphicFrame>
      <p:sp>
        <p:nvSpPr>
          <p:cNvPr id="4" name="矩形 3"/>
          <p:cNvSpPr/>
          <p:nvPr/>
        </p:nvSpPr>
        <p:spPr>
          <a:xfrm>
            <a:off x="6569672" y="1173137"/>
            <a:ext cx="4179349" cy="369332"/>
          </a:xfrm>
          <a:prstGeom prst="rect">
            <a:avLst/>
          </a:prstGeom>
          <a:solidFill>
            <a:schemeClr val="accent5"/>
          </a:solidFill>
        </p:spPr>
        <p:txBody>
          <a:bodyPr wrap="none">
            <a:spAutoFit/>
          </a:bodyPr>
          <a:lstStyle/>
          <a:p>
            <a:r>
              <a:rPr lang="es-ES" altLang="zh-TW" dirty="0">
                <a:solidFill>
                  <a:schemeClr val="bg1"/>
                </a:solidFill>
                <a:latin typeface="微軟正黑體" panose="020B0604030504040204" pitchFamily="34" charset="-120"/>
                <a:ea typeface="微軟正黑體" panose="020B0604030504040204" pitchFamily="34" charset="-120"/>
              </a:rPr>
              <a:t>Euclidean distance: d(x, y) = Σ|x</a:t>
            </a:r>
            <a:r>
              <a:rPr lang="es-ES" altLang="zh-TW" baseline="-25000" dirty="0">
                <a:solidFill>
                  <a:schemeClr val="bg1"/>
                </a:solidFill>
                <a:latin typeface="微軟正黑體" panose="020B0604030504040204" pitchFamily="34" charset="-120"/>
                <a:ea typeface="微軟正黑體" panose="020B0604030504040204" pitchFamily="34" charset="-120"/>
              </a:rPr>
              <a:t>k</a:t>
            </a:r>
            <a:r>
              <a:rPr lang="es-ES" altLang="zh-TW" dirty="0">
                <a:solidFill>
                  <a:schemeClr val="bg1"/>
                </a:solidFill>
                <a:latin typeface="微軟正黑體" panose="020B0604030504040204" pitchFamily="34" charset="-120"/>
                <a:ea typeface="微軟正黑體" panose="020B0604030504040204" pitchFamily="34" charset="-120"/>
              </a:rPr>
              <a:t> − y</a:t>
            </a:r>
            <a:r>
              <a:rPr lang="es-ES" altLang="zh-TW" baseline="-25000" dirty="0">
                <a:solidFill>
                  <a:schemeClr val="bg1"/>
                </a:solidFill>
                <a:latin typeface="微軟正黑體" panose="020B0604030504040204" pitchFamily="34" charset="-120"/>
                <a:ea typeface="微軟正黑體" panose="020B0604030504040204" pitchFamily="34" charset="-120"/>
              </a:rPr>
              <a:t>k</a:t>
            </a:r>
            <a:r>
              <a:rPr lang="es-ES" altLang="zh-TW" dirty="0">
                <a:solidFill>
                  <a:schemeClr val="bg1"/>
                </a:solidFill>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5798577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6" name="內容版面配置區 5"/>
          <p:cNvGraphicFramePr>
            <a:graphicFrameLocks noGrp="1"/>
          </p:cNvGraphicFramePr>
          <p:nvPr>
            <p:ph idx="1"/>
          </p:nvPr>
        </p:nvGraphicFramePr>
        <p:xfrm>
          <a:off x="1141413" y="2249488"/>
          <a:ext cx="9905998" cy="2966720"/>
        </p:xfrm>
        <a:graphic>
          <a:graphicData uri="http://schemas.openxmlformats.org/drawingml/2006/table">
            <a:tbl>
              <a:tblPr firstRow="1" bandRow="1">
                <a:tableStyleId>{5C22544A-7EE6-4342-B048-85BDC9FD1C3A}</a:tableStyleId>
              </a:tblPr>
              <a:tblGrid>
                <a:gridCol w="1531351">
                  <a:extLst>
                    <a:ext uri="{9D8B030D-6E8A-4147-A177-3AD203B41FA5}">
                      <a16:colId xmlns:a16="http://schemas.microsoft.com/office/drawing/2014/main" val="3720415613"/>
                    </a:ext>
                  </a:extLst>
                </a:gridCol>
                <a:gridCol w="8374647">
                  <a:extLst>
                    <a:ext uri="{9D8B030D-6E8A-4147-A177-3AD203B41FA5}">
                      <a16:colId xmlns:a16="http://schemas.microsoft.com/office/drawing/2014/main" val="3952522582"/>
                    </a:ext>
                  </a:extLst>
                </a:gridCol>
              </a:tblGrid>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ID</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Euclidean distance</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958857702"/>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1(N)</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{(1.40-1.35)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+(4.30-4.20)</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0.1118</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010490587"/>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2(N)</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微軟正黑體" panose="020B0604030504040204" pitchFamily="34" charset="-120"/>
                          <a:ea typeface="微軟正黑體" panose="020B0604030504040204" pitchFamily="34" charset="-120"/>
                        </a:rPr>
                        <a:t>{(1.40-1.35)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+(4.30-4.15)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0.1581</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104743933"/>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3(Y)</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微軟正黑體" panose="020B0604030504040204" pitchFamily="34" charset="-120"/>
                          <a:ea typeface="微軟正黑體" panose="020B0604030504040204" pitchFamily="34" charset="-120"/>
                        </a:rPr>
                        <a:t>{(1.40-1.30)</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+(4.30-4.20)</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0.1414</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902826820"/>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4(N)</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微軟正黑體" panose="020B0604030504040204" pitchFamily="34" charset="-120"/>
                          <a:ea typeface="微軟正黑體" panose="020B0604030504040204" pitchFamily="34" charset="-120"/>
                        </a:rPr>
                        <a:t>{(1.40-1.35)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+(4.30-4.15)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0.1581</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70691465"/>
                  </a:ext>
                </a:extLst>
              </a:tr>
              <a:tr h="370840">
                <a:tc>
                  <a:txBody>
                    <a:bodyPr/>
                    <a:lstStyle/>
                    <a:p>
                      <a:pPr algn="ctr"/>
                      <a:r>
                        <a:rPr lang="en-US" altLang="zh-TW" dirty="0">
                          <a:solidFill>
                            <a:srgbClr val="FF0000"/>
                          </a:solidFill>
                          <a:latin typeface="微軟正黑體" panose="020B0604030504040204" pitchFamily="34" charset="-120"/>
                          <a:ea typeface="微軟正黑體" panose="020B0604030504040204" pitchFamily="34" charset="-120"/>
                        </a:rPr>
                        <a:t>5(Y)</a:t>
                      </a:r>
                      <a:endParaRPr lang="zh-TW" altLang="en-US"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微軟正黑體" panose="020B0604030504040204" pitchFamily="34" charset="-120"/>
                          <a:ea typeface="微軟正黑體" panose="020B0604030504040204" pitchFamily="34" charset="-120"/>
                        </a:rPr>
                        <a:t>{(1.40-1.45)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+(4.30-4.25)</a:t>
                      </a:r>
                      <a:r>
                        <a:rPr lang="en-US" altLang="zh-TW" baseline="30000" dirty="0">
                          <a:solidFill>
                            <a:srgbClr val="FF0000"/>
                          </a:solidFill>
                          <a:latin typeface="微軟正黑體" panose="020B0604030504040204" pitchFamily="34" charset="-120"/>
                          <a:ea typeface="微軟正黑體" panose="020B0604030504040204" pitchFamily="34" charset="-120"/>
                        </a:rPr>
                        <a:t>2</a:t>
                      </a:r>
                      <a:r>
                        <a:rPr lang="en-US" altLang="zh-TW" dirty="0">
                          <a:solidFill>
                            <a:srgbClr val="FF0000"/>
                          </a:solidFill>
                          <a:latin typeface="微軟正黑體" panose="020B0604030504040204" pitchFamily="34" charset="-120"/>
                          <a:ea typeface="微軟正黑體" panose="020B0604030504040204" pitchFamily="34" charset="-120"/>
                        </a:rPr>
                        <a:t>}</a:t>
                      </a:r>
                      <a:r>
                        <a:rPr lang="en-US" altLang="zh-TW" baseline="30000" dirty="0">
                          <a:solidFill>
                            <a:srgbClr val="FF0000"/>
                          </a:solidFill>
                          <a:latin typeface="微軟正黑體" panose="020B0604030504040204" pitchFamily="34" charset="-120"/>
                          <a:ea typeface="微軟正黑體" panose="020B0604030504040204" pitchFamily="34" charset="-120"/>
                        </a:rPr>
                        <a:t>1/2</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a:t>
                      </a:r>
                      <a:r>
                        <a:rPr lang="zh-TW" altLang="en-US" baseline="0" dirty="0">
                          <a:solidFill>
                            <a:srgbClr val="FF0000"/>
                          </a:solidFill>
                          <a:latin typeface="微軟正黑體" panose="020B0604030504040204" pitchFamily="34" charset="-120"/>
                          <a:ea typeface="微軟正黑體" panose="020B0604030504040204" pitchFamily="34" charset="-120"/>
                        </a:rPr>
                        <a:t> </a:t>
                      </a:r>
                      <a:r>
                        <a:rPr lang="en-US" altLang="zh-TW" baseline="0" dirty="0">
                          <a:solidFill>
                            <a:srgbClr val="FF0000"/>
                          </a:solidFill>
                          <a:latin typeface="微軟正黑體" panose="020B0604030504040204" pitchFamily="34" charset="-120"/>
                          <a:ea typeface="微軟正黑體" panose="020B0604030504040204" pitchFamily="34" charset="-120"/>
                        </a:rPr>
                        <a:t>0.0707</a:t>
                      </a:r>
                      <a:endParaRPr lang="zh-TW" altLang="en-US" baseline="0" dirty="0">
                        <a:solidFill>
                          <a:srgbClr val="FF0000"/>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260650748"/>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6(Y)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{(1.40-1.80)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+(4.30-4.60)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0.5000</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521091589"/>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7(Y)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solidFill>
                          <a:latin typeface="微軟正黑體" panose="020B0604030504040204" pitchFamily="34" charset="-120"/>
                          <a:ea typeface="微軟正黑體" panose="020B0604030504040204" pitchFamily="34" charset="-120"/>
                        </a:rPr>
                        <a:t>{(1.40-1.90)</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+(4.30-4.55)</a:t>
                      </a:r>
                      <a:r>
                        <a:rPr lang="en-US" altLang="zh-TW" baseline="30000" dirty="0">
                          <a:solidFill>
                            <a:schemeClr val="bg1"/>
                          </a:solidFill>
                          <a:latin typeface="微軟正黑體" panose="020B0604030504040204" pitchFamily="34" charset="-120"/>
                          <a:ea typeface="微軟正黑體" panose="020B0604030504040204" pitchFamily="34" charset="-120"/>
                        </a:rPr>
                        <a:t>2</a:t>
                      </a:r>
                      <a:r>
                        <a:rPr lang="en-US" altLang="zh-TW" dirty="0">
                          <a:solidFill>
                            <a:schemeClr val="bg1"/>
                          </a:solidFill>
                          <a:latin typeface="微軟正黑體" panose="020B0604030504040204" pitchFamily="34" charset="-120"/>
                          <a:ea typeface="微軟正黑體" panose="020B0604030504040204" pitchFamily="34" charset="-120"/>
                        </a:rPr>
                        <a:t>}</a:t>
                      </a:r>
                      <a:r>
                        <a:rPr lang="en-US" altLang="zh-TW" baseline="30000" dirty="0">
                          <a:solidFill>
                            <a:schemeClr val="bg1"/>
                          </a:solidFill>
                          <a:latin typeface="微軟正黑體" panose="020B0604030504040204" pitchFamily="34" charset="-120"/>
                          <a:ea typeface="微軟正黑體" panose="020B0604030504040204" pitchFamily="34" charset="-120"/>
                        </a:rPr>
                        <a:t>1/2</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a:t>
                      </a:r>
                      <a:r>
                        <a:rPr lang="zh-TW" altLang="en-US" baseline="0" dirty="0">
                          <a:solidFill>
                            <a:schemeClr val="bg1"/>
                          </a:solidFill>
                          <a:latin typeface="微軟正黑體" panose="020B0604030504040204" pitchFamily="34" charset="-120"/>
                          <a:ea typeface="微軟正黑體" panose="020B0604030504040204" pitchFamily="34" charset="-120"/>
                        </a:rPr>
                        <a:t> </a:t>
                      </a:r>
                      <a:r>
                        <a:rPr lang="en-US" altLang="zh-TW" baseline="0" dirty="0">
                          <a:solidFill>
                            <a:schemeClr val="bg1"/>
                          </a:solidFill>
                          <a:latin typeface="微軟正黑體" panose="020B0604030504040204" pitchFamily="34" charset="-120"/>
                          <a:ea typeface="微軟正黑體" panose="020B0604030504040204" pitchFamily="34" charset="-120"/>
                        </a:rPr>
                        <a:t>0.5590</a:t>
                      </a:r>
                      <a:endParaRPr lang="zh-TW" altLang="en-US" baseline="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294577260"/>
                  </a:ext>
                </a:extLst>
              </a:tr>
            </a:tbl>
          </a:graphicData>
        </a:graphic>
      </p:graphicFrame>
      <p:sp>
        <p:nvSpPr>
          <p:cNvPr id="4" name="矩形 3"/>
          <p:cNvSpPr/>
          <p:nvPr/>
        </p:nvSpPr>
        <p:spPr>
          <a:xfrm>
            <a:off x="6569672" y="1173137"/>
            <a:ext cx="4179349" cy="369332"/>
          </a:xfrm>
          <a:prstGeom prst="rect">
            <a:avLst/>
          </a:prstGeom>
          <a:solidFill>
            <a:schemeClr val="accent5"/>
          </a:solidFill>
        </p:spPr>
        <p:txBody>
          <a:bodyPr wrap="none">
            <a:spAutoFit/>
          </a:bodyPr>
          <a:lstStyle/>
          <a:p>
            <a:r>
              <a:rPr lang="es-ES" altLang="zh-TW" dirty="0">
                <a:solidFill>
                  <a:schemeClr val="bg1"/>
                </a:solidFill>
                <a:latin typeface="微軟正黑體" panose="020B0604030504040204" pitchFamily="34" charset="-120"/>
                <a:ea typeface="微軟正黑體" panose="020B0604030504040204" pitchFamily="34" charset="-120"/>
              </a:rPr>
              <a:t>Euclidean distance: d(x, y) = Σ|x</a:t>
            </a:r>
            <a:r>
              <a:rPr lang="es-ES" altLang="zh-TW" baseline="-25000" dirty="0">
                <a:solidFill>
                  <a:schemeClr val="bg1"/>
                </a:solidFill>
                <a:latin typeface="微軟正黑體" panose="020B0604030504040204" pitchFamily="34" charset="-120"/>
                <a:ea typeface="微軟正黑體" panose="020B0604030504040204" pitchFamily="34" charset="-120"/>
              </a:rPr>
              <a:t>k</a:t>
            </a:r>
            <a:r>
              <a:rPr lang="es-ES" altLang="zh-TW" dirty="0">
                <a:solidFill>
                  <a:schemeClr val="bg1"/>
                </a:solidFill>
                <a:latin typeface="微軟正黑體" panose="020B0604030504040204" pitchFamily="34" charset="-120"/>
                <a:ea typeface="微軟正黑體" panose="020B0604030504040204" pitchFamily="34" charset="-120"/>
              </a:rPr>
              <a:t> − y</a:t>
            </a:r>
            <a:r>
              <a:rPr lang="es-ES" altLang="zh-TW" baseline="-25000" dirty="0">
                <a:solidFill>
                  <a:schemeClr val="bg1"/>
                </a:solidFill>
                <a:latin typeface="微軟正黑體" panose="020B0604030504040204" pitchFamily="34" charset="-120"/>
                <a:ea typeface="微軟正黑體" panose="020B0604030504040204" pitchFamily="34" charset="-120"/>
              </a:rPr>
              <a:t>k</a:t>
            </a:r>
            <a:r>
              <a:rPr lang="es-ES" altLang="zh-TW" dirty="0">
                <a:solidFill>
                  <a:schemeClr val="bg1"/>
                </a:solidFill>
                <a:latin typeface="微軟正黑體" panose="020B0604030504040204" pitchFamily="34" charset="-120"/>
                <a:ea typeface="微軟正黑體" panose="020B0604030504040204" pitchFamily="34" charset="-120"/>
              </a:rPr>
              <a:t>|</a:t>
            </a:r>
          </a:p>
        </p:txBody>
      </p:sp>
      <p:sp>
        <p:nvSpPr>
          <p:cNvPr id="3" name="文字方塊 2"/>
          <p:cNvSpPr txBox="1"/>
          <p:nvPr/>
        </p:nvSpPr>
        <p:spPr>
          <a:xfrm>
            <a:off x="1611087" y="5529942"/>
            <a:ext cx="3265714" cy="369332"/>
          </a:xfrm>
          <a:prstGeom prst="rect">
            <a:avLst/>
          </a:prstGeom>
          <a:solidFill>
            <a:schemeClr val="accent4"/>
          </a:solidFill>
        </p:spPr>
        <p:txBody>
          <a:bodyPr wrap="square" rtlCol="0">
            <a:spAutoFit/>
          </a:bodyPr>
          <a:lstStyle/>
          <a:p>
            <a:r>
              <a:rPr lang="en-US" altLang="zh-TW" dirty="0">
                <a:solidFill>
                  <a:schemeClr val="bg1"/>
                </a:solidFill>
                <a:latin typeface="微軟正黑體" panose="020B0604030504040204" pitchFamily="34" charset="-120"/>
                <a:ea typeface="微軟正黑體" panose="020B0604030504040204" pitchFamily="34" charset="-120"/>
              </a:rPr>
              <a:t>N*3 + Y*2 </a:t>
            </a:r>
            <a:r>
              <a:rPr lang="en-US" altLang="zh-TW"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 N</a:t>
            </a:r>
            <a:r>
              <a:rPr lang="zh-TW" altLang="en-US"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（多數決定）</a:t>
            </a:r>
            <a:endParaRPr lang="zh-TW" altLang="en-US"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94731160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Decision trees for classification</a:t>
            </a:r>
          </a:p>
          <a:p>
            <a:pPr lvl="1"/>
            <a:r>
              <a:rPr lang="en-US" altLang="zh-TW" dirty="0">
                <a:latin typeface="微軟正黑體" panose="020B0604030504040204" pitchFamily="34" charset="-120"/>
                <a:ea typeface="微軟正黑體" panose="020B0604030504040204" pitchFamily="34" charset="-120"/>
              </a:rPr>
              <a:t>Classification trees</a:t>
            </a:r>
          </a:p>
          <a:p>
            <a:pPr lvl="1"/>
            <a:r>
              <a:rPr lang="zh-TW" altLang="en-US" dirty="0">
                <a:latin typeface="微軟正黑體" panose="020B0604030504040204" pitchFamily="34" charset="-120"/>
                <a:ea typeface="微軟正黑體" panose="020B0604030504040204" pitchFamily="34" charset="-120"/>
              </a:rPr>
              <a:t>決策樹分類器或分類樹</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概念跟我們在資料結構中所學習到的樹的概念其實是很相似的</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基於訓練資料集中過往的數據，我們可以一步一步地建構起一棵分類樹</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並且利用已經建構好的分類樹來預測新的測試資料</a:t>
            </a:r>
            <a:endParaRPr lang="en-US" altLang="zh-TW" dirty="0">
              <a:latin typeface="微軟正黑體" panose="020B0604030504040204" pitchFamily="34" charset="-120"/>
              <a:ea typeface="微軟正黑體" panose="020B0604030504040204" pitchFamily="34" charset="-120"/>
            </a:endParaRPr>
          </a:p>
        </p:txBody>
      </p:sp>
      <p:pic>
        <p:nvPicPr>
          <p:cNvPr id="4098" name="Picture 2" descr="https://upload.wikimedia.org/wikipedia/commons/thumb/d/da/Binary_search_tree.svg/1024px-Binary_search_tree.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69943" y="217713"/>
            <a:ext cx="3813175" cy="3176405"/>
          </a:xfrm>
          <a:prstGeom prst="rect">
            <a:avLst/>
          </a:prstGeom>
          <a:solidFill>
            <a:schemeClr val="accent6"/>
          </a:solidFill>
        </p:spPr>
      </p:pic>
    </p:spTree>
    <p:extLst>
      <p:ext uri="{BB962C8B-B14F-4D97-AF65-F5344CB8AC3E}">
        <p14:creationId xmlns:p14="http://schemas.microsoft.com/office/powerpoint/2010/main" val="15841509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Decision trees for classification</a:t>
            </a:r>
          </a:p>
          <a:p>
            <a:pPr lvl="1"/>
            <a:r>
              <a:rPr lang="zh-TW" altLang="en-US" dirty="0">
                <a:latin typeface="微軟正黑體" panose="020B0604030504040204" pitchFamily="34" charset="-120"/>
                <a:ea typeface="微軟正黑體" panose="020B0604030504040204" pitchFamily="34" charset="-120"/>
              </a:rPr>
              <a:t>其中葉節點（</a:t>
            </a:r>
            <a:r>
              <a:rPr lang="en-US" altLang="zh-TW" dirty="0">
                <a:latin typeface="微軟正黑體" panose="020B0604030504040204" pitchFamily="34" charset="-120"/>
                <a:ea typeface="微軟正黑體" panose="020B0604030504040204" pitchFamily="34" charset="-120"/>
              </a:rPr>
              <a:t>leaf node</a:t>
            </a:r>
            <a:r>
              <a:rPr lang="zh-TW" altLang="en-US" dirty="0">
                <a:latin typeface="微軟正黑體" panose="020B0604030504040204" pitchFamily="34" charset="-120"/>
                <a:ea typeface="微軟正黑體" panose="020B0604030504040204" pitchFamily="34" charset="-120"/>
              </a:rPr>
              <a:t>）用來代表標籤（</a:t>
            </a:r>
            <a:r>
              <a:rPr lang="en-US" altLang="zh-TW" dirty="0">
                <a:latin typeface="微軟正黑體" panose="020B0604030504040204" pitchFamily="34" charset="-120"/>
                <a:ea typeface="微軟正黑體" panose="020B0604030504040204" pitchFamily="34" charset="-120"/>
              </a:rPr>
              <a:t>label</a:t>
            </a:r>
            <a:r>
              <a:rPr lang="zh-TW" altLang="en-US" dirty="0">
                <a:latin typeface="微軟正黑體" panose="020B0604030504040204" pitchFamily="34" charset="-120"/>
                <a:ea typeface="微軟正黑體" panose="020B0604030504040204" pitchFamily="34" charset="-120"/>
              </a:rPr>
              <a:t>），它可以是一個類別（</a:t>
            </a:r>
            <a:r>
              <a:rPr lang="en-US" altLang="zh-TW" dirty="0">
                <a:latin typeface="微軟正黑體" panose="020B0604030504040204" pitchFamily="34" charset="-120"/>
                <a:ea typeface="微軟正黑體" panose="020B0604030504040204" pitchFamily="34" charset="-120"/>
              </a:rPr>
              <a:t>class</a:t>
            </a:r>
            <a:r>
              <a:rPr lang="zh-TW" altLang="en-US" dirty="0">
                <a:latin typeface="微軟正黑體" panose="020B0604030504040204" pitchFamily="34" charset="-120"/>
                <a:ea typeface="微軟正黑體" panose="020B0604030504040204" pitchFamily="34" charset="-120"/>
              </a:rPr>
              <a:t>）或者是一個機率值（</a:t>
            </a:r>
            <a:r>
              <a:rPr lang="en-US" altLang="zh-TW" dirty="0">
                <a:latin typeface="微軟正黑體" panose="020B0604030504040204" pitchFamily="34" charset="-120"/>
                <a:ea typeface="微軟正黑體" panose="020B0604030504040204" pitchFamily="34" charset="-120"/>
              </a:rPr>
              <a:t>probability</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而分支（</a:t>
            </a:r>
            <a:r>
              <a:rPr lang="en-US" altLang="zh-TW" dirty="0">
                <a:latin typeface="微軟正黑體" panose="020B0604030504040204" pitchFamily="34" charset="-120"/>
                <a:ea typeface="微軟正黑體" panose="020B0604030504040204" pitchFamily="34" charset="-120"/>
              </a:rPr>
              <a:t>branch</a:t>
            </a:r>
            <a:r>
              <a:rPr lang="zh-TW" altLang="en-US" dirty="0">
                <a:latin typeface="微軟正黑體" panose="020B0604030504040204" pitchFamily="34" charset="-120"/>
                <a:ea typeface="微軟正黑體" panose="020B0604030504040204" pitchFamily="34" charset="-120"/>
              </a:rPr>
              <a:t>）則是用來代表屬性之間的關聯性</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5199974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811485" y="1233714"/>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12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6" name="流程圖: 決策 5"/>
          <p:cNvSpPr/>
          <p:nvPr/>
        </p:nvSpPr>
        <p:spPr>
          <a:xfrm>
            <a:off x="4504869" y="2117997"/>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目測天氣</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 name="直線單箭頭接點 7"/>
          <p:cNvCxnSpPr>
            <a:stCxn id="5" idx="2"/>
            <a:endCxn id="6" idx="0"/>
          </p:cNvCxnSpPr>
          <p:nvPr/>
        </p:nvCxnSpPr>
        <p:spPr>
          <a:xfrm flipH="1">
            <a:off x="5978070" y="1833880"/>
            <a:ext cx="1816" cy="284117"/>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a:stCxn id="6" idx="1"/>
          </p:cNvCxnSpPr>
          <p:nvPr/>
        </p:nvCxnSpPr>
        <p:spPr>
          <a:xfrm flipH="1" flipV="1">
            <a:off x="3140528" y="2640511"/>
            <a:ext cx="1364341" cy="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6" idx="3"/>
          </p:cNvCxnSpPr>
          <p:nvPr/>
        </p:nvCxnSpPr>
        <p:spPr>
          <a:xfrm flipV="1">
            <a:off x="7451270" y="2640511"/>
            <a:ext cx="1436915" cy="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6" idx="2"/>
            <a:endCxn id="45" idx="0"/>
          </p:cNvCxnSpPr>
          <p:nvPr/>
        </p:nvCxnSpPr>
        <p:spPr>
          <a:xfrm flipH="1">
            <a:off x="5978069" y="3163026"/>
            <a:ext cx="1" cy="30734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endCxn id="43" idx="0"/>
          </p:cNvCxnSpPr>
          <p:nvPr/>
        </p:nvCxnSpPr>
        <p:spPr>
          <a:xfrm flipH="1">
            <a:off x="3140527" y="2640511"/>
            <a:ext cx="2" cy="829855"/>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endCxn id="47" idx="0"/>
          </p:cNvCxnSpPr>
          <p:nvPr/>
        </p:nvCxnSpPr>
        <p:spPr>
          <a:xfrm>
            <a:off x="8888183" y="2640511"/>
            <a:ext cx="2" cy="834391"/>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1972126" y="3470366"/>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10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45" name="矩形 44"/>
          <p:cNvSpPr/>
          <p:nvPr/>
        </p:nvSpPr>
        <p:spPr>
          <a:xfrm>
            <a:off x="4809668" y="3470366"/>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8</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47" name="矩形 46"/>
          <p:cNvSpPr/>
          <p:nvPr/>
        </p:nvSpPr>
        <p:spPr>
          <a:xfrm>
            <a:off x="7719784" y="3474902"/>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8</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51" name="矩形 50"/>
          <p:cNvSpPr/>
          <p:nvPr/>
        </p:nvSpPr>
        <p:spPr>
          <a:xfrm>
            <a:off x="2451461" y="31212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太陽</a:t>
            </a:r>
          </a:p>
        </p:txBody>
      </p:sp>
      <p:sp>
        <p:nvSpPr>
          <p:cNvPr id="52" name="矩形 51"/>
          <p:cNvSpPr/>
          <p:nvPr/>
        </p:nvSpPr>
        <p:spPr>
          <a:xfrm>
            <a:off x="5280290" y="3137988"/>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陰天</a:t>
            </a:r>
          </a:p>
        </p:txBody>
      </p:sp>
      <p:sp>
        <p:nvSpPr>
          <p:cNvPr id="53" name="矩形 52"/>
          <p:cNvSpPr/>
          <p:nvPr/>
        </p:nvSpPr>
        <p:spPr>
          <a:xfrm>
            <a:off x="8190405" y="3114765"/>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下雨</a:t>
            </a:r>
          </a:p>
        </p:txBody>
      </p:sp>
      <p:sp>
        <p:nvSpPr>
          <p:cNvPr id="54" name="矩形 53"/>
          <p:cNvSpPr/>
          <p:nvPr/>
        </p:nvSpPr>
        <p:spPr>
          <a:xfrm>
            <a:off x="5687964" y="4105730"/>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8/10</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cxnSp>
        <p:nvCxnSpPr>
          <p:cNvPr id="55" name="直線單箭頭接點 54"/>
          <p:cNvCxnSpPr>
            <a:stCxn id="43" idx="2"/>
            <a:endCxn id="61" idx="0"/>
          </p:cNvCxnSpPr>
          <p:nvPr/>
        </p:nvCxnSpPr>
        <p:spPr>
          <a:xfrm flipH="1">
            <a:off x="3140525" y="4070532"/>
            <a:ext cx="2" cy="33310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47" idx="2"/>
            <a:endCxn id="79" idx="0"/>
          </p:cNvCxnSpPr>
          <p:nvPr/>
        </p:nvCxnSpPr>
        <p:spPr>
          <a:xfrm flipH="1">
            <a:off x="8888183" y="4075068"/>
            <a:ext cx="2" cy="328568"/>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1" name="流程圖: 決策 60"/>
          <p:cNvSpPr/>
          <p:nvPr/>
        </p:nvSpPr>
        <p:spPr>
          <a:xfrm>
            <a:off x="1667324" y="4403636"/>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溼度</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65" name="直線單箭頭接點 64"/>
          <p:cNvCxnSpPr>
            <a:stCxn id="61" idx="3"/>
          </p:cNvCxnSpPr>
          <p:nvPr/>
        </p:nvCxnSpPr>
        <p:spPr>
          <a:xfrm>
            <a:off x="4613725"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498923"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8</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0</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68" name="矩形 67"/>
          <p:cNvSpPr/>
          <p:nvPr/>
        </p:nvSpPr>
        <p:spPr>
          <a:xfrm>
            <a:off x="3227241"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71" name="直線單箭頭接點 70"/>
          <p:cNvCxnSpPr>
            <a:stCxn id="61" idx="1"/>
            <a:endCxn id="67" idx="0"/>
          </p:cNvCxnSpPr>
          <p:nvPr/>
        </p:nvCxnSpPr>
        <p:spPr>
          <a:xfrm>
            <a:off x="1667324"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866775" y="5321097"/>
            <a:ext cx="688519"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&lt;=75</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5" name="矩形 74"/>
          <p:cNvSpPr/>
          <p:nvPr/>
        </p:nvSpPr>
        <p:spPr>
          <a:xfrm>
            <a:off x="3921486" y="53210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&gt;75</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6" name="矩形 75"/>
          <p:cNvSpPr/>
          <p:nvPr/>
        </p:nvSpPr>
        <p:spPr>
          <a:xfrm>
            <a:off x="1377219" y="6386489"/>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8/8</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7" name="矩形 76"/>
          <p:cNvSpPr/>
          <p:nvPr/>
        </p:nvSpPr>
        <p:spPr>
          <a:xfrm>
            <a:off x="4105537" y="6366126"/>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2/4</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9" name="流程圖: 決策 78"/>
          <p:cNvSpPr/>
          <p:nvPr/>
        </p:nvSpPr>
        <p:spPr>
          <a:xfrm>
            <a:off x="7414982" y="4403636"/>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是否颳風</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0" name="直線單箭頭接點 79"/>
          <p:cNvCxnSpPr>
            <a:stCxn id="79" idx="3"/>
          </p:cNvCxnSpPr>
          <p:nvPr/>
        </p:nvCxnSpPr>
        <p:spPr>
          <a:xfrm>
            <a:off x="10361383"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6246581"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4</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82" name="矩形 81"/>
          <p:cNvSpPr/>
          <p:nvPr/>
        </p:nvSpPr>
        <p:spPr>
          <a:xfrm>
            <a:off x="8974899"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4</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3" name="直線單箭頭接點 82"/>
          <p:cNvCxnSpPr>
            <a:stCxn id="79" idx="1"/>
            <a:endCxn id="81" idx="0"/>
          </p:cNvCxnSpPr>
          <p:nvPr/>
        </p:nvCxnSpPr>
        <p:spPr>
          <a:xfrm>
            <a:off x="7414982"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6614433" y="5321097"/>
            <a:ext cx="688519"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是</a:t>
            </a:r>
          </a:p>
        </p:txBody>
      </p:sp>
      <p:sp>
        <p:nvSpPr>
          <p:cNvPr id="85" name="矩形 84"/>
          <p:cNvSpPr/>
          <p:nvPr/>
        </p:nvSpPr>
        <p:spPr>
          <a:xfrm>
            <a:off x="9669144" y="53210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否</a:t>
            </a:r>
          </a:p>
        </p:txBody>
      </p:sp>
      <p:sp>
        <p:nvSpPr>
          <p:cNvPr id="86" name="矩形 85"/>
          <p:cNvSpPr/>
          <p:nvPr/>
        </p:nvSpPr>
        <p:spPr>
          <a:xfrm>
            <a:off x="7124877" y="6386489"/>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0/4</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87" name="矩形 86"/>
          <p:cNvSpPr/>
          <p:nvPr/>
        </p:nvSpPr>
        <p:spPr>
          <a:xfrm>
            <a:off x="9853195" y="6366126"/>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2/6</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92" name="矩形 91"/>
          <p:cNvSpPr/>
          <p:nvPr/>
        </p:nvSpPr>
        <p:spPr>
          <a:xfrm>
            <a:off x="498923" y="280043"/>
            <a:ext cx="11223176"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marL="285750" indent="-285750">
              <a:buFont typeface="Wingdings" panose="05000000000000000000" pitchFamily="2" charset="2"/>
              <a:buChar char="p"/>
            </a:pPr>
            <a:r>
              <a:rPr lang="zh-TW" altLang="en-US" dirty="0">
                <a:solidFill>
                  <a:schemeClr val="bg1"/>
                </a:solidFill>
                <a:latin typeface="微軟正黑體" panose="020B0604030504040204" pitchFamily="34" charset="-120"/>
                <a:ea typeface="微軟正黑體" panose="020B0604030504040204" pitchFamily="34" charset="-120"/>
              </a:rPr>
              <a:t>利用過往</a:t>
            </a:r>
            <a:r>
              <a:rPr lang="en-US" altLang="zh-TW" dirty="0">
                <a:solidFill>
                  <a:schemeClr val="bg1"/>
                </a:solidFill>
                <a:latin typeface="微軟正黑體" panose="020B0604030504040204" pitchFamily="34" charset="-120"/>
                <a:ea typeface="微軟正黑體" panose="020B0604030504040204" pitchFamily="34" charset="-120"/>
              </a:rPr>
              <a:t>32</a:t>
            </a:r>
            <a:r>
              <a:rPr lang="zh-TW" altLang="en-US" dirty="0">
                <a:solidFill>
                  <a:schemeClr val="bg1"/>
                </a:solidFill>
                <a:latin typeface="微軟正黑體" panose="020B0604030504040204" pitchFamily="34" charset="-120"/>
                <a:ea typeface="微軟正黑體" panose="020B0604030504040204" pitchFamily="34" charset="-120"/>
              </a:rPr>
              <a:t>次打籃球的經驗，建構一個分類樹來推估之後當天氣條件為何時</a:t>
            </a:r>
            <a:r>
              <a:rPr lang="en-US" altLang="zh-TW" dirty="0">
                <a:solidFill>
                  <a:schemeClr val="bg1"/>
                </a:solidFill>
                <a:latin typeface="微軟正黑體" panose="020B0604030504040204" pitchFamily="34" charset="-120"/>
                <a:ea typeface="微軟正黑體" panose="020B0604030504040204" pitchFamily="34" charset="-120"/>
              </a:rPr>
              <a:t>? </a:t>
            </a:r>
            <a:r>
              <a:rPr lang="zh-TW" altLang="en-US" dirty="0">
                <a:solidFill>
                  <a:schemeClr val="bg1"/>
                </a:solidFill>
                <a:latin typeface="微軟正黑體" panose="020B0604030504040204" pitchFamily="34" charset="-120"/>
                <a:ea typeface="微軟正黑體" panose="020B0604030504040204" pitchFamily="34" charset="-120"/>
              </a:rPr>
              <a:t>適不適合打籃球</a:t>
            </a:r>
            <a:r>
              <a:rPr lang="en-US" altLang="zh-TW" dirty="0">
                <a:solidFill>
                  <a:schemeClr val="bg1"/>
                </a:solidFill>
                <a:latin typeface="微軟正黑體" panose="020B0604030504040204" pitchFamily="34" charset="-120"/>
                <a:ea typeface="微軟正黑體" panose="020B0604030504040204" pitchFamily="34" charset="-120"/>
              </a:rPr>
              <a:t>?</a:t>
            </a:r>
          </a:p>
          <a:p>
            <a:pPr marL="285750" indent="-285750">
              <a:buFont typeface="Wingdings" panose="05000000000000000000" pitchFamily="2" charset="2"/>
              <a:buChar char="p"/>
            </a:pPr>
            <a:r>
              <a:rPr lang="zh-TW" altLang="en-US" dirty="0">
                <a:solidFill>
                  <a:schemeClr val="bg1"/>
                </a:solidFill>
                <a:latin typeface="微軟正黑體" panose="020B0604030504040204" pitchFamily="34" charset="-120"/>
                <a:ea typeface="微軟正黑體" panose="020B0604030504040204" pitchFamily="34" charset="-120"/>
              </a:rPr>
              <a:t>避免到了球場才發現太熱溼度太高不適合打球，或者是雖然家附近在下雨，但球場天氣卻是適合打球的</a:t>
            </a:r>
          </a:p>
        </p:txBody>
      </p:sp>
    </p:spTree>
    <p:extLst>
      <p:ext uri="{BB962C8B-B14F-4D97-AF65-F5344CB8AC3E}">
        <p14:creationId xmlns:p14="http://schemas.microsoft.com/office/powerpoint/2010/main" val="21891050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811485" y="1233714"/>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12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6" name="流程圖: 決策 5"/>
          <p:cNvSpPr/>
          <p:nvPr/>
        </p:nvSpPr>
        <p:spPr>
          <a:xfrm>
            <a:off x="4504869" y="2117997"/>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目測天氣</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 name="直線單箭頭接點 7"/>
          <p:cNvCxnSpPr>
            <a:stCxn id="5" idx="2"/>
            <a:endCxn id="6" idx="0"/>
          </p:cNvCxnSpPr>
          <p:nvPr/>
        </p:nvCxnSpPr>
        <p:spPr>
          <a:xfrm flipH="1">
            <a:off x="5978070" y="1833880"/>
            <a:ext cx="1816" cy="284117"/>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a:stCxn id="6" idx="1"/>
          </p:cNvCxnSpPr>
          <p:nvPr/>
        </p:nvCxnSpPr>
        <p:spPr>
          <a:xfrm flipH="1" flipV="1">
            <a:off x="3140528" y="2640511"/>
            <a:ext cx="1364341" cy="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6" idx="3"/>
          </p:cNvCxnSpPr>
          <p:nvPr/>
        </p:nvCxnSpPr>
        <p:spPr>
          <a:xfrm flipV="1">
            <a:off x="7451270" y="2640511"/>
            <a:ext cx="1436915" cy="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6" idx="2"/>
            <a:endCxn id="45" idx="0"/>
          </p:cNvCxnSpPr>
          <p:nvPr/>
        </p:nvCxnSpPr>
        <p:spPr>
          <a:xfrm flipH="1">
            <a:off x="5978069" y="3163026"/>
            <a:ext cx="1" cy="30734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endCxn id="43" idx="0"/>
          </p:cNvCxnSpPr>
          <p:nvPr/>
        </p:nvCxnSpPr>
        <p:spPr>
          <a:xfrm flipH="1">
            <a:off x="3140527" y="2640511"/>
            <a:ext cx="2" cy="829855"/>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endCxn id="47" idx="0"/>
          </p:cNvCxnSpPr>
          <p:nvPr/>
        </p:nvCxnSpPr>
        <p:spPr>
          <a:xfrm>
            <a:off x="8888183" y="2640511"/>
            <a:ext cx="2" cy="834391"/>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1972126" y="3470366"/>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10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45" name="矩形 44"/>
          <p:cNvSpPr/>
          <p:nvPr/>
        </p:nvSpPr>
        <p:spPr>
          <a:xfrm>
            <a:off x="4809668" y="3470366"/>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8</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47" name="矩形 46"/>
          <p:cNvSpPr/>
          <p:nvPr/>
        </p:nvSpPr>
        <p:spPr>
          <a:xfrm>
            <a:off x="7719784" y="3474902"/>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8</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51" name="矩形 50"/>
          <p:cNvSpPr/>
          <p:nvPr/>
        </p:nvSpPr>
        <p:spPr>
          <a:xfrm>
            <a:off x="2451461" y="31212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太陽</a:t>
            </a:r>
          </a:p>
        </p:txBody>
      </p:sp>
      <p:sp>
        <p:nvSpPr>
          <p:cNvPr id="52" name="矩形 51"/>
          <p:cNvSpPr/>
          <p:nvPr/>
        </p:nvSpPr>
        <p:spPr>
          <a:xfrm>
            <a:off x="5280290" y="3137988"/>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陰天</a:t>
            </a:r>
          </a:p>
        </p:txBody>
      </p:sp>
      <p:sp>
        <p:nvSpPr>
          <p:cNvPr id="53" name="矩形 52"/>
          <p:cNvSpPr/>
          <p:nvPr/>
        </p:nvSpPr>
        <p:spPr>
          <a:xfrm>
            <a:off x="8190405" y="3114765"/>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下雨</a:t>
            </a:r>
          </a:p>
        </p:txBody>
      </p:sp>
      <p:sp>
        <p:nvSpPr>
          <p:cNvPr id="54" name="矩形 53"/>
          <p:cNvSpPr/>
          <p:nvPr/>
        </p:nvSpPr>
        <p:spPr>
          <a:xfrm>
            <a:off x="5687964" y="4105730"/>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8/10</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cxnSp>
        <p:nvCxnSpPr>
          <p:cNvPr id="55" name="直線單箭頭接點 54"/>
          <p:cNvCxnSpPr>
            <a:stCxn id="43" idx="2"/>
            <a:endCxn id="61" idx="0"/>
          </p:cNvCxnSpPr>
          <p:nvPr/>
        </p:nvCxnSpPr>
        <p:spPr>
          <a:xfrm flipH="1">
            <a:off x="3140525" y="4070532"/>
            <a:ext cx="2" cy="33310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47" idx="2"/>
            <a:endCxn id="79" idx="0"/>
          </p:cNvCxnSpPr>
          <p:nvPr/>
        </p:nvCxnSpPr>
        <p:spPr>
          <a:xfrm flipH="1">
            <a:off x="8888183" y="4075068"/>
            <a:ext cx="2" cy="328568"/>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1" name="流程圖: 決策 60"/>
          <p:cNvSpPr/>
          <p:nvPr/>
        </p:nvSpPr>
        <p:spPr>
          <a:xfrm>
            <a:off x="1667324" y="4403636"/>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溼度</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65" name="直線單箭頭接點 64"/>
          <p:cNvCxnSpPr>
            <a:stCxn id="61" idx="3"/>
          </p:cNvCxnSpPr>
          <p:nvPr/>
        </p:nvCxnSpPr>
        <p:spPr>
          <a:xfrm>
            <a:off x="4613725"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498923"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8</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0</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68" name="矩形 67"/>
          <p:cNvSpPr/>
          <p:nvPr/>
        </p:nvSpPr>
        <p:spPr>
          <a:xfrm>
            <a:off x="3227241"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71" name="直線單箭頭接點 70"/>
          <p:cNvCxnSpPr>
            <a:stCxn id="61" idx="1"/>
            <a:endCxn id="67" idx="0"/>
          </p:cNvCxnSpPr>
          <p:nvPr/>
        </p:nvCxnSpPr>
        <p:spPr>
          <a:xfrm>
            <a:off x="1667324"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866775" y="5321097"/>
            <a:ext cx="688519"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&lt;=75</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5" name="矩形 74"/>
          <p:cNvSpPr/>
          <p:nvPr/>
        </p:nvSpPr>
        <p:spPr>
          <a:xfrm>
            <a:off x="3921486" y="53210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&gt;75</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6" name="矩形 75"/>
          <p:cNvSpPr/>
          <p:nvPr/>
        </p:nvSpPr>
        <p:spPr>
          <a:xfrm>
            <a:off x="1377219" y="6386489"/>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8/8</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7" name="矩形 76"/>
          <p:cNvSpPr/>
          <p:nvPr/>
        </p:nvSpPr>
        <p:spPr>
          <a:xfrm>
            <a:off x="4105537" y="6366126"/>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2/4</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9" name="流程圖: 決策 78"/>
          <p:cNvSpPr/>
          <p:nvPr/>
        </p:nvSpPr>
        <p:spPr>
          <a:xfrm>
            <a:off x="7414982" y="4403636"/>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是否颳風</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0" name="直線單箭頭接點 79"/>
          <p:cNvCxnSpPr>
            <a:stCxn id="79" idx="3"/>
          </p:cNvCxnSpPr>
          <p:nvPr/>
        </p:nvCxnSpPr>
        <p:spPr>
          <a:xfrm>
            <a:off x="10361383"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6246581"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4</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82" name="矩形 81"/>
          <p:cNvSpPr/>
          <p:nvPr/>
        </p:nvSpPr>
        <p:spPr>
          <a:xfrm>
            <a:off x="8974899"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4</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3" name="直線單箭頭接點 82"/>
          <p:cNvCxnSpPr>
            <a:stCxn id="79" idx="1"/>
            <a:endCxn id="81" idx="0"/>
          </p:cNvCxnSpPr>
          <p:nvPr/>
        </p:nvCxnSpPr>
        <p:spPr>
          <a:xfrm>
            <a:off x="7414982"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6614433" y="5321097"/>
            <a:ext cx="688519"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是</a:t>
            </a:r>
          </a:p>
        </p:txBody>
      </p:sp>
      <p:sp>
        <p:nvSpPr>
          <p:cNvPr id="85" name="矩形 84"/>
          <p:cNvSpPr/>
          <p:nvPr/>
        </p:nvSpPr>
        <p:spPr>
          <a:xfrm>
            <a:off x="9669144" y="53210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否</a:t>
            </a:r>
          </a:p>
        </p:txBody>
      </p:sp>
      <p:sp>
        <p:nvSpPr>
          <p:cNvPr id="86" name="矩形 85"/>
          <p:cNvSpPr/>
          <p:nvPr/>
        </p:nvSpPr>
        <p:spPr>
          <a:xfrm>
            <a:off x="7124877" y="6386489"/>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0/4</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87" name="矩形 86"/>
          <p:cNvSpPr/>
          <p:nvPr/>
        </p:nvSpPr>
        <p:spPr>
          <a:xfrm>
            <a:off x="9853195" y="6366126"/>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2/6</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92" name="矩形 91"/>
          <p:cNvSpPr/>
          <p:nvPr/>
        </p:nvSpPr>
        <p:spPr>
          <a:xfrm>
            <a:off x="498923" y="280043"/>
            <a:ext cx="11223176"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marL="285750" indent="-285750">
              <a:buFont typeface="Wingdings" panose="05000000000000000000" pitchFamily="2" charset="2"/>
              <a:buChar char="p"/>
            </a:pPr>
            <a:r>
              <a:rPr lang="zh-TW" altLang="en-US" dirty="0">
                <a:solidFill>
                  <a:schemeClr val="bg1"/>
                </a:solidFill>
                <a:latin typeface="微軟正黑體" panose="020B0604030504040204" pitchFamily="34" charset="-120"/>
                <a:ea typeface="微軟正黑體" panose="020B0604030504040204" pitchFamily="34" charset="-120"/>
              </a:rPr>
              <a:t>這個分類樹利用不同的天氣型態來推估到底適不適合打球，先從目測天氣開始，分成太陽、陰天以及下雨</a:t>
            </a:r>
            <a:endParaRPr lang="en-US" altLang="zh-TW" dirty="0">
              <a:solidFill>
                <a:schemeClr val="bg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p"/>
            </a:pPr>
            <a:r>
              <a:rPr lang="zh-TW" altLang="en-US" dirty="0">
                <a:solidFill>
                  <a:schemeClr val="bg1"/>
                </a:solidFill>
                <a:latin typeface="微軟正黑體" panose="020B0604030504040204" pitchFamily="34" charset="-120"/>
                <a:ea typeface="微軟正黑體" panose="020B0604030504040204" pitchFamily="34" charset="-120"/>
              </a:rPr>
              <a:t>接著再根據不同的目測天氣，進一步地推測出更精準的機率</a:t>
            </a:r>
          </a:p>
        </p:txBody>
      </p:sp>
    </p:spTree>
    <p:extLst>
      <p:ext uri="{BB962C8B-B14F-4D97-AF65-F5344CB8AC3E}">
        <p14:creationId xmlns:p14="http://schemas.microsoft.com/office/powerpoint/2010/main" val="19961411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811485" y="1233714"/>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12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6" name="流程圖: 決策 5"/>
          <p:cNvSpPr/>
          <p:nvPr/>
        </p:nvSpPr>
        <p:spPr>
          <a:xfrm>
            <a:off x="4504869" y="2117997"/>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目測天氣</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 name="直線單箭頭接點 7"/>
          <p:cNvCxnSpPr>
            <a:stCxn id="5" idx="2"/>
            <a:endCxn id="6" idx="0"/>
          </p:cNvCxnSpPr>
          <p:nvPr/>
        </p:nvCxnSpPr>
        <p:spPr>
          <a:xfrm flipH="1">
            <a:off x="5978070" y="1833880"/>
            <a:ext cx="1816" cy="284117"/>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a:stCxn id="6" idx="1"/>
          </p:cNvCxnSpPr>
          <p:nvPr/>
        </p:nvCxnSpPr>
        <p:spPr>
          <a:xfrm flipH="1" flipV="1">
            <a:off x="3140528" y="2640511"/>
            <a:ext cx="1364341" cy="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6" idx="3"/>
          </p:cNvCxnSpPr>
          <p:nvPr/>
        </p:nvCxnSpPr>
        <p:spPr>
          <a:xfrm flipV="1">
            <a:off x="7451270" y="2640511"/>
            <a:ext cx="1436915" cy="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6" idx="2"/>
            <a:endCxn id="45" idx="0"/>
          </p:cNvCxnSpPr>
          <p:nvPr/>
        </p:nvCxnSpPr>
        <p:spPr>
          <a:xfrm flipH="1">
            <a:off x="5978069" y="3163026"/>
            <a:ext cx="1" cy="30734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endCxn id="43" idx="0"/>
          </p:cNvCxnSpPr>
          <p:nvPr/>
        </p:nvCxnSpPr>
        <p:spPr>
          <a:xfrm flipH="1">
            <a:off x="3140527" y="2640511"/>
            <a:ext cx="2" cy="829855"/>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endCxn id="47" idx="0"/>
          </p:cNvCxnSpPr>
          <p:nvPr/>
        </p:nvCxnSpPr>
        <p:spPr>
          <a:xfrm>
            <a:off x="8888183" y="2640511"/>
            <a:ext cx="2" cy="834391"/>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1972126" y="3470366"/>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10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45" name="矩形 44"/>
          <p:cNvSpPr/>
          <p:nvPr/>
        </p:nvSpPr>
        <p:spPr>
          <a:xfrm>
            <a:off x="4809668" y="3470366"/>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8</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47" name="矩形 46"/>
          <p:cNvSpPr/>
          <p:nvPr/>
        </p:nvSpPr>
        <p:spPr>
          <a:xfrm>
            <a:off x="7719784" y="3474902"/>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8</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51" name="矩形 50"/>
          <p:cNvSpPr/>
          <p:nvPr/>
        </p:nvSpPr>
        <p:spPr>
          <a:xfrm>
            <a:off x="2451461" y="31212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太陽</a:t>
            </a:r>
          </a:p>
        </p:txBody>
      </p:sp>
      <p:sp>
        <p:nvSpPr>
          <p:cNvPr id="52" name="矩形 51"/>
          <p:cNvSpPr/>
          <p:nvPr/>
        </p:nvSpPr>
        <p:spPr>
          <a:xfrm>
            <a:off x="5280290" y="3137988"/>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陰天</a:t>
            </a:r>
          </a:p>
        </p:txBody>
      </p:sp>
      <p:sp>
        <p:nvSpPr>
          <p:cNvPr id="53" name="矩形 52"/>
          <p:cNvSpPr/>
          <p:nvPr/>
        </p:nvSpPr>
        <p:spPr>
          <a:xfrm>
            <a:off x="8190405" y="3114765"/>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下雨</a:t>
            </a:r>
          </a:p>
        </p:txBody>
      </p:sp>
      <p:sp>
        <p:nvSpPr>
          <p:cNvPr id="54" name="矩形 53"/>
          <p:cNvSpPr/>
          <p:nvPr/>
        </p:nvSpPr>
        <p:spPr>
          <a:xfrm>
            <a:off x="5687964" y="4105730"/>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8/10</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cxnSp>
        <p:nvCxnSpPr>
          <p:cNvPr id="55" name="直線單箭頭接點 54"/>
          <p:cNvCxnSpPr>
            <a:stCxn id="43" idx="2"/>
            <a:endCxn id="61" idx="0"/>
          </p:cNvCxnSpPr>
          <p:nvPr/>
        </p:nvCxnSpPr>
        <p:spPr>
          <a:xfrm flipH="1">
            <a:off x="3140525" y="4070532"/>
            <a:ext cx="2" cy="33310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47" idx="2"/>
            <a:endCxn id="79" idx="0"/>
          </p:cNvCxnSpPr>
          <p:nvPr/>
        </p:nvCxnSpPr>
        <p:spPr>
          <a:xfrm flipH="1">
            <a:off x="8888183" y="4075068"/>
            <a:ext cx="2" cy="328568"/>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1" name="流程圖: 決策 60"/>
          <p:cNvSpPr/>
          <p:nvPr/>
        </p:nvSpPr>
        <p:spPr>
          <a:xfrm>
            <a:off x="1667324" y="4403636"/>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溼度</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65" name="直線單箭頭接點 64"/>
          <p:cNvCxnSpPr>
            <a:stCxn id="61" idx="3"/>
          </p:cNvCxnSpPr>
          <p:nvPr/>
        </p:nvCxnSpPr>
        <p:spPr>
          <a:xfrm>
            <a:off x="4613725"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498923"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8</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0</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68" name="矩形 67"/>
          <p:cNvSpPr/>
          <p:nvPr/>
        </p:nvSpPr>
        <p:spPr>
          <a:xfrm>
            <a:off x="3227241"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71" name="直線單箭頭接點 70"/>
          <p:cNvCxnSpPr>
            <a:stCxn id="61" idx="1"/>
            <a:endCxn id="67" idx="0"/>
          </p:cNvCxnSpPr>
          <p:nvPr/>
        </p:nvCxnSpPr>
        <p:spPr>
          <a:xfrm>
            <a:off x="1667324"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866775" y="5321097"/>
            <a:ext cx="688519"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&lt;=75</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5" name="矩形 74"/>
          <p:cNvSpPr/>
          <p:nvPr/>
        </p:nvSpPr>
        <p:spPr>
          <a:xfrm>
            <a:off x="3921486" y="53210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&gt;75</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6" name="矩形 75"/>
          <p:cNvSpPr/>
          <p:nvPr/>
        </p:nvSpPr>
        <p:spPr>
          <a:xfrm>
            <a:off x="1377219" y="6386489"/>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8/8</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7" name="矩形 76"/>
          <p:cNvSpPr/>
          <p:nvPr/>
        </p:nvSpPr>
        <p:spPr>
          <a:xfrm>
            <a:off x="4105537" y="6366126"/>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2/4</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9" name="流程圖: 決策 78"/>
          <p:cNvSpPr/>
          <p:nvPr/>
        </p:nvSpPr>
        <p:spPr>
          <a:xfrm>
            <a:off x="7414982" y="4403636"/>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是否颳風</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0" name="直線單箭頭接點 79"/>
          <p:cNvCxnSpPr>
            <a:stCxn id="79" idx="3"/>
          </p:cNvCxnSpPr>
          <p:nvPr/>
        </p:nvCxnSpPr>
        <p:spPr>
          <a:xfrm>
            <a:off x="10361383"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6246581"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4</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82" name="矩形 81"/>
          <p:cNvSpPr/>
          <p:nvPr/>
        </p:nvSpPr>
        <p:spPr>
          <a:xfrm>
            <a:off x="8974899"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4</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3" name="直線單箭頭接點 82"/>
          <p:cNvCxnSpPr>
            <a:stCxn id="79" idx="1"/>
            <a:endCxn id="81" idx="0"/>
          </p:cNvCxnSpPr>
          <p:nvPr/>
        </p:nvCxnSpPr>
        <p:spPr>
          <a:xfrm>
            <a:off x="7414982"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6614433" y="5321097"/>
            <a:ext cx="688519"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是</a:t>
            </a:r>
          </a:p>
        </p:txBody>
      </p:sp>
      <p:sp>
        <p:nvSpPr>
          <p:cNvPr id="85" name="矩形 84"/>
          <p:cNvSpPr/>
          <p:nvPr/>
        </p:nvSpPr>
        <p:spPr>
          <a:xfrm>
            <a:off x="9669144" y="53210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否</a:t>
            </a:r>
          </a:p>
        </p:txBody>
      </p:sp>
      <p:sp>
        <p:nvSpPr>
          <p:cNvPr id="86" name="矩形 85"/>
          <p:cNvSpPr/>
          <p:nvPr/>
        </p:nvSpPr>
        <p:spPr>
          <a:xfrm>
            <a:off x="7124877" y="6386489"/>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0/4</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87" name="矩形 86"/>
          <p:cNvSpPr/>
          <p:nvPr/>
        </p:nvSpPr>
        <p:spPr>
          <a:xfrm>
            <a:off x="9853195" y="6366126"/>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2/6</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92" name="矩形 91"/>
          <p:cNvSpPr/>
          <p:nvPr/>
        </p:nvSpPr>
        <p:spPr>
          <a:xfrm>
            <a:off x="498923" y="280043"/>
            <a:ext cx="1122317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marL="285750" indent="-285750">
              <a:buFont typeface="Wingdings" panose="05000000000000000000" pitchFamily="2" charset="2"/>
              <a:buChar char="p"/>
            </a:pPr>
            <a:r>
              <a:rPr lang="zh-TW" altLang="en-US" dirty="0">
                <a:solidFill>
                  <a:schemeClr val="bg1"/>
                </a:solidFill>
                <a:latin typeface="微軟正黑體" panose="020B0604030504040204" pitchFamily="34" charset="-120"/>
                <a:ea typeface="微軟正黑體" panose="020B0604030504040204" pitchFamily="34" charset="-120"/>
              </a:rPr>
              <a:t>假設：如果現在的目測天氣是陰天的話，那就有</a:t>
            </a:r>
            <a:r>
              <a:rPr lang="en-US" altLang="zh-TW" dirty="0">
                <a:solidFill>
                  <a:schemeClr val="bg1"/>
                </a:solidFill>
                <a:latin typeface="微軟正黑體" panose="020B0604030504040204" pitchFamily="34" charset="-120"/>
                <a:ea typeface="微軟正黑體" panose="020B0604030504040204" pitchFamily="34" charset="-120"/>
              </a:rPr>
              <a:t>8/10</a:t>
            </a:r>
            <a:r>
              <a:rPr lang="zh-TW" altLang="en-US" dirty="0">
                <a:solidFill>
                  <a:schemeClr val="bg1"/>
                </a:solidFill>
                <a:latin typeface="微軟正黑體" panose="020B0604030504040204" pitchFamily="34" charset="-120"/>
                <a:ea typeface="微軟正黑體" panose="020B0604030504040204" pitchFamily="34" charset="-120"/>
              </a:rPr>
              <a:t>的高機率是適合打球的</a:t>
            </a:r>
          </a:p>
        </p:txBody>
      </p:sp>
      <p:cxnSp>
        <p:nvCxnSpPr>
          <p:cNvPr id="4" name="直線單箭頭接點 3"/>
          <p:cNvCxnSpPr/>
          <p:nvPr/>
        </p:nvCxnSpPr>
        <p:spPr>
          <a:xfrm flipH="1">
            <a:off x="7022005" y="1955800"/>
            <a:ext cx="13796" cy="2603500"/>
          </a:xfrm>
          <a:prstGeom prst="straightConnector1">
            <a:avLst/>
          </a:prstGeom>
          <a:ln w="762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491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811485" y="1233714"/>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12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6" name="流程圖: 決策 5"/>
          <p:cNvSpPr/>
          <p:nvPr/>
        </p:nvSpPr>
        <p:spPr>
          <a:xfrm>
            <a:off x="4504869" y="2117997"/>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目測天氣</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 name="直線單箭頭接點 7"/>
          <p:cNvCxnSpPr>
            <a:stCxn id="5" idx="2"/>
            <a:endCxn id="6" idx="0"/>
          </p:cNvCxnSpPr>
          <p:nvPr/>
        </p:nvCxnSpPr>
        <p:spPr>
          <a:xfrm flipH="1">
            <a:off x="5978070" y="1833880"/>
            <a:ext cx="1816" cy="284117"/>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a:stCxn id="6" idx="1"/>
          </p:cNvCxnSpPr>
          <p:nvPr/>
        </p:nvCxnSpPr>
        <p:spPr>
          <a:xfrm flipH="1" flipV="1">
            <a:off x="3140528" y="2640511"/>
            <a:ext cx="1364341" cy="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6" idx="3"/>
          </p:cNvCxnSpPr>
          <p:nvPr/>
        </p:nvCxnSpPr>
        <p:spPr>
          <a:xfrm flipV="1">
            <a:off x="7451270" y="2640511"/>
            <a:ext cx="1436915" cy="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6" idx="2"/>
            <a:endCxn id="45" idx="0"/>
          </p:cNvCxnSpPr>
          <p:nvPr/>
        </p:nvCxnSpPr>
        <p:spPr>
          <a:xfrm flipH="1">
            <a:off x="5978069" y="3163026"/>
            <a:ext cx="1" cy="30734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endCxn id="43" idx="0"/>
          </p:cNvCxnSpPr>
          <p:nvPr/>
        </p:nvCxnSpPr>
        <p:spPr>
          <a:xfrm flipH="1">
            <a:off x="3140527" y="2640511"/>
            <a:ext cx="2" cy="829855"/>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endCxn id="47" idx="0"/>
          </p:cNvCxnSpPr>
          <p:nvPr/>
        </p:nvCxnSpPr>
        <p:spPr>
          <a:xfrm>
            <a:off x="8888183" y="2640511"/>
            <a:ext cx="2" cy="834391"/>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1972126" y="3470366"/>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10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45" name="矩形 44"/>
          <p:cNvSpPr/>
          <p:nvPr/>
        </p:nvSpPr>
        <p:spPr>
          <a:xfrm>
            <a:off x="4809668" y="3470366"/>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8</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47" name="矩形 46"/>
          <p:cNvSpPr/>
          <p:nvPr/>
        </p:nvSpPr>
        <p:spPr>
          <a:xfrm>
            <a:off x="7719784" y="3474902"/>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8</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51" name="矩形 50"/>
          <p:cNvSpPr/>
          <p:nvPr/>
        </p:nvSpPr>
        <p:spPr>
          <a:xfrm>
            <a:off x="2451461" y="31212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太陽</a:t>
            </a:r>
          </a:p>
        </p:txBody>
      </p:sp>
      <p:sp>
        <p:nvSpPr>
          <p:cNvPr id="52" name="矩形 51"/>
          <p:cNvSpPr/>
          <p:nvPr/>
        </p:nvSpPr>
        <p:spPr>
          <a:xfrm>
            <a:off x="5280290" y="3137988"/>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陰天</a:t>
            </a:r>
          </a:p>
        </p:txBody>
      </p:sp>
      <p:sp>
        <p:nvSpPr>
          <p:cNvPr id="53" name="矩形 52"/>
          <p:cNvSpPr/>
          <p:nvPr/>
        </p:nvSpPr>
        <p:spPr>
          <a:xfrm>
            <a:off x="8190405" y="3114765"/>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下雨</a:t>
            </a:r>
          </a:p>
        </p:txBody>
      </p:sp>
      <p:sp>
        <p:nvSpPr>
          <p:cNvPr id="54" name="矩形 53"/>
          <p:cNvSpPr/>
          <p:nvPr/>
        </p:nvSpPr>
        <p:spPr>
          <a:xfrm>
            <a:off x="5687964" y="4105730"/>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8/10</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cxnSp>
        <p:nvCxnSpPr>
          <p:cNvPr id="55" name="直線單箭頭接點 54"/>
          <p:cNvCxnSpPr>
            <a:stCxn id="43" idx="2"/>
            <a:endCxn id="61" idx="0"/>
          </p:cNvCxnSpPr>
          <p:nvPr/>
        </p:nvCxnSpPr>
        <p:spPr>
          <a:xfrm flipH="1">
            <a:off x="3140525" y="4070532"/>
            <a:ext cx="2" cy="33310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47" idx="2"/>
            <a:endCxn id="79" idx="0"/>
          </p:cNvCxnSpPr>
          <p:nvPr/>
        </p:nvCxnSpPr>
        <p:spPr>
          <a:xfrm flipH="1">
            <a:off x="8888183" y="4075068"/>
            <a:ext cx="2" cy="328568"/>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1" name="流程圖: 決策 60"/>
          <p:cNvSpPr/>
          <p:nvPr/>
        </p:nvSpPr>
        <p:spPr>
          <a:xfrm>
            <a:off x="1667324" y="4403636"/>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溼度</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65" name="直線單箭頭接點 64"/>
          <p:cNvCxnSpPr>
            <a:stCxn id="61" idx="3"/>
          </p:cNvCxnSpPr>
          <p:nvPr/>
        </p:nvCxnSpPr>
        <p:spPr>
          <a:xfrm>
            <a:off x="4613725"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498923"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8</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0</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68" name="矩形 67"/>
          <p:cNvSpPr/>
          <p:nvPr/>
        </p:nvSpPr>
        <p:spPr>
          <a:xfrm>
            <a:off x="3227241"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2</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71" name="直線單箭頭接點 70"/>
          <p:cNvCxnSpPr>
            <a:stCxn id="61" idx="1"/>
            <a:endCxn id="67" idx="0"/>
          </p:cNvCxnSpPr>
          <p:nvPr/>
        </p:nvCxnSpPr>
        <p:spPr>
          <a:xfrm>
            <a:off x="1667324"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866775" y="5321097"/>
            <a:ext cx="688519"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&lt;=75</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5" name="矩形 74"/>
          <p:cNvSpPr/>
          <p:nvPr/>
        </p:nvSpPr>
        <p:spPr>
          <a:xfrm>
            <a:off x="3921486" y="53210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&gt;75</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6" name="矩形 75"/>
          <p:cNvSpPr/>
          <p:nvPr/>
        </p:nvSpPr>
        <p:spPr>
          <a:xfrm>
            <a:off x="1377219" y="6386489"/>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8/8</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7" name="矩形 76"/>
          <p:cNvSpPr/>
          <p:nvPr/>
        </p:nvSpPr>
        <p:spPr>
          <a:xfrm>
            <a:off x="4105537" y="6366126"/>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2/4</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79" name="流程圖: 決策 78"/>
          <p:cNvSpPr/>
          <p:nvPr/>
        </p:nvSpPr>
        <p:spPr>
          <a:xfrm>
            <a:off x="7414982" y="4403636"/>
            <a:ext cx="2946401" cy="10450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latin typeface="微軟正黑體" panose="020B0604030504040204" pitchFamily="34" charset="-120"/>
                <a:ea typeface="微軟正黑體" panose="020B0604030504040204" pitchFamily="34" charset="-120"/>
              </a:rPr>
              <a:t>是否颳風</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0" name="直線單箭頭接點 79"/>
          <p:cNvCxnSpPr>
            <a:stCxn id="79" idx="3"/>
          </p:cNvCxnSpPr>
          <p:nvPr/>
        </p:nvCxnSpPr>
        <p:spPr>
          <a:xfrm>
            <a:off x="10361383"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6246581"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0</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4</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82" name="矩形 81"/>
          <p:cNvSpPr/>
          <p:nvPr/>
        </p:nvSpPr>
        <p:spPr>
          <a:xfrm>
            <a:off x="8974899" y="5716043"/>
            <a:ext cx="2336801" cy="600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a:solidFill>
                  <a:schemeClr val="bg1"/>
                </a:solidFill>
                <a:latin typeface="微軟正黑體" panose="020B0604030504040204" pitchFamily="34" charset="-120"/>
                <a:ea typeface="微軟正黑體" panose="020B0604030504040204" pitchFamily="34" charset="-120"/>
              </a:rPr>
              <a:t>打球</a:t>
            </a:r>
            <a:r>
              <a:rPr lang="en-US" altLang="zh-TW" dirty="0">
                <a:solidFill>
                  <a:schemeClr val="bg1"/>
                </a:solidFill>
                <a:latin typeface="微軟正黑體" panose="020B0604030504040204" pitchFamily="34" charset="-120"/>
                <a:ea typeface="微軟正黑體" panose="020B0604030504040204" pitchFamily="34" charset="-120"/>
              </a:rPr>
              <a:t>		2</a:t>
            </a:r>
          </a:p>
          <a:p>
            <a:r>
              <a:rPr lang="zh-TW" altLang="en-US" dirty="0">
                <a:solidFill>
                  <a:schemeClr val="bg1"/>
                </a:solidFill>
                <a:latin typeface="微軟正黑體" panose="020B0604030504040204" pitchFamily="34" charset="-120"/>
                <a:ea typeface="微軟正黑體" panose="020B0604030504040204" pitchFamily="34" charset="-120"/>
              </a:rPr>
              <a:t>不打球</a:t>
            </a:r>
            <a:r>
              <a:rPr lang="en-US" altLang="zh-TW" dirty="0">
                <a:solidFill>
                  <a:schemeClr val="bg1"/>
                </a:solidFill>
                <a:latin typeface="微軟正黑體" panose="020B0604030504040204" pitchFamily="34" charset="-120"/>
                <a:ea typeface="微軟正黑體" panose="020B0604030504040204" pitchFamily="34" charset="-120"/>
              </a:rPr>
              <a:t>		4</a:t>
            </a:r>
            <a:endParaRPr lang="zh-TW" altLang="en-US" dirty="0">
              <a:solidFill>
                <a:schemeClr val="bg1"/>
              </a:solidFill>
              <a:latin typeface="微軟正黑體" panose="020B0604030504040204" pitchFamily="34" charset="-120"/>
              <a:ea typeface="微軟正黑體" panose="020B0604030504040204" pitchFamily="34" charset="-120"/>
            </a:endParaRPr>
          </a:p>
        </p:txBody>
      </p:sp>
      <p:cxnSp>
        <p:nvCxnSpPr>
          <p:cNvPr id="83" name="直線單箭頭接點 82"/>
          <p:cNvCxnSpPr>
            <a:stCxn id="79" idx="1"/>
            <a:endCxn id="81" idx="0"/>
          </p:cNvCxnSpPr>
          <p:nvPr/>
        </p:nvCxnSpPr>
        <p:spPr>
          <a:xfrm>
            <a:off x="7414982" y="4926151"/>
            <a:ext cx="0" cy="789892"/>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6614433" y="5321097"/>
            <a:ext cx="688519"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是</a:t>
            </a:r>
          </a:p>
        </p:txBody>
      </p:sp>
      <p:sp>
        <p:nvSpPr>
          <p:cNvPr id="85" name="矩形 84"/>
          <p:cNvSpPr/>
          <p:nvPr/>
        </p:nvSpPr>
        <p:spPr>
          <a:xfrm>
            <a:off x="9669144" y="5321097"/>
            <a:ext cx="580208" cy="2971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否</a:t>
            </a:r>
          </a:p>
        </p:txBody>
      </p:sp>
      <p:sp>
        <p:nvSpPr>
          <p:cNvPr id="86" name="矩形 85"/>
          <p:cNvSpPr/>
          <p:nvPr/>
        </p:nvSpPr>
        <p:spPr>
          <a:xfrm>
            <a:off x="7124877" y="6386489"/>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0/4</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87" name="矩形 86"/>
          <p:cNvSpPr/>
          <p:nvPr/>
        </p:nvSpPr>
        <p:spPr>
          <a:xfrm>
            <a:off x="9853195" y="6366126"/>
            <a:ext cx="580208" cy="297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2/6</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92" name="矩形 91"/>
          <p:cNvSpPr/>
          <p:nvPr/>
        </p:nvSpPr>
        <p:spPr>
          <a:xfrm>
            <a:off x="498923" y="280043"/>
            <a:ext cx="1122317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marL="285750" indent="-285750">
              <a:buFont typeface="Wingdings" panose="05000000000000000000" pitchFamily="2" charset="2"/>
              <a:buChar char="p"/>
            </a:pPr>
            <a:r>
              <a:rPr lang="zh-TW" altLang="en-US" dirty="0">
                <a:solidFill>
                  <a:schemeClr val="bg1"/>
                </a:solidFill>
                <a:latin typeface="微軟正黑體" panose="020B0604030504040204" pitchFamily="34" charset="-120"/>
                <a:ea typeface="微軟正黑體" panose="020B0604030504040204" pitchFamily="34" charset="-120"/>
              </a:rPr>
              <a:t>假設：如果現在的目測天氣是太陽，且溼度大於</a:t>
            </a:r>
            <a:r>
              <a:rPr lang="en-US" altLang="zh-TW" dirty="0">
                <a:solidFill>
                  <a:schemeClr val="bg1"/>
                </a:solidFill>
                <a:latin typeface="微軟正黑體" panose="020B0604030504040204" pitchFamily="34" charset="-120"/>
                <a:ea typeface="微軟正黑體" panose="020B0604030504040204" pitchFamily="34" charset="-120"/>
              </a:rPr>
              <a:t>75</a:t>
            </a:r>
            <a:r>
              <a:rPr lang="zh-TW" altLang="en-US" dirty="0">
                <a:solidFill>
                  <a:schemeClr val="bg1"/>
                </a:solidFill>
                <a:latin typeface="微軟正黑體" panose="020B0604030504040204" pitchFamily="34" charset="-120"/>
                <a:ea typeface="微軟正黑體" panose="020B0604030504040204" pitchFamily="34" charset="-120"/>
              </a:rPr>
              <a:t>的話，那就變成只有</a:t>
            </a:r>
            <a:r>
              <a:rPr lang="en-US" altLang="zh-TW" dirty="0">
                <a:solidFill>
                  <a:schemeClr val="bg1"/>
                </a:solidFill>
                <a:latin typeface="微軟正黑體" panose="020B0604030504040204" pitchFamily="34" charset="-120"/>
                <a:ea typeface="微軟正黑體" panose="020B0604030504040204" pitchFamily="34" charset="-120"/>
              </a:rPr>
              <a:t>2/4</a:t>
            </a:r>
            <a:r>
              <a:rPr lang="zh-TW" altLang="en-US" dirty="0">
                <a:solidFill>
                  <a:schemeClr val="bg1"/>
                </a:solidFill>
                <a:latin typeface="微軟正黑體" panose="020B0604030504040204" pitchFamily="34" charset="-120"/>
                <a:ea typeface="微軟正黑體" panose="020B0604030504040204" pitchFamily="34" charset="-120"/>
              </a:rPr>
              <a:t>的機率是適合打球的</a:t>
            </a:r>
          </a:p>
        </p:txBody>
      </p:sp>
      <p:cxnSp>
        <p:nvCxnSpPr>
          <p:cNvPr id="4" name="直線單箭頭接點 3"/>
          <p:cNvCxnSpPr/>
          <p:nvPr/>
        </p:nvCxnSpPr>
        <p:spPr>
          <a:xfrm flipH="1">
            <a:off x="4967326" y="1968137"/>
            <a:ext cx="0" cy="965563"/>
          </a:xfrm>
          <a:prstGeom prst="straightConnector1">
            <a:avLst/>
          </a:prstGeom>
          <a:ln w="76200">
            <a:solidFill>
              <a:srgbClr val="00B0F0"/>
            </a:solidFill>
            <a:tailEnd type="none" w="lg" len="lg"/>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a:off x="3598176" y="2910850"/>
            <a:ext cx="0" cy="3947150"/>
          </a:xfrm>
          <a:prstGeom prst="straightConnector1">
            <a:avLst/>
          </a:prstGeom>
          <a:ln w="76200">
            <a:solidFill>
              <a:srgbClr val="00B0F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flipH="1">
            <a:off x="3598176" y="2933700"/>
            <a:ext cx="1400544" cy="0"/>
          </a:xfrm>
          <a:prstGeom prst="straightConnector1">
            <a:avLst/>
          </a:prstGeom>
          <a:ln w="76200">
            <a:solidFill>
              <a:srgbClr val="00B0F0"/>
            </a:solidFill>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99406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fade">
                                      <p:cBhvr>
                                        <p:cTn id="14" dur="1000"/>
                                        <p:tgtEl>
                                          <p:spTgt spid="41"/>
                                        </p:tgtEl>
                                      </p:cBhvr>
                                    </p:animEffect>
                                    <p:anim calcmode="lin" valueType="num">
                                      <p:cBhvr>
                                        <p:cTn id="15" dur="1000" fill="hold"/>
                                        <p:tgtEl>
                                          <p:spTgt spid="41"/>
                                        </p:tgtEl>
                                        <p:attrNameLst>
                                          <p:attrName>ppt_x</p:attrName>
                                        </p:attrNameLst>
                                      </p:cBhvr>
                                      <p:tavLst>
                                        <p:tav tm="0">
                                          <p:val>
                                            <p:strVal val="#ppt_x"/>
                                          </p:val>
                                        </p:tav>
                                        <p:tav tm="100000">
                                          <p:val>
                                            <p:strVal val="#ppt_x"/>
                                          </p:val>
                                        </p:tav>
                                      </p:tavLst>
                                    </p:anim>
                                    <p:anim calcmode="lin" valueType="num">
                                      <p:cBhvr>
                                        <p:cTn id="1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fade">
                                      <p:cBhvr>
                                        <p:cTn id="21" dur="1000"/>
                                        <p:tgtEl>
                                          <p:spTgt spid="39"/>
                                        </p:tgtEl>
                                      </p:cBhvr>
                                    </p:animEffect>
                                    <p:anim calcmode="lin" valueType="num">
                                      <p:cBhvr>
                                        <p:cTn id="22" dur="1000" fill="hold"/>
                                        <p:tgtEl>
                                          <p:spTgt spid="39"/>
                                        </p:tgtEl>
                                        <p:attrNameLst>
                                          <p:attrName>ppt_x</p:attrName>
                                        </p:attrNameLst>
                                      </p:cBhvr>
                                      <p:tavLst>
                                        <p:tav tm="0">
                                          <p:val>
                                            <p:strVal val="#ppt_x"/>
                                          </p:val>
                                        </p:tav>
                                        <p:tav tm="100000">
                                          <p:val>
                                            <p:strVal val="#ppt_x"/>
                                          </p:val>
                                        </p:tav>
                                      </p:tavLst>
                                    </p:anim>
                                    <p:anim calcmode="lin" valueType="num">
                                      <p:cBhvr>
                                        <p:cTn id="2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Bayesian Classifier</a:t>
            </a:r>
          </a:p>
          <a:p>
            <a:pPr lvl="1"/>
            <a:r>
              <a:rPr lang="zh-TW" altLang="en-US" dirty="0">
                <a:latin typeface="微軟正黑體" panose="020B0604030504040204" pitchFamily="34" charset="-120"/>
                <a:ea typeface="微軟正黑體" panose="020B0604030504040204" pitchFamily="34" charset="-120"/>
              </a:rPr>
              <a:t>貝氏分類器</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該分類器是從機率統計學中的</a:t>
            </a:r>
            <a:r>
              <a:rPr lang="en-US" altLang="zh-TW" dirty="0">
                <a:latin typeface="微軟正黑體" panose="020B0604030504040204" pitchFamily="34" charset="-120"/>
                <a:ea typeface="微軟正黑體" panose="020B0604030504040204" pitchFamily="34" charset="-120"/>
              </a:rPr>
              <a:t>Bayes’ theorem</a:t>
            </a:r>
            <a:r>
              <a:rPr lang="zh-TW" altLang="en-US" dirty="0">
                <a:latin typeface="微軟正黑體" panose="020B0604030504040204" pitchFamily="34" charset="-120"/>
                <a:ea typeface="微軟正黑體" panose="020B0604030504040204" pitchFamily="34" charset="-120"/>
              </a:rPr>
              <a:t>條件機率引用而來的</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P(X, Y) = P(Y | X) ×</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P(X) = P(X | Y) × P(Y)</a:t>
            </a:r>
          </a:p>
          <a:p>
            <a:pPr lvl="1"/>
            <a:endParaRPr lang="en-US" altLang="zh-TW" dirty="0">
              <a:latin typeface="微軟正黑體" panose="020B0604030504040204" pitchFamily="34" charset="-120"/>
              <a:ea typeface="微軟正黑體" panose="020B0604030504040204" pitchFamily="34" charset="-120"/>
            </a:endParaRPr>
          </a:p>
          <a:p>
            <a:pPr lvl="1"/>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基於課程性質，我們會直接引用及套用該定理，不會有證明的過程</a:t>
            </a:r>
          </a:p>
        </p:txBody>
      </p:sp>
      <p:pic>
        <p:nvPicPr>
          <p:cNvPr id="4" name="圖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92484" y="4166281"/>
            <a:ext cx="2410968" cy="691896"/>
          </a:xfrm>
          <a:prstGeom prst="rect">
            <a:avLst/>
          </a:prstGeom>
        </p:spPr>
      </p:pic>
    </p:spTree>
    <p:extLst>
      <p:ext uri="{BB962C8B-B14F-4D97-AF65-F5344CB8AC3E}">
        <p14:creationId xmlns:p14="http://schemas.microsoft.com/office/powerpoint/2010/main" val="18672046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Bayesian Classifier</a:t>
            </a:r>
          </a:p>
          <a:p>
            <a:pPr lvl="1"/>
            <a:r>
              <a:rPr lang="en-US" altLang="zh-TW" dirty="0">
                <a:latin typeface="微軟正黑體" panose="020B0604030504040204" pitchFamily="34" charset="-120"/>
                <a:ea typeface="微軟正黑體" panose="020B0604030504040204" pitchFamily="34" charset="-120"/>
              </a:rPr>
              <a:t>P(X)</a:t>
            </a:r>
            <a:r>
              <a:rPr lang="zh-TW" altLang="en-US" dirty="0">
                <a:latin typeface="微軟正黑體" panose="020B0604030504040204" pitchFamily="34" charset="-120"/>
                <a:ea typeface="微軟正黑體" panose="020B0604030504040204" pitchFamily="34" charset="-120"/>
              </a:rPr>
              <a:t>：事前機率（</a:t>
            </a:r>
            <a:r>
              <a:rPr lang="en-US" altLang="zh-TW" dirty="0">
                <a:latin typeface="微軟正黑體" panose="020B0604030504040204" pitchFamily="34" charset="-120"/>
                <a:ea typeface="微軟正黑體" panose="020B0604030504040204" pitchFamily="34" charset="-120"/>
              </a:rPr>
              <a:t>prior probability</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P(X | Y)</a:t>
            </a:r>
            <a:r>
              <a:rPr lang="zh-TW" altLang="en-US" dirty="0">
                <a:latin typeface="微軟正黑體" panose="020B0604030504040204" pitchFamily="34" charset="-120"/>
                <a:ea typeface="微軟正黑體" panose="020B0604030504040204" pitchFamily="34" charset="-120"/>
              </a:rPr>
              <a:t>：事後機率（</a:t>
            </a:r>
            <a:r>
              <a:rPr lang="en-US" altLang="zh-TW" dirty="0">
                <a:latin typeface="微軟正黑體" panose="020B0604030504040204" pitchFamily="34" charset="-120"/>
                <a:ea typeface="微軟正黑體" panose="020B0604030504040204" pitchFamily="34" charset="-120"/>
              </a:rPr>
              <a:t>posterior probability</a:t>
            </a:r>
            <a:r>
              <a:rPr lang="zh-TW" altLang="en-US" dirty="0">
                <a:latin typeface="微軟正黑體" panose="020B0604030504040204" pitchFamily="34" charset="-120"/>
                <a:ea typeface="微軟正黑體" panose="020B0604030504040204" pitchFamily="34" charset="-120"/>
              </a:rPr>
              <a:t>），給定一個相關證據或數據後所得到的條件機率</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在假設屬性都是獨立的情況下，我們可以利用以下條件來求得預測的機率</a:t>
            </a:r>
            <a:endParaRPr lang="en-US" altLang="zh-TW" dirty="0">
              <a:latin typeface="微軟正黑體" panose="020B0604030504040204" pitchFamily="34" charset="-120"/>
              <a:ea typeface="微軟正黑體" panose="020B0604030504040204" pitchFamily="34" charset="-120"/>
            </a:endParaRP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8988" y="4496136"/>
            <a:ext cx="2533135" cy="1142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71491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Bayesian Classifier</a:t>
            </a:r>
          </a:p>
          <a:p>
            <a:pPr lvl="1"/>
            <a:r>
              <a:rPr lang="en-US" altLang="zh-TW" dirty="0">
                <a:latin typeface="微軟正黑體" panose="020B0604030504040204" pitchFamily="34" charset="-120"/>
                <a:ea typeface="微軟正黑體" panose="020B0604030504040204" pitchFamily="34" charset="-120"/>
              </a:rPr>
              <a:t>P(X)</a:t>
            </a:r>
            <a:r>
              <a:rPr lang="zh-TW" altLang="en-US" dirty="0">
                <a:latin typeface="微軟正黑體" panose="020B0604030504040204" pitchFamily="34" charset="-120"/>
                <a:ea typeface="微軟正黑體" panose="020B0604030504040204" pitchFamily="34" charset="-120"/>
              </a:rPr>
              <a:t>：事前機率、</a:t>
            </a:r>
            <a:r>
              <a:rPr lang="en-US" altLang="zh-TW" dirty="0">
                <a:latin typeface="微軟正黑體" panose="020B0604030504040204" pitchFamily="34" charset="-120"/>
                <a:ea typeface="微軟正黑體" panose="020B0604030504040204" pitchFamily="34" charset="-120"/>
              </a:rPr>
              <a:t>P(X | Y)</a:t>
            </a:r>
            <a:r>
              <a:rPr lang="zh-TW" altLang="en-US" dirty="0">
                <a:latin typeface="微軟正黑體" panose="020B0604030504040204" pitchFamily="34" charset="-120"/>
                <a:ea typeface="微軟正黑體" panose="020B0604030504040204" pitchFamily="34" charset="-120"/>
              </a:rPr>
              <a:t>：事後機率</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假設一對夫妻生了兩個小朋友，請問兩個小朋友都是男生的機率為何</a:t>
            </a:r>
            <a:r>
              <a:rPr lang="en-US" altLang="zh-TW" dirty="0">
                <a:latin typeface="微軟正黑體" panose="020B0604030504040204" pitchFamily="34" charset="-120"/>
                <a:ea typeface="微軟正黑體" panose="020B0604030504040204" pitchFamily="34" charset="-120"/>
              </a:rPr>
              <a:t>? P(X)?</a:t>
            </a:r>
          </a:p>
          <a:p>
            <a:pPr lvl="2"/>
            <a:r>
              <a:rPr lang="zh-TW" altLang="en-US" dirty="0">
                <a:latin typeface="微軟正黑體" panose="020B0604030504040204" pitchFamily="34" charset="-120"/>
                <a:ea typeface="微軟正黑體" panose="020B0604030504040204" pitchFamily="34" charset="-120"/>
              </a:rPr>
              <a:t>男女、男男、女男、女女</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所以共有四種可能的組合</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答案為</a:t>
            </a:r>
            <a:r>
              <a:rPr lang="en-US" altLang="zh-TW" dirty="0">
                <a:latin typeface="微軟正黑體" panose="020B0604030504040204" pitchFamily="34" charset="-120"/>
                <a:ea typeface="微軟正黑體" panose="020B0604030504040204" pitchFamily="34" charset="-120"/>
              </a:rPr>
              <a:t>1/4</a:t>
            </a:r>
          </a:p>
        </p:txBody>
      </p:sp>
    </p:spTree>
    <p:extLst>
      <p:ext uri="{BB962C8B-B14F-4D97-AF65-F5344CB8AC3E}">
        <p14:creationId xmlns:p14="http://schemas.microsoft.com/office/powerpoint/2010/main" val="4983452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Bayesian Classifier</a:t>
            </a:r>
          </a:p>
          <a:p>
            <a:pPr lvl="1"/>
            <a:r>
              <a:rPr lang="en-US" altLang="zh-TW" dirty="0">
                <a:latin typeface="微軟正黑體" panose="020B0604030504040204" pitchFamily="34" charset="-120"/>
                <a:ea typeface="微軟正黑體" panose="020B0604030504040204" pitchFamily="34" charset="-120"/>
              </a:rPr>
              <a:t>P(X)</a:t>
            </a:r>
            <a:r>
              <a:rPr lang="zh-TW" altLang="en-US" dirty="0">
                <a:latin typeface="微軟正黑體" panose="020B0604030504040204" pitchFamily="34" charset="-120"/>
                <a:ea typeface="微軟正黑體" panose="020B0604030504040204" pitchFamily="34" charset="-120"/>
              </a:rPr>
              <a:t>：事前機率、</a:t>
            </a:r>
            <a:r>
              <a:rPr lang="en-US" altLang="zh-TW" dirty="0">
                <a:latin typeface="微軟正黑體" panose="020B0604030504040204" pitchFamily="34" charset="-120"/>
                <a:ea typeface="微軟正黑體" panose="020B0604030504040204" pitchFamily="34" charset="-120"/>
              </a:rPr>
              <a:t>P(X | Y)</a:t>
            </a:r>
            <a:r>
              <a:rPr lang="zh-TW" altLang="en-US" dirty="0">
                <a:latin typeface="微軟正黑體" panose="020B0604030504040204" pitchFamily="34" charset="-120"/>
                <a:ea typeface="微軟正黑體" panose="020B0604030504040204" pitchFamily="34" charset="-120"/>
              </a:rPr>
              <a:t>：事後機率</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假設一對夫妻生了兩個小朋友，在已知至少有一個小朋友為男生的情況下 </a:t>
            </a:r>
            <a:r>
              <a:rPr lang="en-US" altLang="zh-TW" dirty="0">
                <a:latin typeface="微軟正黑體" panose="020B0604030504040204" pitchFamily="34" charset="-120"/>
                <a:ea typeface="微軟正黑體" panose="020B0604030504040204" pitchFamily="34" charset="-120"/>
              </a:rPr>
              <a:t>P(Y)</a:t>
            </a:r>
            <a:r>
              <a:rPr lang="zh-TW" altLang="en-US" dirty="0">
                <a:latin typeface="微軟正黑體" panose="020B0604030504040204" pitchFamily="34" charset="-120"/>
                <a:ea typeface="微軟正黑體" panose="020B0604030504040204" pitchFamily="34" charset="-120"/>
              </a:rPr>
              <a:t>，請問兩個小朋友都是男生的機率為何</a:t>
            </a:r>
            <a:r>
              <a:rPr lang="en-US" altLang="zh-TW" dirty="0">
                <a:latin typeface="微軟正黑體" panose="020B0604030504040204" pitchFamily="34" charset="-120"/>
                <a:ea typeface="微軟正黑體" panose="020B0604030504040204" pitchFamily="34" charset="-120"/>
              </a:rPr>
              <a:t>? P(X | Y)?</a:t>
            </a:r>
          </a:p>
          <a:p>
            <a:pPr lvl="2"/>
            <a:r>
              <a:rPr lang="zh-TW" altLang="en-US" dirty="0">
                <a:latin typeface="微軟正黑體" panose="020B0604030504040204" pitchFamily="34" charset="-120"/>
                <a:ea typeface="微軟正黑體" panose="020B0604030504040204" pitchFamily="34" charset="-120"/>
              </a:rPr>
              <a:t>男女、男男、女男</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因為已知至少有一個小朋友為男生，所以變成僅有三種可能的組合</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答案為</a:t>
            </a:r>
            <a:r>
              <a:rPr lang="en-US" altLang="zh-TW" dirty="0">
                <a:latin typeface="微軟正黑體" panose="020B0604030504040204" pitchFamily="34" charset="-120"/>
                <a:ea typeface="微軟正黑體" panose="020B0604030504040204" pitchFamily="34" charset="-120"/>
              </a:rPr>
              <a:t>1/3</a:t>
            </a:r>
          </a:p>
          <a:p>
            <a:pPr lvl="2"/>
            <a:r>
              <a:rPr lang="en-US" altLang="zh-TW" dirty="0">
                <a:latin typeface="微軟正黑體" panose="020B0604030504040204" pitchFamily="34" charset="-120"/>
                <a:ea typeface="微軟正黑體" panose="020B0604030504040204" pitchFamily="34" charset="-120"/>
                <a:hlinkClick r:id="rId2" action="ppaction://hlinkfile"/>
              </a:rPr>
              <a:t>Boy Girl Conditional Probablity.mp4</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673071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銀行利用過去的經驗（持卡人是否準時還款），來決定是否核准信用卡給予一個新的申請人</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假設銀行已經利用過去的經驗，建立一個表格，內容包含持卡人的性別、年紀、收入以及是否準時還款的資料（如下頁所示）</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利用該表格，我們就能試著使用貝氏分類器來推測一個新的申請人是否會準時還款，並決定是否核准該信用卡的申請</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新申請人的個人資料為：女性、</a:t>
            </a:r>
            <a:r>
              <a:rPr lang="en-US" altLang="zh-TW" dirty="0">
                <a:latin typeface="微軟正黑體" panose="020B0604030504040204" pitchFamily="34" charset="-120"/>
                <a:ea typeface="微軟正黑體" panose="020B0604030504040204" pitchFamily="34" charset="-120"/>
              </a:rPr>
              <a:t>26-40</a:t>
            </a:r>
            <a:r>
              <a:rPr lang="zh-TW" altLang="en-US" dirty="0">
                <a:latin typeface="微軟正黑體" panose="020B0604030504040204" pitchFamily="34" charset="-120"/>
                <a:ea typeface="微軟正黑體" panose="020B0604030504040204" pitchFamily="34" charset="-120"/>
              </a:rPr>
              <a:t>歲之間以及中等級的收入</a:t>
            </a:r>
          </a:p>
        </p:txBody>
      </p:sp>
    </p:spTree>
    <p:extLst>
      <p:ext uri="{BB962C8B-B14F-4D97-AF65-F5344CB8AC3E}">
        <p14:creationId xmlns:p14="http://schemas.microsoft.com/office/powerpoint/2010/main" val="11658806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2172035028"/>
              </p:ext>
            </p:extLst>
          </p:nvPr>
        </p:nvGraphicFramePr>
        <p:xfrm>
          <a:off x="1141413" y="2249488"/>
          <a:ext cx="9906000" cy="407924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1290313674"/>
                    </a:ext>
                  </a:extLst>
                </a:gridCol>
                <a:gridCol w="1981200">
                  <a:extLst>
                    <a:ext uri="{9D8B030D-6E8A-4147-A177-3AD203B41FA5}">
                      <a16:colId xmlns:a16="http://schemas.microsoft.com/office/drawing/2014/main" val="807625401"/>
                    </a:ext>
                  </a:extLst>
                </a:gridCol>
                <a:gridCol w="1981200">
                  <a:extLst>
                    <a:ext uri="{9D8B030D-6E8A-4147-A177-3AD203B41FA5}">
                      <a16:colId xmlns:a16="http://schemas.microsoft.com/office/drawing/2014/main" val="1504193505"/>
                    </a:ext>
                  </a:extLst>
                </a:gridCol>
                <a:gridCol w="1981200">
                  <a:extLst>
                    <a:ext uri="{9D8B030D-6E8A-4147-A177-3AD203B41FA5}">
                      <a16:colId xmlns:a16="http://schemas.microsoft.com/office/drawing/2014/main" val="1569190848"/>
                    </a:ext>
                  </a:extLst>
                </a:gridCol>
                <a:gridCol w="1981200">
                  <a:extLst>
                    <a:ext uri="{9D8B030D-6E8A-4147-A177-3AD203B41FA5}">
                      <a16:colId xmlns:a16="http://schemas.microsoft.com/office/drawing/2014/main" val="2185839952"/>
                    </a:ext>
                  </a:extLst>
                </a:gridCol>
              </a:tblGrid>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ID</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性別</a:t>
                      </a: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年齡區間</a:t>
                      </a: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收入</a:t>
                      </a: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是否準時還款</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523894049"/>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&gt;40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高</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53145508"/>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2</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26~40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高</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343521669"/>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3</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&lt;15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480092915"/>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4</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15~25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845745483"/>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15~25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2970069"/>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6</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15~25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93520762"/>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7</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26~40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高</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850657954"/>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8</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26~40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4126995187"/>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9</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26~40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Y</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429291261"/>
                  </a:ext>
                </a:extLst>
              </a:tr>
              <a:tr h="370840">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10</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&lt;15</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en-US" altLang="zh-TW" dirty="0">
                          <a:solidFill>
                            <a:schemeClr val="bg1"/>
                          </a:solidFill>
                          <a:latin typeface="微軟正黑體" panose="020B0604030504040204" pitchFamily="34" charset="-120"/>
                          <a:ea typeface="微軟正黑體" panose="020B0604030504040204" pitchFamily="34" charset="-120"/>
                        </a:rPr>
                        <a:t>N</a:t>
                      </a:r>
                      <a:endParaRPr lang="zh-TW" altLang="en-US"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4228954381"/>
                  </a:ext>
                </a:extLst>
              </a:tr>
            </a:tbl>
          </a:graphicData>
        </a:graphic>
      </p:graphicFrame>
      <p:sp>
        <p:nvSpPr>
          <p:cNvPr id="5" name="矩形 4"/>
          <p:cNvSpPr/>
          <p:nvPr/>
        </p:nvSpPr>
        <p:spPr>
          <a:xfrm>
            <a:off x="7137400" y="192088"/>
            <a:ext cx="4953000" cy="1320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本範例是設計用來說明機器學習的</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，請勿參考此表格來進行理財</a:t>
            </a:r>
          </a:p>
        </p:txBody>
      </p:sp>
    </p:spTree>
    <p:extLst>
      <p:ext uri="{BB962C8B-B14F-4D97-AF65-F5344CB8AC3E}">
        <p14:creationId xmlns:p14="http://schemas.microsoft.com/office/powerpoint/2010/main" val="41124684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4" name="表格 3"/>
          <p:cNvGraphicFramePr>
            <a:graphicFrameLocks noGrp="1"/>
          </p:cNvGraphicFramePr>
          <p:nvPr>
            <p:extLst>
              <p:ext uri="{D42A27DB-BD31-4B8C-83A1-F6EECF244321}">
                <p14:modId xmlns:p14="http://schemas.microsoft.com/office/powerpoint/2010/main" val="1568700505"/>
              </p:ext>
            </p:extLst>
          </p:nvPr>
        </p:nvGraphicFramePr>
        <p:xfrm>
          <a:off x="83888" y="2179350"/>
          <a:ext cx="12021422" cy="2225040"/>
        </p:xfrm>
        <a:graphic>
          <a:graphicData uri="http://schemas.openxmlformats.org/drawingml/2006/table">
            <a:tbl>
              <a:tblPr firstRow="1" bandRow="1">
                <a:tableStyleId>{5C22544A-7EE6-4342-B048-85BDC9FD1C3A}</a:tableStyleId>
              </a:tblPr>
              <a:tblGrid>
                <a:gridCol w="1275012">
                  <a:extLst>
                    <a:ext uri="{9D8B030D-6E8A-4147-A177-3AD203B41FA5}">
                      <a16:colId xmlns:a16="http://schemas.microsoft.com/office/drawing/2014/main" val="2713306444"/>
                    </a:ext>
                  </a:extLst>
                </a:gridCol>
                <a:gridCol w="1074641">
                  <a:extLst>
                    <a:ext uri="{9D8B030D-6E8A-4147-A177-3AD203B41FA5}">
                      <a16:colId xmlns:a16="http://schemas.microsoft.com/office/drawing/2014/main" val="1977434845"/>
                    </a:ext>
                  </a:extLst>
                </a:gridCol>
                <a:gridCol w="1074641">
                  <a:extLst>
                    <a:ext uri="{9D8B030D-6E8A-4147-A177-3AD203B41FA5}">
                      <a16:colId xmlns:a16="http://schemas.microsoft.com/office/drawing/2014/main" val="1031037244"/>
                    </a:ext>
                  </a:extLst>
                </a:gridCol>
                <a:gridCol w="1074641">
                  <a:extLst>
                    <a:ext uri="{9D8B030D-6E8A-4147-A177-3AD203B41FA5}">
                      <a16:colId xmlns:a16="http://schemas.microsoft.com/office/drawing/2014/main" val="4163293093"/>
                    </a:ext>
                  </a:extLst>
                </a:gridCol>
                <a:gridCol w="1074641">
                  <a:extLst>
                    <a:ext uri="{9D8B030D-6E8A-4147-A177-3AD203B41FA5}">
                      <a16:colId xmlns:a16="http://schemas.microsoft.com/office/drawing/2014/main" val="1545750352"/>
                    </a:ext>
                  </a:extLst>
                </a:gridCol>
                <a:gridCol w="1074641">
                  <a:extLst>
                    <a:ext uri="{9D8B030D-6E8A-4147-A177-3AD203B41FA5}">
                      <a16:colId xmlns:a16="http://schemas.microsoft.com/office/drawing/2014/main" val="605118676"/>
                    </a:ext>
                  </a:extLst>
                </a:gridCol>
                <a:gridCol w="1074641">
                  <a:extLst>
                    <a:ext uri="{9D8B030D-6E8A-4147-A177-3AD203B41FA5}">
                      <a16:colId xmlns:a16="http://schemas.microsoft.com/office/drawing/2014/main" val="3131643731"/>
                    </a:ext>
                  </a:extLst>
                </a:gridCol>
                <a:gridCol w="1074641">
                  <a:extLst>
                    <a:ext uri="{9D8B030D-6E8A-4147-A177-3AD203B41FA5}">
                      <a16:colId xmlns:a16="http://schemas.microsoft.com/office/drawing/2014/main" val="3689189035"/>
                    </a:ext>
                  </a:extLst>
                </a:gridCol>
                <a:gridCol w="1074641">
                  <a:extLst>
                    <a:ext uri="{9D8B030D-6E8A-4147-A177-3AD203B41FA5}">
                      <a16:colId xmlns:a16="http://schemas.microsoft.com/office/drawing/2014/main" val="1055566859"/>
                    </a:ext>
                  </a:extLst>
                </a:gridCol>
                <a:gridCol w="1074641">
                  <a:extLst>
                    <a:ext uri="{9D8B030D-6E8A-4147-A177-3AD203B41FA5}">
                      <a16:colId xmlns:a16="http://schemas.microsoft.com/office/drawing/2014/main" val="3626328025"/>
                    </a:ext>
                  </a:extLst>
                </a:gridCol>
                <a:gridCol w="1074641">
                  <a:extLst>
                    <a:ext uri="{9D8B030D-6E8A-4147-A177-3AD203B41FA5}">
                      <a16:colId xmlns:a16="http://schemas.microsoft.com/office/drawing/2014/main" val="1345634262"/>
                    </a:ext>
                  </a:extLst>
                </a:gridCol>
              </a:tblGrid>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gridSpan="2">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性別</a:t>
                      </a:r>
                    </a:p>
                  </a:txBody>
                  <a:tcPr/>
                </a:tc>
                <a:tc hMerge="1">
                  <a:txBody>
                    <a:bodyPr/>
                    <a:lstStyle/>
                    <a:p>
                      <a:endParaRPr lang="zh-TW" altLang="en-US" dirty="0"/>
                    </a:p>
                  </a:txBody>
                  <a:tcPr/>
                </a:tc>
                <a:tc gridSpan="4">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年齡區間</a:t>
                      </a:r>
                    </a:p>
                  </a:txBody>
                  <a:tcPr/>
                </a:tc>
                <a:tc hMerge="1">
                  <a:txBody>
                    <a:bodyPr/>
                    <a:lstStyle/>
                    <a:p>
                      <a:pPr algn="ctr"/>
                      <a:endParaRPr lang="zh-TW" altLang="en-US" sz="1600" dirty="0"/>
                    </a:p>
                  </a:txBody>
                  <a:tcPr/>
                </a:tc>
                <a:tc hMerge="1">
                  <a:txBody>
                    <a:bodyPr/>
                    <a:lstStyle/>
                    <a:p>
                      <a:pPr algn="ctr"/>
                      <a:endParaRPr lang="zh-TW" altLang="en-US" sz="1600" dirty="0"/>
                    </a:p>
                  </a:txBody>
                  <a:tcPr/>
                </a:tc>
                <a:tc hMerge="1">
                  <a:txBody>
                    <a:bodyPr/>
                    <a:lstStyle/>
                    <a:p>
                      <a:pPr algn="ctr"/>
                      <a:endParaRPr lang="zh-TW" altLang="en-US" sz="1600" dirty="0"/>
                    </a:p>
                  </a:txBody>
                  <a:tcPr/>
                </a:tc>
                <a:tc gridSpan="3">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收入</a:t>
                      </a:r>
                    </a:p>
                  </a:txBody>
                  <a:tcPr/>
                </a:tc>
                <a:tc hMerge="1">
                  <a:txBody>
                    <a:bodyPr/>
                    <a:lstStyle/>
                    <a:p>
                      <a:endParaRPr lang="zh-TW" altLang="en-US" sz="1600" dirty="0"/>
                    </a:p>
                  </a:txBody>
                  <a:tcPr/>
                </a:tc>
                <a:tc hMerge="1">
                  <a:txBody>
                    <a:bodyPr/>
                    <a:lstStyle/>
                    <a:p>
                      <a:endParaRPr lang="zh-TW" altLang="en-US" sz="1600" dirty="0"/>
                    </a:p>
                  </a:txBody>
                  <a:tcPr/>
                </a:tc>
                <a:extLst>
                  <a:ext uri="{0D108BD9-81ED-4DB2-BD59-A6C34878D82A}">
                    <a16:rowId xmlns:a16="http://schemas.microsoft.com/office/drawing/2014/main" val="2616812084"/>
                  </a:ext>
                </a:extLst>
              </a:tr>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&lt; 15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15-25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&gt; 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高</a:t>
                      </a:r>
                    </a:p>
                  </a:txBody>
                  <a:tcPr/>
                </a:tc>
                <a:extLst>
                  <a:ext uri="{0D108BD9-81ED-4DB2-BD59-A6C34878D82A}">
                    <a16:rowId xmlns:a16="http://schemas.microsoft.com/office/drawing/2014/main" val="2855642526"/>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Count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42463057"/>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614531008"/>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Probability</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647075652"/>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83782991"/>
                  </a:ext>
                </a:extLst>
              </a:tr>
            </a:tbl>
          </a:graphicData>
        </a:graphic>
      </p:graphicFrame>
    </p:spTree>
    <p:extLst>
      <p:ext uri="{BB962C8B-B14F-4D97-AF65-F5344CB8AC3E}">
        <p14:creationId xmlns:p14="http://schemas.microsoft.com/office/powerpoint/2010/main" val="34697337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4" name="表格 3"/>
          <p:cNvGraphicFramePr>
            <a:graphicFrameLocks noGrp="1"/>
          </p:cNvGraphicFramePr>
          <p:nvPr/>
        </p:nvGraphicFramePr>
        <p:xfrm>
          <a:off x="83888" y="2179350"/>
          <a:ext cx="12021422" cy="2225040"/>
        </p:xfrm>
        <a:graphic>
          <a:graphicData uri="http://schemas.openxmlformats.org/drawingml/2006/table">
            <a:tbl>
              <a:tblPr firstRow="1" bandRow="1">
                <a:tableStyleId>{5C22544A-7EE6-4342-B048-85BDC9FD1C3A}</a:tableStyleId>
              </a:tblPr>
              <a:tblGrid>
                <a:gridCol w="1275012">
                  <a:extLst>
                    <a:ext uri="{9D8B030D-6E8A-4147-A177-3AD203B41FA5}">
                      <a16:colId xmlns:a16="http://schemas.microsoft.com/office/drawing/2014/main" val="2713306444"/>
                    </a:ext>
                  </a:extLst>
                </a:gridCol>
                <a:gridCol w="1074641">
                  <a:extLst>
                    <a:ext uri="{9D8B030D-6E8A-4147-A177-3AD203B41FA5}">
                      <a16:colId xmlns:a16="http://schemas.microsoft.com/office/drawing/2014/main" val="1977434845"/>
                    </a:ext>
                  </a:extLst>
                </a:gridCol>
                <a:gridCol w="1074641">
                  <a:extLst>
                    <a:ext uri="{9D8B030D-6E8A-4147-A177-3AD203B41FA5}">
                      <a16:colId xmlns:a16="http://schemas.microsoft.com/office/drawing/2014/main" val="1031037244"/>
                    </a:ext>
                  </a:extLst>
                </a:gridCol>
                <a:gridCol w="1074641">
                  <a:extLst>
                    <a:ext uri="{9D8B030D-6E8A-4147-A177-3AD203B41FA5}">
                      <a16:colId xmlns:a16="http://schemas.microsoft.com/office/drawing/2014/main" val="4163293093"/>
                    </a:ext>
                  </a:extLst>
                </a:gridCol>
                <a:gridCol w="1074641">
                  <a:extLst>
                    <a:ext uri="{9D8B030D-6E8A-4147-A177-3AD203B41FA5}">
                      <a16:colId xmlns:a16="http://schemas.microsoft.com/office/drawing/2014/main" val="1545750352"/>
                    </a:ext>
                  </a:extLst>
                </a:gridCol>
                <a:gridCol w="1074641">
                  <a:extLst>
                    <a:ext uri="{9D8B030D-6E8A-4147-A177-3AD203B41FA5}">
                      <a16:colId xmlns:a16="http://schemas.microsoft.com/office/drawing/2014/main" val="605118676"/>
                    </a:ext>
                  </a:extLst>
                </a:gridCol>
                <a:gridCol w="1074641">
                  <a:extLst>
                    <a:ext uri="{9D8B030D-6E8A-4147-A177-3AD203B41FA5}">
                      <a16:colId xmlns:a16="http://schemas.microsoft.com/office/drawing/2014/main" val="3131643731"/>
                    </a:ext>
                  </a:extLst>
                </a:gridCol>
                <a:gridCol w="1074641">
                  <a:extLst>
                    <a:ext uri="{9D8B030D-6E8A-4147-A177-3AD203B41FA5}">
                      <a16:colId xmlns:a16="http://schemas.microsoft.com/office/drawing/2014/main" val="3689189035"/>
                    </a:ext>
                  </a:extLst>
                </a:gridCol>
                <a:gridCol w="1074641">
                  <a:extLst>
                    <a:ext uri="{9D8B030D-6E8A-4147-A177-3AD203B41FA5}">
                      <a16:colId xmlns:a16="http://schemas.microsoft.com/office/drawing/2014/main" val="1055566859"/>
                    </a:ext>
                  </a:extLst>
                </a:gridCol>
                <a:gridCol w="1074641">
                  <a:extLst>
                    <a:ext uri="{9D8B030D-6E8A-4147-A177-3AD203B41FA5}">
                      <a16:colId xmlns:a16="http://schemas.microsoft.com/office/drawing/2014/main" val="3626328025"/>
                    </a:ext>
                  </a:extLst>
                </a:gridCol>
                <a:gridCol w="1074641">
                  <a:extLst>
                    <a:ext uri="{9D8B030D-6E8A-4147-A177-3AD203B41FA5}">
                      <a16:colId xmlns:a16="http://schemas.microsoft.com/office/drawing/2014/main" val="1345634262"/>
                    </a:ext>
                  </a:extLst>
                </a:gridCol>
              </a:tblGrid>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gridSpan="2">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性別</a:t>
                      </a:r>
                    </a:p>
                  </a:txBody>
                  <a:tcPr/>
                </a:tc>
                <a:tc hMerge="1">
                  <a:txBody>
                    <a:bodyPr/>
                    <a:lstStyle/>
                    <a:p>
                      <a:endParaRPr lang="zh-TW" altLang="en-US" dirty="0"/>
                    </a:p>
                  </a:txBody>
                  <a:tcPr/>
                </a:tc>
                <a:tc gridSpan="4">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年齡區間</a:t>
                      </a:r>
                    </a:p>
                  </a:txBody>
                  <a:tcPr/>
                </a:tc>
                <a:tc hMerge="1">
                  <a:txBody>
                    <a:bodyPr/>
                    <a:lstStyle/>
                    <a:p>
                      <a:pPr algn="ctr"/>
                      <a:endParaRPr lang="zh-TW" altLang="en-US" sz="1600" dirty="0"/>
                    </a:p>
                  </a:txBody>
                  <a:tcPr/>
                </a:tc>
                <a:tc hMerge="1">
                  <a:txBody>
                    <a:bodyPr/>
                    <a:lstStyle/>
                    <a:p>
                      <a:pPr algn="ctr"/>
                      <a:endParaRPr lang="zh-TW" altLang="en-US" sz="1600" dirty="0"/>
                    </a:p>
                  </a:txBody>
                  <a:tcPr/>
                </a:tc>
                <a:tc hMerge="1">
                  <a:txBody>
                    <a:bodyPr/>
                    <a:lstStyle/>
                    <a:p>
                      <a:pPr algn="ctr"/>
                      <a:endParaRPr lang="zh-TW" altLang="en-US" sz="1600" dirty="0"/>
                    </a:p>
                  </a:txBody>
                  <a:tcPr/>
                </a:tc>
                <a:tc gridSpan="3">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收入</a:t>
                      </a:r>
                    </a:p>
                  </a:txBody>
                  <a:tcPr/>
                </a:tc>
                <a:tc hMerge="1">
                  <a:txBody>
                    <a:bodyPr/>
                    <a:lstStyle/>
                    <a:p>
                      <a:endParaRPr lang="zh-TW" altLang="en-US" sz="1600" dirty="0"/>
                    </a:p>
                  </a:txBody>
                  <a:tcPr/>
                </a:tc>
                <a:tc hMerge="1">
                  <a:txBody>
                    <a:bodyPr/>
                    <a:lstStyle/>
                    <a:p>
                      <a:endParaRPr lang="zh-TW" altLang="en-US" sz="1600" dirty="0"/>
                    </a:p>
                  </a:txBody>
                  <a:tcPr/>
                </a:tc>
                <a:extLst>
                  <a:ext uri="{0D108BD9-81ED-4DB2-BD59-A6C34878D82A}">
                    <a16:rowId xmlns:a16="http://schemas.microsoft.com/office/drawing/2014/main" val="2616812084"/>
                  </a:ext>
                </a:extLst>
              </a:tr>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&lt; 15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15-25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&gt; 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高</a:t>
                      </a:r>
                    </a:p>
                  </a:txBody>
                  <a:tcPr/>
                </a:tc>
                <a:extLst>
                  <a:ext uri="{0D108BD9-81ED-4DB2-BD59-A6C34878D82A}">
                    <a16:rowId xmlns:a16="http://schemas.microsoft.com/office/drawing/2014/main" val="2855642526"/>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Count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42463057"/>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614531008"/>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Probability</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647075652"/>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83782991"/>
                  </a:ext>
                </a:extLst>
              </a:tr>
            </a:tbl>
          </a:graphicData>
        </a:graphic>
      </p:graphicFrame>
      <p:sp>
        <p:nvSpPr>
          <p:cNvPr id="3" name="橢圓 2"/>
          <p:cNvSpPr/>
          <p:nvPr/>
        </p:nvSpPr>
        <p:spPr>
          <a:xfrm>
            <a:off x="2638425" y="2815620"/>
            <a:ext cx="1778000" cy="5461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585927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4" name="表格 3"/>
          <p:cNvGraphicFramePr>
            <a:graphicFrameLocks noGrp="1"/>
          </p:cNvGraphicFramePr>
          <p:nvPr/>
        </p:nvGraphicFramePr>
        <p:xfrm>
          <a:off x="83888" y="2179350"/>
          <a:ext cx="12021422" cy="2225040"/>
        </p:xfrm>
        <a:graphic>
          <a:graphicData uri="http://schemas.openxmlformats.org/drawingml/2006/table">
            <a:tbl>
              <a:tblPr firstRow="1" bandRow="1">
                <a:tableStyleId>{5C22544A-7EE6-4342-B048-85BDC9FD1C3A}</a:tableStyleId>
              </a:tblPr>
              <a:tblGrid>
                <a:gridCol w="1275012">
                  <a:extLst>
                    <a:ext uri="{9D8B030D-6E8A-4147-A177-3AD203B41FA5}">
                      <a16:colId xmlns:a16="http://schemas.microsoft.com/office/drawing/2014/main" val="2713306444"/>
                    </a:ext>
                  </a:extLst>
                </a:gridCol>
                <a:gridCol w="1074641">
                  <a:extLst>
                    <a:ext uri="{9D8B030D-6E8A-4147-A177-3AD203B41FA5}">
                      <a16:colId xmlns:a16="http://schemas.microsoft.com/office/drawing/2014/main" val="1977434845"/>
                    </a:ext>
                  </a:extLst>
                </a:gridCol>
                <a:gridCol w="1074641">
                  <a:extLst>
                    <a:ext uri="{9D8B030D-6E8A-4147-A177-3AD203B41FA5}">
                      <a16:colId xmlns:a16="http://schemas.microsoft.com/office/drawing/2014/main" val="1031037244"/>
                    </a:ext>
                  </a:extLst>
                </a:gridCol>
                <a:gridCol w="1074641">
                  <a:extLst>
                    <a:ext uri="{9D8B030D-6E8A-4147-A177-3AD203B41FA5}">
                      <a16:colId xmlns:a16="http://schemas.microsoft.com/office/drawing/2014/main" val="4163293093"/>
                    </a:ext>
                  </a:extLst>
                </a:gridCol>
                <a:gridCol w="1074641">
                  <a:extLst>
                    <a:ext uri="{9D8B030D-6E8A-4147-A177-3AD203B41FA5}">
                      <a16:colId xmlns:a16="http://schemas.microsoft.com/office/drawing/2014/main" val="1545750352"/>
                    </a:ext>
                  </a:extLst>
                </a:gridCol>
                <a:gridCol w="1074641">
                  <a:extLst>
                    <a:ext uri="{9D8B030D-6E8A-4147-A177-3AD203B41FA5}">
                      <a16:colId xmlns:a16="http://schemas.microsoft.com/office/drawing/2014/main" val="605118676"/>
                    </a:ext>
                  </a:extLst>
                </a:gridCol>
                <a:gridCol w="1074641">
                  <a:extLst>
                    <a:ext uri="{9D8B030D-6E8A-4147-A177-3AD203B41FA5}">
                      <a16:colId xmlns:a16="http://schemas.microsoft.com/office/drawing/2014/main" val="3131643731"/>
                    </a:ext>
                  </a:extLst>
                </a:gridCol>
                <a:gridCol w="1074641">
                  <a:extLst>
                    <a:ext uri="{9D8B030D-6E8A-4147-A177-3AD203B41FA5}">
                      <a16:colId xmlns:a16="http://schemas.microsoft.com/office/drawing/2014/main" val="3689189035"/>
                    </a:ext>
                  </a:extLst>
                </a:gridCol>
                <a:gridCol w="1074641">
                  <a:extLst>
                    <a:ext uri="{9D8B030D-6E8A-4147-A177-3AD203B41FA5}">
                      <a16:colId xmlns:a16="http://schemas.microsoft.com/office/drawing/2014/main" val="1055566859"/>
                    </a:ext>
                  </a:extLst>
                </a:gridCol>
                <a:gridCol w="1074641">
                  <a:extLst>
                    <a:ext uri="{9D8B030D-6E8A-4147-A177-3AD203B41FA5}">
                      <a16:colId xmlns:a16="http://schemas.microsoft.com/office/drawing/2014/main" val="3626328025"/>
                    </a:ext>
                  </a:extLst>
                </a:gridCol>
                <a:gridCol w="1074641">
                  <a:extLst>
                    <a:ext uri="{9D8B030D-6E8A-4147-A177-3AD203B41FA5}">
                      <a16:colId xmlns:a16="http://schemas.microsoft.com/office/drawing/2014/main" val="1345634262"/>
                    </a:ext>
                  </a:extLst>
                </a:gridCol>
              </a:tblGrid>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gridSpan="2">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性別</a:t>
                      </a:r>
                    </a:p>
                  </a:txBody>
                  <a:tcPr/>
                </a:tc>
                <a:tc hMerge="1">
                  <a:txBody>
                    <a:bodyPr/>
                    <a:lstStyle/>
                    <a:p>
                      <a:endParaRPr lang="zh-TW" altLang="en-US" dirty="0"/>
                    </a:p>
                  </a:txBody>
                  <a:tcPr/>
                </a:tc>
                <a:tc gridSpan="4">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年齡區間</a:t>
                      </a:r>
                    </a:p>
                  </a:txBody>
                  <a:tcPr/>
                </a:tc>
                <a:tc hMerge="1">
                  <a:txBody>
                    <a:bodyPr/>
                    <a:lstStyle/>
                    <a:p>
                      <a:pPr algn="ctr"/>
                      <a:endParaRPr lang="zh-TW" altLang="en-US" sz="1600" dirty="0"/>
                    </a:p>
                  </a:txBody>
                  <a:tcPr/>
                </a:tc>
                <a:tc hMerge="1">
                  <a:txBody>
                    <a:bodyPr/>
                    <a:lstStyle/>
                    <a:p>
                      <a:pPr algn="ctr"/>
                      <a:endParaRPr lang="zh-TW" altLang="en-US" sz="1600" dirty="0"/>
                    </a:p>
                  </a:txBody>
                  <a:tcPr/>
                </a:tc>
                <a:tc hMerge="1">
                  <a:txBody>
                    <a:bodyPr/>
                    <a:lstStyle/>
                    <a:p>
                      <a:pPr algn="ctr"/>
                      <a:endParaRPr lang="zh-TW" altLang="en-US" sz="1600" dirty="0"/>
                    </a:p>
                  </a:txBody>
                  <a:tcPr/>
                </a:tc>
                <a:tc gridSpan="3">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收入</a:t>
                      </a:r>
                    </a:p>
                  </a:txBody>
                  <a:tcPr/>
                </a:tc>
                <a:tc hMerge="1">
                  <a:txBody>
                    <a:bodyPr/>
                    <a:lstStyle/>
                    <a:p>
                      <a:endParaRPr lang="zh-TW" altLang="en-US" sz="1600" dirty="0"/>
                    </a:p>
                  </a:txBody>
                  <a:tcPr/>
                </a:tc>
                <a:tc hMerge="1">
                  <a:txBody>
                    <a:bodyPr/>
                    <a:lstStyle/>
                    <a:p>
                      <a:endParaRPr lang="zh-TW" altLang="en-US" sz="1600" dirty="0"/>
                    </a:p>
                  </a:txBody>
                  <a:tcPr/>
                </a:tc>
                <a:extLst>
                  <a:ext uri="{0D108BD9-81ED-4DB2-BD59-A6C34878D82A}">
                    <a16:rowId xmlns:a16="http://schemas.microsoft.com/office/drawing/2014/main" val="2616812084"/>
                  </a:ext>
                </a:extLst>
              </a:tr>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&lt; 15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15-25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&gt; 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高</a:t>
                      </a:r>
                    </a:p>
                  </a:txBody>
                  <a:tcPr/>
                </a:tc>
                <a:extLst>
                  <a:ext uri="{0D108BD9-81ED-4DB2-BD59-A6C34878D82A}">
                    <a16:rowId xmlns:a16="http://schemas.microsoft.com/office/drawing/2014/main" val="2855642526"/>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Count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42463057"/>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614531008"/>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Probability</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647075652"/>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83782991"/>
                  </a:ext>
                </a:extLst>
              </a:tr>
            </a:tbl>
          </a:graphicData>
        </a:graphic>
      </p:graphicFrame>
      <p:sp>
        <p:nvSpPr>
          <p:cNvPr id="3" name="橢圓 2"/>
          <p:cNvSpPr/>
          <p:nvPr/>
        </p:nvSpPr>
        <p:spPr>
          <a:xfrm>
            <a:off x="2587625" y="3183920"/>
            <a:ext cx="1778000" cy="5461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64528013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4" name="表格 3"/>
          <p:cNvGraphicFramePr>
            <a:graphicFrameLocks noGrp="1"/>
          </p:cNvGraphicFramePr>
          <p:nvPr/>
        </p:nvGraphicFramePr>
        <p:xfrm>
          <a:off x="83888" y="2179350"/>
          <a:ext cx="12021422" cy="2225040"/>
        </p:xfrm>
        <a:graphic>
          <a:graphicData uri="http://schemas.openxmlformats.org/drawingml/2006/table">
            <a:tbl>
              <a:tblPr firstRow="1" bandRow="1">
                <a:tableStyleId>{5C22544A-7EE6-4342-B048-85BDC9FD1C3A}</a:tableStyleId>
              </a:tblPr>
              <a:tblGrid>
                <a:gridCol w="1275012">
                  <a:extLst>
                    <a:ext uri="{9D8B030D-6E8A-4147-A177-3AD203B41FA5}">
                      <a16:colId xmlns:a16="http://schemas.microsoft.com/office/drawing/2014/main" val="2713306444"/>
                    </a:ext>
                  </a:extLst>
                </a:gridCol>
                <a:gridCol w="1074641">
                  <a:extLst>
                    <a:ext uri="{9D8B030D-6E8A-4147-A177-3AD203B41FA5}">
                      <a16:colId xmlns:a16="http://schemas.microsoft.com/office/drawing/2014/main" val="1977434845"/>
                    </a:ext>
                  </a:extLst>
                </a:gridCol>
                <a:gridCol w="1074641">
                  <a:extLst>
                    <a:ext uri="{9D8B030D-6E8A-4147-A177-3AD203B41FA5}">
                      <a16:colId xmlns:a16="http://schemas.microsoft.com/office/drawing/2014/main" val="1031037244"/>
                    </a:ext>
                  </a:extLst>
                </a:gridCol>
                <a:gridCol w="1074641">
                  <a:extLst>
                    <a:ext uri="{9D8B030D-6E8A-4147-A177-3AD203B41FA5}">
                      <a16:colId xmlns:a16="http://schemas.microsoft.com/office/drawing/2014/main" val="4163293093"/>
                    </a:ext>
                  </a:extLst>
                </a:gridCol>
                <a:gridCol w="1074641">
                  <a:extLst>
                    <a:ext uri="{9D8B030D-6E8A-4147-A177-3AD203B41FA5}">
                      <a16:colId xmlns:a16="http://schemas.microsoft.com/office/drawing/2014/main" val="1545750352"/>
                    </a:ext>
                  </a:extLst>
                </a:gridCol>
                <a:gridCol w="1074641">
                  <a:extLst>
                    <a:ext uri="{9D8B030D-6E8A-4147-A177-3AD203B41FA5}">
                      <a16:colId xmlns:a16="http://schemas.microsoft.com/office/drawing/2014/main" val="605118676"/>
                    </a:ext>
                  </a:extLst>
                </a:gridCol>
                <a:gridCol w="1074641">
                  <a:extLst>
                    <a:ext uri="{9D8B030D-6E8A-4147-A177-3AD203B41FA5}">
                      <a16:colId xmlns:a16="http://schemas.microsoft.com/office/drawing/2014/main" val="3131643731"/>
                    </a:ext>
                  </a:extLst>
                </a:gridCol>
                <a:gridCol w="1074641">
                  <a:extLst>
                    <a:ext uri="{9D8B030D-6E8A-4147-A177-3AD203B41FA5}">
                      <a16:colId xmlns:a16="http://schemas.microsoft.com/office/drawing/2014/main" val="3689189035"/>
                    </a:ext>
                  </a:extLst>
                </a:gridCol>
                <a:gridCol w="1074641">
                  <a:extLst>
                    <a:ext uri="{9D8B030D-6E8A-4147-A177-3AD203B41FA5}">
                      <a16:colId xmlns:a16="http://schemas.microsoft.com/office/drawing/2014/main" val="1055566859"/>
                    </a:ext>
                  </a:extLst>
                </a:gridCol>
                <a:gridCol w="1074641">
                  <a:extLst>
                    <a:ext uri="{9D8B030D-6E8A-4147-A177-3AD203B41FA5}">
                      <a16:colId xmlns:a16="http://schemas.microsoft.com/office/drawing/2014/main" val="3626328025"/>
                    </a:ext>
                  </a:extLst>
                </a:gridCol>
                <a:gridCol w="1074641">
                  <a:extLst>
                    <a:ext uri="{9D8B030D-6E8A-4147-A177-3AD203B41FA5}">
                      <a16:colId xmlns:a16="http://schemas.microsoft.com/office/drawing/2014/main" val="1345634262"/>
                    </a:ext>
                  </a:extLst>
                </a:gridCol>
              </a:tblGrid>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gridSpan="2">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性別</a:t>
                      </a:r>
                    </a:p>
                  </a:txBody>
                  <a:tcPr/>
                </a:tc>
                <a:tc hMerge="1">
                  <a:txBody>
                    <a:bodyPr/>
                    <a:lstStyle/>
                    <a:p>
                      <a:endParaRPr lang="zh-TW" altLang="en-US" dirty="0"/>
                    </a:p>
                  </a:txBody>
                  <a:tcPr/>
                </a:tc>
                <a:tc gridSpan="4">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年齡區間</a:t>
                      </a:r>
                    </a:p>
                  </a:txBody>
                  <a:tcPr/>
                </a:tc>
                <a:tc hMerge="1">
                  <a:txBody>
                    <a:bodyPr/>
                    <a:lstStyle/>
                    <a:p>
                      <a:pPr algn="ctr"/>
                      <a:endParaRPr lang="zh-TW" altLang="en-US" sz="1600" dirty="0"/>
                    </a:p>
                  </a:txBody>
                  <a:tcPr/>
                </a:tc>
                <a:tc hMerge="1">
                  <a:txBody>
                    <a:bodyPr/>
                    <a:lstStyle/>
                    <a:p>
                      <a:pPr algn="ctr"/>
                      <a:endParaRPr lang="zh-TW" altLang="en-US" sz="1600" dirty="0"/>
                    </a:p>
                  </a:txBody>
                  <a:tcPr/>
                </a:tc>
                <a:tc hMerge="1">
                  <a:txBody>
                    <a:bodyPr/>
                    <a:lstStyle/>
                    <a:p>
                      <a:pPr algn="ctr"/>
                      <a:endParaRPr lang="zh-TW" altLang="en-US" sz="1600" dirty="0"/>
                    </a:p>
                  </a:txBody>
                  <a:tcPr/>
                </a:tc>
                <a:tc gridSpan="3">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收入</a:t>
                      </a:r>
                    </a:p>
                  </a:txBody>
                  <a:tcPr/>
                </a:tc>
                <a:tc hMerge="1">
                  <a:txBody>
                    <a:bodyPr/>
                    <a:lstStyle/>
                    <a:p>
                      <a:endParaRPr lang="zh-TW" altLang="en-US" sz="1600" dirty="0"/>
                    </a:p>
                  </a:txBody>
                  <a:tcPr/>
                </a:tc>
                <a:tc hMerge="1">
                  <a:txBody>
                    <a:bodyPr/>
                    <a:lstStyle/>
                    <a:p>
                      <a:endParaRPr lang="zh-TW" altLang="en-US" sz="1600" dirty="0"/>
                    </a:p>
                  </a:txBody>
                  <a:tcPr/>
                </a:tc>
                <a:extLst>
                  <a:ext uri="{0D108BD9-81ED-4DB2-BD59-A6C34878D82A}">
                    <a16:rowId xmlns:a16="http://schemas.microsoft.com/office/drawing/2014/main" val="2616812084"/>
                  </a:ext>
                </a:extLst>
              </a:tr>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&lt; 15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15-25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&gt; 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高</a:t>
                      </a:r>
                    </a:p>
                  </a:txBody>
                  <a:tcPr/>
                </a:tc>
                <a:extLst>
                  <a:ext uri="{0D108BD9-81ED-4DB2-BD59-A6C34878D82A}">
                    <a16:rowId xmlns:a16="http://schemas.microsoft.com/office/drawing/2014/main" val="2855642526"/>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Count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42463057"/>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614531008"/>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Probability</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647075652"/>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83782991"/>
                  </a:ext>
                </a:extLst>
              </a:tr>
            </a:tbl>
          </a:graphicData>
        </a:graphic>
      </p:graphicFrame>
      <p:sp>
        <p:nvSpPr>
          <p:cNvPr id="3" name="橢圓 2"/>
          <p:cNvSpPr/>
          <p:nvPr/>
        </p:nvSpPr>
        <p:spPr>
          <a:xfrm>
            <a:off x="2600325" y="3552220"/>
            <a:ext cx="1778000" cy="5461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8090199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graphicFrame>
        <p:nvGraphicFramePr>
          <p:cNvPr id="4" name="表格 3"/>
          <p:cNvGraphicFramePr>
            <a:graphicFrameLocks noGrp="1"/>
          </p:cNvGraphicFramePr>
          <p:nvPr/>
        </p:nvGraphicFramePr>
        <p:xfrm>
          <a:off x="83888" y="2179350"/>
          <a:ext cx="12021422" cy="2225040"/>
        </p:xfrm>
        <a:graphic>
          <a:graphicData uri="http://schemas.openxmlformats.org/drawingml/2006/table">
            <a:tbl>
              <a:tblPr firstRow="1" bandRow="1">
                <a:tableStyleId>{5C22544A-7EE6-4342-B048-85BDC9FD1C3A}</a:tableStyleId>
              </a:tblPr>
              <a:tblGrid>
                <a:gridCol w="1275012">
                  <a:extLst>
                    <a:ext uri="{9D8B030D-6E8A-4147-A177-3AD203B41FA5}">
                      <a16:colId xmlns:a16="http://schemas.microsoft.com/office/drawing/2014/main" val="2713306444"/>
                    </a:ext>
                  </a:extLst>
                </a:gridCol>
                <a:gridCol w="1074641">
                  <a:extLst>
                    <a:ext uri="{9D8B030D-6E8A-4147-A177-3AD203B41FA5}">
                      <a16:colId xmlns:a16="http://schemas.microsoft.com/office/drawing/2014/main" val="1977434845"/>
                    </a:ext>
                  </a:extLst>
                </a:gridCol>
                <a:gridCol w="1074641">
                  <a:extLst>
                    <a:ext uri="{9D8B030D-6E8A-4147-A177-3AD203B41FA5}">
                      <a16:colId xmlns:a16="http://schemas.microsoft.com/office/drawing/2014/main" val="1031037244"/>
                    </a:ext>
                  </a:extLst>
                </a:gridCol>
                <a:gridCol w="1074641">
                  <a:extLst>
                    <a:ext uri="{9D8B030D-6E8A-4147-A177-3AD203B41FA5}">
                      <a16:colId xmlns:a16="http://schemas.microsoft.com/office/drawing/2014/main" val="4163293093"/>
                    </a:ext>
                  </a:extLst>
                </a:gridCol>
                <a:gridCol w="1074641">
                  <a:extLst>
                    <a:ext uri="{9D8B030D-6E8A-4147-A177-3AD203B41FA5}">
                      <a16:colId xmlns:a16="http://schemas.microsoft.com/office/drawing/2014/main" val="1545750352"/>
                    </a:ext>
                  </a:extLst>
                </a:gridCol>
                <a:gridCol w="1074641">
                  <a:extLst>
                    <a:ext uri="{9D8B030D-6E8A-4147-A177-3AD203B41FA5}">
                      <a16:colId xmlns:a16="http://schemas.microsoft.com/office/drawing/2014/main" val="605118676"/>
                    </a:ext>
                  </a:extLst>
                </a:gridCol>
                <a:gridCol w="1074641">
                  <a:extLst>
                    <a:ext uri="{9D8B030D-6E8A-4147-A177-3AD203B41FA5}">
                      <a16:colId xmlns:a16="http://schemas.microsoft.com/office/drawing/2014/main" val="3131643731"/>
                    </a:ext>
                  </a:extLst>
                </a:gridCol>
                <a:gridCol w="1074641">
                  <a:extLst>
                    <a:ext uri="{9D8B030D-6E8A-4147-A177-3AD203B41FA5}">
                      <a16:colId xmlns:a16="http://schemas.microsoft.com/office/drawing/2014/main" val="3689189035"/>
                    </a:ext>
                  </a:extLst>
                </a:gridCol>
                <a:gridCol w="1074641">
                  <a:extLst>
                    <a:ext uri="{9D8B030D-6E8A-4147-A177-3AD203B41FA5}">
                      <a16:colId xmlns:a16="http://schemas.microsoft.com/office/drawing/2014/main" val="1055566859"/>
                    </a:ext>
                  </a:extLst>
                </a:gridCol>
                <a:gridCol w="1074641">
                  <a:extLst>
                    <a:ext uri="{9D8B030D-6E8A-4147-A177-3AD203B41FA5}">
                      <a16:colId xmlns:a16="http://schemas.microsoft.com/office/drawing/2014/main" val="3626328025"/>
                    </a:ext>
                  </a:extLst>
                </a:gridCol>
                <a:gridCol w="1074641">
                  <a:extLst>
                    <a:ext uri="{9D8B030D-6E8A-4147-A177-3AD203B41FA5}">
                      <a16:colId xmlns:a16="http://schemas.microsoft.com/office/drawing/2014/main" val="1345634262"/>
                    </a:ext>
                  </a:extLst>
                </a:gridCol>
              </a:tblGrid>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gridSpan="2">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性別</a:t>
                      </a:r>
                    </a:p>
                  </a:txBody>
                  <a:tcPr/>
                </a:tc>
                <a:tc hMerge="1">
                  <a:txBody>
                    <a:bodyPr/>
                    <a:lstStyle/>
                    <a:p>
                      <a:endParaRPr lang="zh-TW" altLang="en-US" dirty="0"/>
                    </a:p>
                  </a:txBody>
                  <a:tcPr/>
                </a:tc>
                <a:tc gridSpan="4">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年齡區間</a:t>
                      </a:r>
                    </a:p>
                  </a:txBody>
                  <a:tcPr/>
                </a:tc>
                <a:tc hMerge="1">
                  <a:txBody>
                    <a:bodyPr/>
                    <a:lstStyle/>
                    <a:p>
                      <a:pPr algn="ctr"/>
                      <a:endParaRPr lang="zh-TW" altLang="en-US" sz="1600" dirty="0"/>
                    </a:p>
                  </a:txBody>
                  <a:tcPr/>
                </a:tc>
                <a:tc hMerge="1">
                  <a:txBody>
                    <a:bodyPr/>
                    <a:lstStyle/>
                    <a:p>
                      <a:pPr algn="ctr"/>
                      <a:endParaRPr lang="zh-TW" altLang="en-US" sz="1600" dirty="0"/>
                    </a:p>
                  </a:txBody>
                  <a:tcPr/>
                </a:tc>
                <a:tc hMerge="1">
                  <a:txBody>
                    <a:bodyPr/>
                    <a:lstStyle/>
                    <a:p>
                      <a:pPr algn="ctr"/>
                      <a:endParaRPr lang="zh-TW" altLang="en-US" sz="1600" dirty="0"/>
                    </a:p>
                  </a:txBody>
                  <a:tcPr/>
                </a:tc>
                <a:tc gridSpan="3">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收入</a:t>
                      </a:r>
                    </a:p>
                  </a:txBody>
                  <a:tcPr/>
                </a:tc>
                <a:tc hMerge="1">
                  <a:txBody>
                    <a:bodyPr/>
                    <a:lstStyle/>
                    <a:p>
                      <a:endParaRPr lang="zh-TW" altLang="en-US" sz="1600" dirty="0"/>
                    </a:p>
                  </a:txBody>
                  <a:tcPr/>
                </a:tc>
                <a:tc hMerge="1">
                  <a:txBody>
                    <a:bodyPr/>
                    <a:lstStyle/>
                    <a:p>
                      <a:endParaRPr lang="zh-TW" altLang="en-US" sz="1600" dirty="0"/>
                    </a:p>
                  </a:txBody>
                  <a:tcPr/>
                </a:tc>
                <a:extLst>
                  <a:ext uri="{0D108BD9-81ED-4DB2-BD59-A6C34878D82A}">
                    <a16:rowId xmlns:a16="http://schemas.microsoft.com/office/drawing/2014/main" val="2616812084"/>
                  </a:ext>
                </a:extLst>
              </a:tr>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&lt; 15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15-25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&gt; 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高</a:t>
                      </a:r>
                    </a:p>
                  </a:txBody>
                  <a:tcPr/>
                </a:tc>
                <a:extLst>
                  <a:ext uri="{0D108BD9-81ED-4DB2-BD59-A6C34878D82A}">
                    <a16:rowId xmlns:a16="http://schemas.microsoft.com/office/drawing/2014/main" val="2855642526"/>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Count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42463057"/>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614531008"/>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Probability</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647075652"/>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83782991"/>
                  </a:ext>
                </a:extLst>
              </a:tr>
            </a:tbl>
          </a:graphicData>
        </a:graphic>
      </p:graphicFrame>
      <p:sp>
        <p:nvSpPr>
          <p:cNvPr id="3" name="橢圓 2"/>
          <p:cNvSpPr/>
          <p:nvPr/>
        </p:nvSpPr>
        <p:spPr>
          <a:xfrm>
            <a:off x="2625725" y="3944104"/>
            <a:ext cx="1778000" cy="5461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523134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矩形 2"/>
          <p:cNvSpPr/>
          <p:nvPr/>
        </p:nvSpPr>
        <p:spPr>
          <a:xfrm>
            <a:off x="4800600" y="1173137"/>
            <a:ext cx="669290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zh-TW" altLang="en-US" dirty="0">
                <a:solidFill>
                  <a:schemeClr val="bg1"/>
                </a:solidFill>
                <a:latin typeface="微軟正黑體" panose="020B0604030504040204" pitchFamily="34" charset="-120"/>
                <a:ea typeface="微軟正黑體" panose="020B0604030504040204" pitchFamily="34" charset="-120"/>
              </a:rPr>
              <a:t>新申請人的個人資料為：女性、</a:t>
            </a:r>
            <a:r>
              <a:rPr lang="en-US" altLang="zh-TW" dirty="0">
                <a:solidFill>
                  <a:schemeClr val="bg1"/>
                </a:solidFill>
                <a:latin typeface="微軟正黑體" panose="020B0604030504040204" pitchFamily="34" charset="-120"/>
                <a:ea typeface="微軟正黑體" panose="020B0604030504040204" pitchFamily="34" charset="-120"/>
              </a:rPr>
              <a:t>26-40</a:t>
            </a:r>
            <a:r>
              <a:rPr lang="zh-TW" altLang="en-US" dirty="0">
                <a:solidFill>
                  <a:schemeClr val="bg1"/>
                </a:solidFill>
                <a:latin typeface="微軟正黑體" panose="020B0604030504040204" pitchFamily="34" charset="-120"/>
                <a:ea typeface="微軟正黑體" panose="020B0604030504040204" pitchFamily="34" charset="-120"/>
              </a:rPr>
              <a:t>歲之間以及中等級的收入</a:t>
            </a:r>
          </a:p>
        </p:txBody>
      </p:sp>
      <p:graphicFrame>
        <p:nvGraphicFramePr>
          <p:cNvPr id="5" name="表格 4"/>
          <p:cNvGraphicFramePr>
            <a:graphicFrameLocks noGrp="1"/>
          </p:cNvGraphicFramePr>
          <p:nvPr>
            <p:extLst>
              <p:ext uri="{D42A27DB-BD31-4B8C-83A1-F6EECF244321}">
                <p14:modId xmlns:p14="http://schemas.microsoft.com/office/powerpoint/2010/main" val="644085320"/>
              </p:ext>
            </p:extLst>
          </p:nvPr>
        </p:nvGraphicFramePr>
        <p:xfrm>
          <a:off x="83888" y="2179350"/>
          <a:ext cx="12021422" cy="2225040"/>
        </p:xfrm>
        <a:graphic>
          <a:graphicData uri="http://schemas.openxmlformats.org/drawingml/2006/table">
            <a:tbl>
              <a:tblPr firstRow="1" bandRow="1">
                <a:tableStyleId>{5C22544A-7EE6-4342-B048-85BDC9FD1C3A}</a:tableStyleId>
              </a:tblPr>
              <a:tblGrid>
                <a:gridCol w="1275012">
                  <a:extLst>
                    <a:ext uri="{9D8B030D-6E8A-4147-A177-3AD203B41FA5}">
                      <a16:colId xmlns:a16="http://schemas.microsoft.com/office/drawing/2014/main" val="2713306444"/>
                    </a:ext>
                  </a:extLst>
                </a:gridCol>
                <a:gridCol w="1074641">
                  <a:extLst>
                    <a:ext uri="{9D8B030D-6E8A-4147-A177-3AD203B41FA5}">
                      <a16:colId xmlns:a16="http://schemas.microsoft.com/office/drawing/2014/main" val="1977434845"/>
                    </a:ext>
                  </a:extLst>
                </a:gridCol>
                <a:gridCol w="1074641">
                  <a:extLst>
                    <a:ext uri="{9D8B030D-6E8A-4147-A177-3AD203B41FA5}">
                      <a16:colId xmlns:a16="http://schemas.microsoft.com/office/drawing/2014/main" val="1031037244"/>
                    </a:ext>
                  </a:extLst>
                </a:gridCol>
                <a:gridCol w="1074641">
                  <a:extLst>
                    <a:ext uri="{9D8B030D-6E8A-4147-A177-3AD203B41FA5}">
                      <a16:colId xmlns:a16="http://schemas.microsoft.com/office/drawing/2014/main" val="4163293093"/>
                    </a:ext>
                  </a:extLst>
                </a:gridCol>
                <a:gridCol w="1074641">
                  <a:extLst>
                    <a:ext uri="{9D8B030D-6E8A-4147-A177-3AD203B41FA5}">
                      <a16:colId xmlns:a16="http://schemas.microsoft.com/office/drawing/2014/main" val="1545750352"/>
                    </a:ext>
                  </a:extLst>
                </a:gridCol>
                <a:gridCol w="1074641">
                  <a:extLst>
                    <a:ext uri="{9D8B030D-6E8A-4147-A177-3AD203B41FA5}">
                      <a16:colId xmlns:a16="http://schemas.microsoft.com/office/drawing/2014/main" val="605118676"/>
                    </a:ext>
                  </a:extLst>
                </a:gridCol>
                <a:gridCol w="1074641">
                  <a:extLst>
                    <a:ext uri="{9D8B030D-6E8A-4147-A177-3AD203B41FA5}">
                      <a16:colId xmlns:a16="http://schemas.microsoft.com/office/drawing/2014/main" val="3131643731"/>
                    </a:ext>
                  </a:extLst>
                </a:gridCol>
                <a:gridCol w="1074641">
                  <a:extLst>
                    <a:ext uri="{9D8B030D-6E8A-4147-A177-3AD203B41FA5}">
                      <a16:colId xmlns:a16="http://schemas.microsoft.com/office/drawing/2014/main" val="3689189035"/>
                    </a:ext>
                  </a:extLst>
                </a:gridCol>
                <a:gridCol w="1074641">
                  <a:extLst>
                    <a:ext uri="{9D8B030D-6E8A-4147-A177-3AD203B41FA5}">
                      <a16:colId xmlns:a16="http://schemas.microsoft.com/office/drawing/2014/main" val="1055566859"/>
                    </a:ext>
                  </a:extLst>
                </a:gridCol>
                <a:gridCol w="1074641">
                  <a:extLst>
                    <a:ext uri="{9D8B030D-6E8A-4147-A177-3AD203B41FA5}">
                      <a16:colId xmlns:a16="http://schemas.microsoft.com/office/drawing/2014/main" val="3626328025"/>
                    </a:ext>
                  </a:extLst>
                </a:gridCol>
                <a:gridCol w="1074641">
                  <a:extLst>
                    <a:ext uri="{9D8B030D-6E8A-4147-A177-3AD203B41FA5}">
                      <a16:colId xmlns:a16="http://schemas.microsoft.com/office/drawing/2014/main" val="1345634262"/>
                    </a:ext>
                  </a:extLst>
                </a:gridCol>
              </a:tblGrid>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gridSpan="2">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性別</a:t>
                      </a:r>
                    </a:p>
                  </a:txBody>
                  <a:tcPr/>
                </a:tc>
                <a:tc hMerge="1">
                  <a:txBody>
                    <a:bodyPr/>
                    <a:lstStyle/>
                    <a:p>
                      <a:endParaRPr lang="zh-TW" altLang="en-US" dirty="0"/>
                    </a:p>
                  </a:txBody>
                  <a:tcPr/>
                </a:tc>
                <a:tc gridSpan="4">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年齡區間</a:t>
                      </a:r>
                    </a:p>
                  </a:txBody>
                  <a:tcPr/>
                </a:tc>
                <a:tc hMerge="1">
                  <a:txBody>
                    <a:bodyPr/>
                    <a:lstStyle/>
                    <a:p>
                      <a:pPr algn="ctr"/>
                      <a:endParaRPr lang="zh-TW" altLang="en-US" sz="1600" dirty="0"/>
                    </a:p>
                  </a:txBody>
                  <a:tcPr/>
                </a:tc>
                <a:tc hMerge="1">
                  <a:txBody>
                    <a:bodyPr/>
                    <a:lstStyle/>
                    <a:p>
                      <a:pPr algn="ctr"/>
                      <a:endParaRPr lang="zh-TW" altLang="en-US" sz="1600" dirty="0"/>
                    </a:p>
                  </a:txBody>
                  <a:tcPr/>
                </a:tc>
                <a:tc hMerge="1">
                  <a:txBody>
                    <a:bodyPr/>
                    <a:lstStyle/>
                    <a:p>
                      <a:pPr algn="ctr"/>
                      <a:endParaRPr lang="zh-TW" altLang="en-US" sz="1600" dirty="0"/>
                    </a:p>
                  </a:txBody>
                  <a:tcPr/>
                </a:tc>
                <a:tc gridSpan="3">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收入</a:t>
                      </a:r>
                    </a:p>
                  </a:txBody>
                  <a:tcPr/>
                </a:tc>
                <a:tc hMerge="1">
                  <a:txBody>
                    <a:bodyPr/>
                    <a:lstStyle/>
                    <a:p>
                      <a:endParaRPr lang="zh-TW" altLang="en-US" sz="1600" dirty="0"/>
                    </a:p>
                  </a:txBody>
                  <a:tcPr/>
                </a:tc>
                <a:tc hMerge="1">
                  <a:txBody>
                    <a:bodyPr/>
                    <a:lstStyle/>
                    <a:p>
                      <a:endParaRPr lang="zh-TW" altLang="en-US" sz="1600" dirty="0"/>
                    </a:p>
                  </a:txBody>
                  <a:tcPr/>
                </a:tc>
                <a:extLst>
                  <a:ext uri="{0D108BD9-81ED-4DB2-BD59-A6C34878D82A}">
                    <a16:rowId xmlns:a16="http://schemas.microsoft.com/office/drawing/2014/main" val="2616812084"/>
                  </a:ext>
                </a:extLst>
              </a:tr>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&lt; 15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15-25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&gt; 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高</a:t>
                      </a:r>
                    </a:p>
                  </a:txBody>
                  <a:tcPr/>
                </a:tc>
                <a:extLst>
                  <a:ext uri="{0D108BD9-81ED-4DB2-BD59-A6C34878D82A}">
                    <a16:rowId xmlns:a16="http://schemas.microsoft.com/office/drawing/2014/main" val="2855642526"/>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Count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42463057"/>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614531008"/>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Probability</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647075652"/>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83782991"/>
                  </a:ext>
                </a:extLst>
              </a:tr>
            </a:tbl>
          </a:graphicData>
        </a:graphic>
      </p:graphicFrame>
    </p:spTree>
    <p:extLst>
      <p:ext uri="{BB962C8B-B14F-4D97-AF65-F5344CB8AC3E}">
        <p14:creationId xmlns:p14="http://schemas.microsoft.com/office/powerpoint/2010/main" val="22973282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矩形 2"/>
          <p:cNvSpPr/>
          <p:nvPr/>
        </p:nvSpPr>
        <p:spPr>
          <a:xfrm>
            <a:off x="4800600" y="1173137"/>
            <a:ext cx="669290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zh-TW" altLang="en-US" dirty="0">
                <a:solidFill>
                  <a:schemeClr val="bg1"/>
                </a:solidFill>
                <a:latin typeface="微軟正黑體" panose="020B0604030504040204" pitchFamily="34" charset="-120"/>
                <a:ea typeface="微軟正黑體" panose="020B0604030504040204" pitchFamily="34" charset="-120"/>
              </a:rPr>
              <a:t>新申請人的個人資料為：女性、</a:t>
            </a:r>
            <a:r>
              <a:rPr lang="en-US" altLang="zh-TW" dirty="0">
                <a:solidFill>
                  <a:schemeClr val="bg1"/>
                </a:solidFill>
                <a:latin typeface="微軟正黑體" panose="020B0604030504040204" pitchFamily="34" charset="-120"/>
                <a:ea typeface="微軟正黑體" panose="020B0604030504040204" pitchFamily="34" charset="-120"/>
              </a:rPr>
              <a:t>26-40</a:t>
            </a:r>
            <a:r>
              <a:rPr lang="zh-TW" altLang="en-US" dirty="0">
                <a:solidFill>
                  <a:schemeClr val="bg1"/>
                </a:solidFill>
                <a:latin typeface="微軟正黑體" panose="020B0604030504040204" pitchFamily="34" charset="-120"/>
                <a:ea typeface="微軟正黑體" panose="020B0604030504040204" pitchFamily="34" charset="-120"/>
              </a:rPr>
              <a:t>歲之間以及中等級的收入</a:t>
            </a:r>
          </a:p>
        </p:txBody>
      </p:sp>
      <p:graphicFrame>
        <p:nvGraphicFramePr>
          <p:cNvPr id="5" name="表格 4"/>
          <p:cNvGraphicFramePr>
            <a:graphicFrameLocks noGrp="1"/>
          </p:cNvGraphicFramePr>
          <p:nvPr/>
        </p:nvGraphicFramePr>
        <p:xfrm>
          <a:off x="83888" y="2179350"/>
          <a:ext cx="12021422" cy="2225040"/>
        </p:xfrm>
        <a:graphic>
          <a:graphicData uri="http://schemas.openxmlformats.org/drawingml/2006/table">
            <a:tbl>
              <a:tblPr firstRow="1" bandRow="1">
                <a:tableStyleId>{5C22544A-7EE6-4342-B048-85BDC9FD1C3A}</a:tableStyleId>
              </a:tblPr>
              <a:tblGrid>
                <a:gridCol w="1275012">
                  <a:extLst>
                    <a:ext uri="{9D8B030D-6E8A-4147-A177-3AD203B41FA5}">
                      <a16:colId xmlns:a16="http://schemas.microsoft.com/office/drawing/2014/main" val="2713306444"/>
                    </a:ext>
                  </a:extLst>
                </a:gridCol>
                <a:gridCol w="1074641">
                  <a:extLst>
                    <a:ext uri="{9D8B030D-6E8A-4147-A177-3AD203B41FA5}">
                      <a16:colId xmlns:a16="http://schemas.microsoft.com/office/drawing/2014/main" val="1977434845"/>
                    </a:ext>
                  </a:extLst>
                </a:gridCol>
                <a:gridCol w="1074641">
                  <a:extLst>
                    <a:ext uri="{9D8B030D-6E8A-4147-A177-3AD203B41FA5}">
                      <a16:colId xmlns:a16="http://schemas.microsoft.com/office/drawing/2014/main" val="1031037244"/>
                    </a:ext>
                  </a:extLst>
                </a:gridCol>
                <a:gridCol w="1074641">
                  <a:extLst>
                    <a:ext uri="{9D8B030D-6E8A-4147-A177-3AD203B41FA5}">
                      <a16:colId xmlns:a16="http://schemas.microsoft.com/office/drawing/2014/main" val="4163293093"/>
                    </a:ext>
                  </a:extLst>
                </a:gridCol>
                <a:gridCol w="1074641">
                  <a:extLst>
                    <a:ext uri="{9D8B030D-6E8A-4147-A177-3AD203B41FA5}">
                      <a16:colId xmlns:a16="http://schemas.microsoft.com/office/drawing/2014/main" val="1545750352"/>
                    </a:ext>
                  </a:extLst>
                </a:gridCol>
                <a:gridCol w="1074641">
                  <a:extLst>
                    <a:ext uri="{9D8B030D-6E8A-4147-A177-3AD203B41FA5}">
                      <a16:colId xmlns:a16="http://schemas.microsoft.com/office/drawing/2014/main" val="605118676"/>
                    </a:ext>
                  </a:extLst>
                </a:gridCol>
                <a:gridCol w="1074641">
                  <a:extLst>
                    <a:ext uri="{9D8B030D-6E8A-4147-A177-3AD203B41FA5}">
                      <a16:colId xmlns:a16="http://schemas.microsoft.com/office/drawing/2014/main" val="3131643731"/>
                    </a:ext>
                  </a:extLst>
                </a:gridCol>
                <a:gridCol w="1074641">
                  <a:extLst>
                    <a:ext uri="{9D8B030D-6E8A-4147-A177-3AD203B41FA5}">
                      <a16:colId xmlns:a16="http://schemas.microsoft.com/office/drawing/2014/main" val="3689189035"/>
                    </a:ext>
                  </a:extLst>
                </a:gridCol>
                <a:gridCol w="1074641">
                  <a:extLst>
                    <a:ext uri="{9D8B030D-6E8A-4147-A177-3AD203B41FA5}">
                      <a16:colId xmlns:a16="http://schemas.microsoft.com/office/drawing/2014/main" val="1055566859"/>
                    </a:ext>
                  </a:extLst>
                </a:gridCol>
                <a:gridCol w="1074641">
                  <a:extLst>
                    <a:ext uri="{9D8B030D-6E8A-4147-A177-3AD203B41FA5}">
                      <a16:colId xmlns:a16="http://schemas.microsoft.com/office/drawing/2014/main" val="3626328025"/>
                    </a:ext>
                  </a:extLst>
                </a:gridCol>
                <a:gridCol w="1074641">
                  <a:extLst>
                    <a:ext uri="{9D8B030D-6E8A-4147-A177-3AD203B41FA5}">
                      <a16:colId xmlns:a16="http://schemas.microsoft.com/office/drawing/2014/main" val="1345634262"/>
                    </a:ext>
                  </a:extLst>
                </a:gridCol>
              </a:tblGrid>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gridSpan="2">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性別</a:t>
                      </a:r>
                    </a:p>
                  </a:txBody>
                  <a:tcPr/>
                </a:tc>
                <a:tc hMerge="1">
                  <a:txBody>
                    <a:bodyPr/>
                    <a:lstStyle/>
                    <a:p>
                      <a:endParaRPr lang="zh-TW" altLang="en-US" dirty="0"/>
                    </a:p>
                  </a:txBody>
                  <a:tcPr/>
                </a:tc>
                <a:tc gridSpan="4">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年齡區間</a:t>
                      </a:r>
                    </a:p>
                  </a:txBody>
                  <a:tcPr/>
                </a:tc>
                <a:tc hMerge="1">
                  <a:txBody>
                    <a:bodyPr/>
                    <a:lstStyle/>
                    <a:p>
                      <a:pPr algn="ctr"/>
                      <a:endParaRPr lang="zh-TW" altLang="en-US" sz="1600" dirty="0"/>
                    </a:p>
                  </a:txBody>
                  <a:tcPr/>
                </a:tc>
                <a:tc hMerge="1">
                  <a:txBody>
                    <a:bodyPr/>
                    <a:lstStyle/>
                    <a:p>
                      <a:pPr algn="ctr"/>
                      <a:endParaRPr lang="zh-TW" altLang="en-US" sz="1600" dirty="0"/>
                    </a:p>
                  </a:txBody>
                  <a:tcPr/>
                </a:tc>
                <a:tc hMerge="1">
                  <a:txBody>
                    <a:bodyPr/>
                    <a:lstStyle/>
                    <a:p>
                      <a:pPr algn="ctr"/>
                      <a:endParaRPr lang="zh-TW" altLang="en-US" sz="1600" dirty="0"/>
                    </a:p>
                  </a:txBody>
                  <a:tcPr/>
                </a:tc>
                <a:tc gridSpan="3">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收入</a:t>
                      </a:r>
                    </a:p>
                  </a:txBody>
                  <a:tcPr/>
                </a:tc>
                <a:tc hMerge="1">
                  <a:txBody>
                    <a:bodyPr/>
                    <a:lstStyle/>
                    <a:p>
                      <a:endParaRPr lang="zh-TW" altLang="en-US" sz="1600" dirty="0"/>
                    </a:p>
                  </a:txBody>
                  <a:tcPr/>
                </a:tc>
                <a:tc hMerge="1">
                  <a:txBody>
                    <a:bodyPr/>
                    <a:lstStyle/>
                    <a:p>
                      <a:endParaRPr lang="zh-TW" altLang="en-US" sz="1600" dirty="0"/>
                    </a:p>
                  </a:txBody>
                  <a:tcPr/>
                </a:tc>
                <a:extLst>
                  <a:ext uri="{0D108BD9-81ED-4DB2-BD59-A6C34878D82A}">
                    <a16:rowId xmlns:a16="http://schemas.microsoft.com/office/drawing/2014/main" val="2616812084"/>
                  </a:ext>
                </a:extLst>
              </a:tr>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&lt; 15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15-25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&gt; 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高</a:t>
                      </a:r>
                    </a:p>
                  </a:txBody>
                  <a:tcPr/>
                </a:tc>
                <a:extLst>
                  <a:ext uri="{0D108BD9-81ED-4DB2-BD59-A6C34878D82A}">
                    <a16:rowId xmlns:a16="http://schemas.microsoft.com/office/drawing/2014/main" val="2855642526"/>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Count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42463057"/>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614531008"/>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Probability</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2/6</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3/6</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2/6</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647075652"/>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3/4</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1/4</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1/4</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83782991"/>
                  </a:ext>
                </a:extLst>
              </a:tr>
            </a:tbl>
          </a:graphicData>
        </a:graphic>
      </p:graphicFrame>
    </p:spTree>
    <p:extLst>
      <p:ext uri="{BB962C8B-B14F-4D97-AF65-F5344CB8AC3E}">
        <p14:creationId xmlns:p14="http://schemas.microsoft.com/office/powerpoint/2010/main" val="43520642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矩形 2"/>
          <p:cNvSpPr/>
          <p:nvPr/>
        </p:nvSpPr>
        <p:spPr>
          <a:xfrm>
            <a:off x="4800600" y="1173137"/>
            <a:ext cx="669290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zh-TW" altLang="en-US" dirty="0">
                <a:solidFill>
                  <a:schemeClr val="bg1"/>
                </a:solidFill>
                <a:latin typeface="微軟正黑體" panose="020B0604030504040204" pitchFamily="34" charset="-120"/>
                <a:ea typeface="微軟正黑體" panose="020B0604030504040204" pitchFamily="34" charset="-120"/>
              </a:rPr>
              <a:t>新申請人的個人資料為：女性、</a:t>
            </a:r>
            <a:r>
              <a:rPr lang="en-US" altLang="zh-TW" dirty="0">
                <a:solidFill>
                  <a:schemeClr val="bg1"/>
                </a:solidFill>
                <a:latin typeface="微軟正黑體" panose="020B0604030504040204" pitchFamily="34" charset="-120"/>
                <a:ea typeface="微軟正黑體" panose="020B0604030504040204" pitchFamily="34" charset="-120"/>
              </a:rPr>
              <a:t>26-40</a:t>
            </a:r>
            <a:r>
              <a:rPr lang="zh-TW" altLang="en-US" dirty="0">
                <a:solidFill>
                  <a:schemeClr val="bg1"/>
                </a:solidFill>
                <a:latin typeface="微軟正黑體" panose="020B0604030504040204" pitchFamily="34" charset="-120"/>
                <a:ea typeface="微軟正黑體" panose="020B0604030504040204" pitchFamily="34" charset="-120"/>
              </a:rPr>
              <a:t>歲之間以及中等級的收入</a:t>
            </a:r>
          </a:p>
        </p:txBody>
      </p:sp>
      <p:graphicFrame>
        <p:nvGraphicFramePr>
          <p:cNvPr id="5" name="表格 4"/>
          <p:cNvGraphicFramePr>
            <a:graphicFrameLocks noGrp="1"/>
          </p:cNvGraphicFramePr>
          <p:nvPr>
            <p:extLst>
              <p:ext uri="{D42A27DB-BD31-4B8C-83A1-F6EECF244321}">
                <p14:modId xmlns:p14="http://schemas.microsoft.com/office/powerpoint/2010/main" val="3949043781"/>
              </p:ext>
            </p:extLst>
          </p:nvPr>
        </p:nvGraphicFramePr>
        <p:xfrm>
          <a:off x="83888" y="2179350"/>
          <a:ext cx="12021422" cy="2225040"/>
        </p:xfrm>
        <a:graphic>
          <a:graphicData uri="http://schemas.openxmlformats.org/drawingml/2006/table">
            <a:tbl>
              <a:tblPr firstRow="1" bandRow="1">
                <a:tableStyleId>{5C22544A-7EE6-4342-B048-85BDC9FD1C3A}</a:tableStyleId>
              </a:tblPr>
              <a:tblGrid>
                <a:gridCol w="1275012">
                  <a:extLst>
                    <a:ext uri="{9D8B030D-6E8A-4147-A177-3AD203B41FA5}">
                      <a16:colId xmlns:a16="http://schemas.microsoft.com/office/drawing/2014/main" val="2713306444"/>
                    </a:ext>
                  </a:extLst>
                </a:gridCol>
                <a:gridCol w="1074641">
                  <a:extLst>
                    <a:ext uri="{9D8B030D-6E8A-4147-A177-3AD203B41FA5}">
                      <a16:colId xmlns:a16="http://schemas.microsoft.com/office/drawing/2014/main" val="1977434845"/>
                    </a:ext>
                  </a:extLst>
                </a:gridCol>
                <a:gridCol w="1074641">
                  <a:extLst>
                    <a:ext uri="{9D8B030D-6E8A-4147-A177-3AD203B41FA5}">
                      <a16:colId xmlns:a16="http://schemas.microsoft.com/office/drawing/2014/main" val="1031037244"/>
                    </a:ext>
                  </a:extLst>
                </a:gridCol>
                <a:gridCol w="1074641">
                  <a:extLst>
                    <a:ext uri="{9D8B030D-6E8A-4147-A177-3AD203B41FA5}">
                      <a16:colId xmlns:a16="http://schemas.microsoft.com/office/drawing/2014/main" val="4163293093"/>
                    </a:ext>
                  </a:extLst>
                </a:gridCol>
                <a:gridCol w="1074641">
                  <a:extLst>
                    <a:ext uri="{9D8B030D-6E8A-4147-A177-3AD203B41FA5}">
                      <a16:colId xmlns:a16="http://schemas.microsoft.com/office/drawing/2014/main" val="1545750352"/>
                    </a:ext>
                  </a:extLst>
                </a:gridCol>
                <a:gridCol w="1074641">
                  <a:extLst>
                    <a:ext uri="{9D8B030D-6E8A-4147-A177-3AD203B41FA5}">
                      <a16:colId xmlns:a16="http://schemas.microsoft.com/office/drawing/2014/main" val="605118676"/>
                    </a:ext>
                  </a:extLst>
                </a:gridCol>
                <a:gridCol w="1074641">
                  <a:extLst>
                    <a:ext uri="{9D8B030D-6E8A-4147-A177-3AD203B41FA5}">
                      <a16:colId xmlns:a16="http://schemas.microsoft.com/office/drawing/2014/main" val="3131643731"/>
                    </a:ext>
                  </a:extLst>
                </a:gridCol>
                <a:gridCol w="1074641">
                  <a:extLst>
                    <a:ext uri="{9D8B030D-6E8A-4147-A177-3AD203B41FA5}">
                      <a16:colId xmlns:a16="http://schemas.microsoft.com/office/drawing/2014/main" val="3689189035"/>
                    </a:ext>
                  </a:extLst>
                </a:gridCol>
                <a:gridCol w="1074641">
                  <a:extLst>
                    <a:ext uri="{9D8B030D-6E8A-4147-A177-3AD203B41FA5}">
                      <a16:colId xmlns:a16="http://schemas.microsoft.com/office/drawing/2014/main" val="1055566859"/>
                    </a:ext>
                  </a:extLst>
                </a:gridCol>
                <a:gridCol w="1074641">
                  <a:extLst>
                    <a:ext uri="{9D8B030D-6E8A-4147-A177-3AD203B41FA5}">
                      <a16:colId xmlns:a16="http://schemas.microsoft.com/office/drawing/2014/main" val="3626328025"/>
                    </a:ext>
                  </a:extLst>
                </a:gridCol>
                <a:gridCol w="1074641">
                  <a:extLst>
                    <a:ext uri="{9D8B030D-6E8A-4147-A177-3AD203B41FA5}">
                      <a16:colId xmlns:a16="http://schemas.microsoft.com/office/drawing/2014/main" val="1345634262"/>
                    </a:ext>
                  </a:extLst>
                </a:gridCol>
              </a:tblGrid>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gridSpan="2">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性別</a:t>
                      </a:r>
                    </a:p>
                  </a:txBody>
                  <a:tcPr/>
                </a:tc>
                <a:tc hMerge="1">
                  <a:txBody>
                    <a:bodyPr/>
                    <a:lstStyle/>
                    <a:p>
                      <a:endParaRPr lang="zh-TW" altLang="en-US" dirty="0"/>
                    </a:p>
                  </a:txBody>
                  <a:tcPr/>
                </a:tc>
                <a:tc gridSpan="4">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年齡區間</a:t>
                      </a:r>
                    </a:p>
                  </a:txBody>
                  <a:tcPr/>
                </a:tc>
                <a:tc hMerge="1">
                  <a:txBody>
                    <a:bodyPr/>
                    <a:lstStyle/>
                    <a:p>
                      <a:pPr algn="ctr"/>
                      <a:endParaRPr lang="zh-TW" altLang="en-US" sz="1600" dirty="0"/>
                    </a:p>
                  </a:txBody>
                  <a:tcPr/>
                </a:tc>
                <a:tc hMerge="1">
                  <a:txBody>
                    <a:bodyPr/>
                    <a:lstStyle/>
                    <a:p>
                      <a:pPr algn="ctr"/>
                      <a:endParaRPr lang="zh-TW" altLang="en-US" sz="1600" dirty="0"/>
                    </a:p>
                  </a:txBody>
                  <a:tcPr/>
                </a:tc>
                <a:tc hMerge="1">
                  <a:txBody>
                    <a:bodyPr/>
                    <a:lstStyle/>
                    <a:p>
                      <a:pPr algn="ctr"/>
                      <a:endParaRPr lang="zh-TW" altLang="en-US" sz="1600" dirty="0"/>
                    </a:p>
                  </a:txBody>
                  <a:tcPr/>
                </a:tc>
                <a:tc gridSpan="3">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收入</a:t>
                      </a:r>
                    </a:p>
                  </a:txBody>
                  <a:tcPr/>
                </a:tc>
                <a:tc hMerge="1">
                  <a:txBody>
                    <a:bodyPr/>
                    <a:lstStyle/>
                    <a:p>
                      <a:endParaRPr lang="zh-TW" altLang="en-US" sz="1600" dirty="0"/>
                    </a:p>
                  </a:txBody>
                  <a:tcPr/>
                </a:tc>
                <a:tc hMerge="1">
                  <a:txBody>
                    <a:bodyPr/>
                    <a:lstStyle/>
                    <a:p>
                      <a:endParaRPr lang="zh-TW" altLang="en-US" sz="1600" dirty="0"/>
                    </a:p>
                  </a:txBody>
                  <a:tcPr/>
                </a:tc>
                <a:extLst>
                  <a:ext uri="{0D108BD9-81ED-4DB2-BD59-A6C34878D82A}">
                    <a16:rowId xmlns:a16="http://schemas.microsoft.com/office/drawing/2014/main" val="2616812084"/>
                  </a:ext>
                </a:extLst>
              </a:tr>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&lt; 15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15-25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&gt; 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高</a:t>
                      </a:r>
                    </a:p>
                  </a:txBody>
                  <a:tcPr/>
                </a:tc>
                <a:extLst>
                  <a:ext uri="{0D108BD9-81ED-4DB2-BD59-A6C34878D82A}">
                    <a16:rowId xmlns:a16="http://schemas.microsoft.com/office/drawing/2014/main" val="2855642526"/>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Count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42463057"/>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614531008"/>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Probability</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2/6</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3/6</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2/6</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647075652"/>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3/4</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1/4</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rgbClr val="FF0000"/>
                          </a:solidFill>
                          <a:latin typeface="微軟正黑體" panose="020B0604030504040204" pitchFamily="34" charset="-120"/>
                          <a:ea typeface="微軟正黑體" panose="020B0604030504040204" pitchFamily="34" charset="-120"/>
                        </a:rPr>
                        <a:t>1/4</a:t>
                      </a:r>
                      <a:endParaRPr lang="zh-TW" altLang="en-US" sz="1600" dirty="0">
                        <a:solidFill>
                          <a:srgbClr val="FF0000"/>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83782991"/>
                  </a:ext>
                </a:extLst>
              </a:tr>
            </a:tbl>
          </a:graphicData>
        </a:graphic>
      </p:graphicFrame>
      <p:sp>
        <p:nvSpPr>
          <p:cNvPr id="7" name="文字方塊 6"/>
          <p:cNvSpPr txBox="1"/>
          <p:nvPr/>
        </p:nvSpPr>
        <p:spPr>
          <a:xfrm>
            <a:off x="1141413" y="4888871"/>
            <a:ext cx="5120430" cy="646331"/>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altLang="zh-TW" dirty="0">
                <a:solidFill>
                  <a:schemeClr val="bg1"/>
                </a:solidFill>
                <a:latin typeface="微軟正黑體" panose="020B0604030504040204" pitchFamily="34" charset="-120"/>
                <a:ea typeface="微軟正黑體" panose="020B0604030504040204" pitchFamily="34" charset="-120"/>
              </a:rPr>
              <a:t>Yes: (6/10)*(2/6)*(3/6)*(2/6) = 72/2160 = 1/30</a:t>
            </a:r>
          </a:p>
          <a:p>
            <a:r>
              <a:rPr lang="en-US" altLang="zh-TW" dirty="0">
                <a:solidFill>
                  <a:schemeClr val="bg1"/>
                </a:solidFill>
                <a:latin typeface="微軟正黑體" panose="020B0604030504040204" pitchFamily="34" charset="-120"/>
                <a:ea typeface="微軟正黑體" panose="020B0604030504040204" pitchFamily="34" charset="-120"/>
              </a:rPr>
              <a:t>No: (4/10)*(3/4)*(1/4)*(1/4) = 12/640 = 3/160</a:t>
            </a:r>
            <a:endParaRPr lang="zh-TW" altLang="en-US"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475036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監督式學習</a:t>
            </a:r>
          </a:p>
        </p:txBody>
      </p:sp>
      <p:sp>
        <p:nvSpPr>
          <p:cNvPr id="3" name="矩形 2"/>
          <p:cNvSpPr/>
          <p:nvPr/>
        </p:nvSpPr>
        <p:spPr>
          <a:xfrm>
            <a:off x="4800600" y="1173137"/>
            <a:ext cx="6692900" cy="369332"/>
          </a:xfrm>
          <a:prstGeom prst="rect">
            <a:avLst/>
          </a:prstGeom>
          <a:solidFill>
            <a:srgbClr val="FFC000"/>
          </a:solidFill>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zh-TW" altLang="en-US" dirty="0">
                <a:solidFill>
                  <a:schemeClr val="bg1"/>
                </a:solidFill>
                <a:latin typeface="微軟正黑體" panose="020B0604030504040204" pitchFamily="34" charset="-120"/>
                <a:ea typeface="微軟正黑體" panose="020B0604030504040204" pitchFamily="34" charset="-120"/>
              </a:rPr>
              <a:t>新申請人的個人資料為：男生、大於</a:t>
            </a:r>
            <a:r>
              <a:rPr lang="en-US" altLang="zh-TW" dirty="0">
                <a:solidFill>
                  <a:schemeClr val="bg1"/>
                </a:solidFill>
                <a:latin typeface="微軟正黑體" panose="020B0604030504040204" pitchFamily="34" charset="-120"/>
                <a:ea typeface="微軟正黑體" panose="020B0604030504040204" pitchFamily="34" charset="-120"/>
              </a:rPr>
              <a:t>40</a:t>
            </a:r>
            <a:r>
              <a:rPr lang="zh-TW" altLang="en-US" dirty="0">
                <a:solidFill>
                  <a:schemeClr val="bg1"/>
                </a:solidFill>
                <a:latin typeface="微軟正黑體" panose="020B0604030504040204" pitchFamily="34" charset="-120"/>
                <a:ea typeface="微軟正黑體" panose="020B0604030504040204" pitchFamily="34" charset="-120"/>
              </a:rPr>
              <a:t>歲之間以及低等級的收入</a:t>
            </a:r>
          </a:p>
        </p:txBody>
      </p:sp>
      <p:graphicFrame>
        <p:nvGraphicFramePr>
          <p:cNvPr id="5" name="表格 4"/>
          <p:cNvGraphicFramePr>
            <a:graphicFrameLocks noGrp="1"/>
          </p:cNvGraphicFramePr>
          <p:nvPr/>
        </p:nvGraphicFramePr>
        <p:xfrm>
          <a:off x="83888" y="2179350"/>
          <a:ext cx="12021422" cy="2225040"/>
        </p:xfrm>
        <a:graphic>
          <a:graphicData uri="http://schemas.openxmlformats.org/drawingml/2006/table">
            <a:tbl>
              <a:tblPr firstRow="1" bandRow="1">
                <a:tableStyleId>{5C22544A-7EE6-4342-B048-85BDC9FD1C3A}</a:tableStyleId>
              </a:tblPr>
              <a:tblGrid>
                <a:gridCol w="1275012">
                  <a:extLst>
                    <a:ext uri="{9D8B030D-6E8A-4147-A177-3AD203B41FA5}">
                      <a16:colId xmlns:a16="http://schemas.microsoft.com/office/drawing/2014/main" val="2713306444"/>
                    </a:ext>
                  </a:extLst>
                </a:gridCol>
                <a:gridCol w="1074641">
                  <a:extLst>
                    <a:ext uri="{9D8B030D-6E8A-4147-A177-3AD203B41FA5}">
                      <a16:colId xmlns:a16="http://schemas.microsoft.com/office/drawing/2014/main" val="1977434845"/>
                    </a:ext>
                  </a:extLst>
                </a:gridCol>
                <a:gridCol w="1074641">
                  <a:extLst>
                    <a:ext uri="{9D8B030D-6E8A-4147-A177-3AD203B41FA5}">
                      <a16:colId xmlns:a16="http://schemas.microsoft.com/office/drawing/2014/main" val="1031037244"/>
                    </a:ext>
                  </a:extLst>
                </a:gridCol>
                <a:gridCol w="1074641">
                  <a:extLst>
                    <a:ext uri="{9D8B030D-6E8A-4147-A177-3AD203B41FA5}">
                      <a16:colId xmlns:a16="http://schemas.microsoft.com/office/drawing/2014/main" val="4163293093"/>
                    </a:ext>
                  </a:extLst>
                </a:gridCol>
                <a:gridCol w="1074641">
                  <a:extLst>
                    <a:ext uri="{9D8B030D-6E8A-4147-A177-3AD203B41FA5}">
                      <a16:colId xmlns:a16="http://schemas.microsoft.com/office/drawing/2014/main" val="1545750352"/>
                    </a:ext>
                  </a:extLst>
                </a:gridCol>
                <a:gridCol w="1074641">
                  <a:extLst>
                    <a:ext uri="{9D8B030D-6E8A-4147-A177-3AD203B41FA5}">
                      <a16:colId xmlns:a16="http://schemas.microsoft.com/office/drawing/2014/main" val="605118676"/>
                    </a:ext>
                  </a:extLst>
                </a:gridCol>
                <a:gridCol w="1074641">
                  <a:extLst>
                    <a:ext uri="{9D8B030D-6E8A-4147-A177-3AD203B41FA5}">
                      <a16:colId xmlns:a16="http://schemas.microsoft.com/office/drawing/2014/main" val="3131643731"/>
                    </a:ext>
                  </a:extLst>
                </a:gridCol>
                <a:gridCol w="1074641">
                  <a:extLst>
                    <a:ext uri="{9D8B030D-6E8A-4147-A177-3AD203B41FA5}">
                      <a16:colId xmlns:a16="http://schemas.microsoft.com/office/drawing/2014/main" val="3689189035"/>
                    </a:ext>
                  </a:extLst>
                </a:gridCol>
                <a:gridCol w="1074641">
                  <a:extLst>
                    <a:ext uri="{9D8B030D-6E8A-4147-A177-3AD203B41FA5}">
                      <a16:colId xmlns:a16="http://schemas.microsoft.com/office/drawing/2014/main" val="1055566859"/>
                    </a:ext>
                  </a:extLst>
                </a:gridCol>
                <a:gridCol w="1074641">
                  <a:extLst>
                    <a:ext uri="{9D8B030D-6E8A-4147-A177-3AD203B41FA5}">
                      <a16:colId xmlns:a16="http://schemas.microsoft.com/office/drawing/2014/main" val="3626328025"/>
                    </a:ext>
                  </a:extLst>
                </a:gridCol>
                <a:gridCol w="1074641">
                  <a:extLst>
                    <a:ext uri="{9D8B030D-6E8A-4147-A177-3AD203B41FA5}">
                      <a16:colId xmlns:a16="http://schemas.microsoft.com/office/drawing/2014/main" val="1345634262"/>
                    </a:ext>
                  </a:extLst>
                </a:gridCol>
              </a:tblGrid>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gridSpan="2">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性別</a:t>
                      </a:r>
                    </a:p>
                  </a:txBody>
                  <a:tcPr/>
                </a:tc>
                <a:tc hMerge="1">
                  <a:txBody>
                    <a:bodyPr/>
                    <a:lstStyle/>
                    <a:p>
                      <a:endParaRPr lang="zh-TW" altLang="en-US" dirty="0"/>
                    </a:p>
                  </a:txBody>
                  <a:tcPr/>
                </a:tc>
                <a:tc gridSpan="4">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年齡區間</a:t>
                      </a:r>
                    </a:p>
                  </a:txBody>
                  <a:tcPr/>
                </a:tc>
                <a:tc hMerge="1">
                  <a:txBody>
                    <a:bodyPr/>
                    <a:lstStyle/>
                    <a:p>
                      <a:pPr algn="ctr"/>
                      <a:endParaRPr lang="zh-TW" altLang="en-US" sz="1600" dirty="0"/>
                    </a:p>
                  </a:txBody>
                  <a:tcPr/>
                </a:tc>
                <a:tc hMerge="1">
                  <a:txBody>
                    <a:bodyPr/>
                    <a:lstStyle/>
                    <a:p>
                      <a:pPr algn="ctr"/>
                      <a:endParaRPr lang="zh-TW" altLang="en-US" sz="1600" dirty="0"/>
                    </a:p>
                  </a:txBody>
                  <a:tcPr/>
                </a:tc>
                <a:tc hMerge="1">
                  <a:txBody>
                    <a:bodyPr/>
                    <a:lstStyle/>
                    <a:p>
                      <a:pPr algn="ctr"/>
                      <a:endParaRPr lang="zh-TW" altLang="en-US" sz="1600" dirty="0"/>
                    </a:p>
                  </a:txBody>
                  <a:tcPr/>
                </a:tc>
                <a:tc gridSpan="3">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收入</a:t>
                      </a:r>
                    </a:p>
                  </a:txBody>
                  <a:tcPr/>
                </a:tc>
                <a:tc hMerge="1">
                  <a:txBody>
                    <a:bodyPr/>
                    <a:lstStyle/>
                    <a:p>
                      <a:endParaRPr lang="zh-TW" altLang="en-US" sz="1600" dirty="0"/>
                    </a:p>
                  </a:txBody>
                  <a:tcPr/>
                </a:tc>
                <a:tc hMerge="1">
                  <a:txBody>
                    <a:bodyPr/>
                    <a:lstStyle/>
                    <a:p>
                      <a:endParaRPr lang="zh-TW" altLang="en-US" sz="1600" dirty="0"/>
                    </a:p>
                  </a:txBody>
                  <a:tcPr/>
                </a:tc>
                <a:extLst>
                  <a:ext uri="{0D108BD9-81ED-4DB2-BD59-A6C34878D82A}">
                    <a16:rowId xmlns:a16="http://schemas.microsoft.com/office/drawing/2014/main" val="2616812084"/>
                  </a:ext>
                </a:extLst>
              </a:tr>
              <a:tr h="370840">
                <a:tc>
                  <a:txBody>
                    <a:bodyPr/>
                    <a:lstStyle/>
                    <a:p>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男</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女</a:t>
                      </a: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&lt; 15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15-25</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&gt; 40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低</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中</a:t>
                      </a:r>
                    </a:p>
                  </a:txBody>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高</a:t>
                      </a:r>
                    </a:p>
                  </a:txBody>
                  <a:tcPr/>
                </a:tc>
                <a:extLst>
                  <a:ext uri="{0D108BD9-81ED-4DB2-BD59-A6C34878D82A}">
                    <a16:rowId xmlns:a16="http://schemas.microsoft.com/office/drawing/2014/main" val="2855642526"/>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Count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442463057"/>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614531008"/>
                  </a:ext>
                </a:extLst>
              </a:tr>
              <a:tr h="370840">
                <a:tc>
                  <a:txBody>
                    <a:bodyPr/>
                    <a:lstStyle/>
                    <a:p>
                      <a:r>
                        <a:rPr lang="en-US" altLang="zh-TW" sz="1600" dirty="0">
                          <a:solidFill>
                            <a:schemeClr val="bg1"/>
                          </a:solidFill>
                          <a:latin typeface="微軟正黑體" panose="020B0604030504040204" pitchFamily="34" charset="-120"/>
                          <a:ea typeface="微軟正黑體" panose="020B0604030504040204" pitchFamily="34" charset="-120"/>
                        </a:rPr>
                        <a:t>Probability</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Yes</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4/6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3/6</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647075652"/>
                  </a:ext>
                </a:extLst>
              </a:tr>
              <a:tr h="370840">
                <a:tc>
                  <a:txBody>
                    <a:bodyPr/>
                    <a:lstStyle/>
                    <a:p>
                      <a:endParaRPr lang="zh-TW" altLang="en-US" sz="160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No</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2/4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3/4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1/4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sz="1600" dirty="0">
                          <a:solidFill>
                            <a:schemeClr val="bg1"/>
                          </a:solidFill>
                          <a:latin typeface="微軟正黑體" panose="020B0604030504040204" pitchFamily="34" charset="-120"/>
                          <a:ea typeface="微軟正黑體" panose="020B0604030504040204" pitchFamily="34" charset="-120"/>
                        </a:rPr>
                        <a:t>0/4</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983782991"/>
                  </a:ext>
                </a:extLst>
              </a:tr>
            </a:tbl>
          </a:graphicData>
        </a:graphic>
      </p:graphicFrame>
    </p:spTree>
    <p:extLst>
      <p:ext uri="{BB962C8B-B14F-4D97-AF65-F5344CB8AC3E}">
        <p14:creationId xmlns:p14="http://schemas.microsoft.com/office/powerpoint/2010/main" val="8131460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33027905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非監督式學習</a:t>
            </a:r>
          </a:p>
        </p:txBody>
      </p:sp>
      <p:sp>
        <p:nvSpPr>
          <p:cNvPr id="3" name="內容版面配置區 2"/>
          <p:cNvSpPr>
            <a:spLocks noGrp="1"/>
          </p:cNvSpPr>
          <p:nvPr>
            <p:ph idx="1"/>
          </p:nvPr>
        </p:nvSpPr>
        <p:spPr/>
        <p:txBody>
          <a:bodyPr>
            <a:normAutofit/>
          </a:bodyPr>
          <a:lstStyle/>
          <a:p>
            <a:r>
              <a:rPr lang="zh-TW" altLang="en-US" b="1" dirty="0">
                <a:solidFill>
                  <a:srgbClr val="FFC000"/>
                </a:solidFill>
                <a:latin typeface="微軟正黑體" panose="020B0604030504040204" pitchFamily="34" charset="-120"/>
                <a:ea typeface="微軟正黑體" panose="020B0604030504040204" pitchFamily="34" charset="-120"/>
              </a:rPr>
              <a:t>非監督式學習</a:t>
            </a:r>
            <a:r>
              <a:rPr lang="en-US" altLang="zh-TW" b="1" dirty="0">
                <a:solidFill>
                  <a:srgbClr val="FFC000"/>
                </a:solidFill>
                <a:latin typeface="微軟正黑體" panose="020B0604030504040204" pitchFamily="34" charset="-120"/>
                <a:ea typeface="微軟正黑體" panose="020B0604030504040204" pitchFamily="34" charset="-120"/>
              </a:rPr>
              <a:t> &amp; </a:t>
            </a:r>
            <a:r>
              <a:rPr lang="zh-TW" altLang="en-US" b="1" dirty="0">
                <a:solidFill>
                  <a:srgbClr val="FFC000"/>
                </a:solidFill>
                <a:latin typeface="微軟正黑體" panose="020B0604030504040204" pitchFamily="34" charset="-120"/>
                <a:ea typeface="微軟正黑體" panose="020B0604030504040204" pitchFamily="34" charset="-120"/>
              </a:rPr>
              <a:t>半監督式學習</a:t>
            </a:r>
            <a:endParaRPr lang="en-US" altLang="zh-TW" b="1" dirty="0">
              <a:solidFill>
                <a:srgbClr val="FFC000"/>
              </a:solidFill>
              <a:latin typeface="微軟正黑體" panose="020B0604030504040204" pitchFamily="34" charset="-120"/>
              <a:ea typeface="微軟正黑體" panose="020B0604030504040204" pitchFamily="34" charset="-120"/>
            </a:endParaRPr>
          </a:p>
          <a:p>
            <a:r>
              <a:rPr lang="zh-TW" altLang="en-US" b="1" dirty="0">
                <a:solidFill>
                  <a:srgbClr val="FFC000"/>
                </a:solidFill>
                <a:latin typeface="微軟正黑體" panose="020B0604030504040204" pitchFamily="34" charset="-120"/>
                <a:ea typeface="微軟正黑體" panose="020B0604030504040204" pitchFamily="34" charset="-120"/>
              </a:rPr>
              <a:t>非監督式學習</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所有資料都沒有答案，無法提供機器學習輸出時判斷使用</a:t>
            </a:r>
            <a:endParaRPr lang="en-US" altLang="zh-TW" dirty="0">
              <a:latin typeface="微軟正黑體" panose="020B0604030504040204" pitchFamily="34" charset="-120"/>
              <a:ea typeface="微軟正黑體" panose="020B0604030504040204" pitchFamily="34" charset="-120"/>
            </a:endParaRPr>
          </a:p>
          <a:p>
            <a:r>
              <a:rPr lang="zh-TW" altLang="en-US" b="1" dirty="0">
                <a:solidFill>
                  <a:srgbClr val="FFC000"/>
                </a:solidFill>
                <a:latin typeface="微軟正黑體" panose="020B0604030504040204" pitchFamily="34" charset="-120"/>
                <a:ea typeface="微軟正黑體" panose="020B0604030504040204" pitchFamily="34" charset="-120"/>
              </a:rPr>
              <a:t>半監督式學習</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少部分資料有答案，大部分資料沒有答案</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監督式</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非監督式的混合應用</a:t>
            </a:r>
            <a:endParaRPr lang="zh-TW" altLang="en-US" dirty="0"/>
          </a:p>
        </p:txBody>
      </p:sp>
    </p:spTree>
    <p:extLst>
      <p:ext uri="{BB962C8B-B14F-4D97-AF65-F5344CB8AC3E}">
        <p14:creationId xmlns:p14="http://schemas.microsoft.com/office/powerpoint/2010/main" val="357696325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非監督式學習</a:t>
            </a:r>
          </a:p>
        </p:txBody>
      </p:sp>
      <p:sp>
        <p:nvSpPr>
          <p:cNvPr id="3" name="內容版面配置區 2"/>
          <p:cNvSpPr>
            <a:spLocks noGrp="1"/>
          </p:cNvSpPr>
          <p:nvPr>
            <p:ph idx="1"/>
          </p:nvPr>
        </p:nvSpPr>
        <p:spPr/>
        <p:txBody>
          <a:bodyPr/>
          <a:lstStyle/>
          <a:p>
            <a:r>
              <a:rPr lang="en-US" altLang="zh-TW" b="1" dirty="0">
                <a:solidFill>
                  <a:srgbClr val="FFC000"/>
                </a:solidFill>
                <a:latin typeface="微軟正黑體" panose="020B0604030504040204" pitchFamily="34" charset="-120"/>
                <a:ea typeface="微軟正黑體" panose="020B0604030504040204" pitchFamily="34" charset="-120"/>
              </a:rPr>
              <a:t>K-Means</a:t>
            </a:r>
            <a:r>
              <a:rPr lang="zh-TW" altLang="en-US" b="1" dirty="0">
                <a:solidFill>
                  <a:srgbClr val="FFC000"/>
                </a:solidFill>
                <a:latin typeface="微軟正黑體" panose="020B0604030504040204" pitchFamily="34" charset="-120"/>
                <a:ea typeface="微軟正黑體" panose="020B0604030504040204" pitchFamily="34" charset="-120"/>
              </a:rPr>
              <a:t>分群演算法</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事前設定群集數量</a:t>
            </a:r>
            <a:r>
              <a:rPr lang="en-US" altLang="zh-TW" dirty="0">
                <a:latin typeface="微軟正黑體" panose="020B0604030504040204" pitchFamily="34" charset="-120"/>
                <a:ea typeface="微軟正黑體" panose="020B0604030504040204" pitchFamily="34" charset="-120"/>
              </a:rPr>
              <a:t>k</a:t>
            </a:r>
          </a:p>
          <a:p>
            <a:pPr lvl="1"/>
            <a:r>
              <a:rPr lang="zh-TW" altLang="en-US" dirty="0">
                <a:latin typeface="微軟正黑體" panose="020B0604030504040204" pitchFamily="34" charset="-120"/>
                <a:ea typeface="微軟正黑體" panose="020B0604030504040204" pitchFamily="34" charset="-120"/>
              </a:rPr>
              <a:t>隨機挑選群集中心，其餘各點依距離決定所屬群集</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經由各群集質量中心為依據，更改群集中心，其餘各點再次依距離決定所屬群集</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重覆以上步驟，當分群不再變動時，即達到分群最佳化</a:t>
            </a:r>
          </a:p>
        </p:txBody>
      </p:sp>
      <p:cxnSp>
        <p:nvCxnSpPr>
          <p:cNvPr id="6" name="直線接點 5"/>
          <p:cNvCxnSpPr/>
          <p:nvPr/>
        </p:nvCxnSpPr>
        <p:spPr>
          <a:xfrm flipV="1">
            <a:off x="1911004" y="4020344"/>
            <a:ext cx="8932487" cy="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210718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橢圓 4"/>
          <p:cNvSpPr/>
          <p:nvPr/>
        </p:nvSpPr>
        <p:spPr>
          <a:xfrm>
            <a:off x="2247650" y="30441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2967650" y="392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1739900" y="428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4711700" y="212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8623300" y="3395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7340100" y="515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9394100" y="50385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431700" y="140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3209200" y="50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8367100" y="443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227375" y="32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734300" y="191000"/>
            <a:ext cx="4279900" cy="646331"/>
          </a:xfrm>
          <a:prstGeom prst="rect">
            <a:avLst/>
          </a:prstGeom>
          <a:solidFill>
            <a:schemeClr val="accent1"/>
          </a:solid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首先，我們假設所有資料都是經過預先處理，並可以投影至二維空間中</a:t>
            </a:r>
          </a:p>
        </p:txBody>
      </p:sp>
      <p:sp>
        <p:nvSpPr>
          <p:cNvPr id="23" name="橢圓 22"/>
          <p:cNvSpPr/>
          <p:nvPr/>
        </p:nvSpPr>
        <p:spPr>
          <a:xfrm>
            <a:off x="5109733" y="1148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p:cNvSpPr/>
          <p:nvPr/>
        </p:nvSpPr>
        <p:spPr>
          <a:xfrm>
            <a:off x="6883333" y="6824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7327905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橢圓 4"/>
          <p:cNvSpPr/>
          <p:nvPr/>
        </p:nvSpPr>
        <p:spPr>
          <a:xfrm>
            <a:off x="2247650" y="30441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2967650" y="392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1739900" y="428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4711700" y="212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8623300" y="3395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7340100" y="515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9394100" y="50385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431700" y="140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3209200" y="50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8367100" y="443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227375" y="32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734300" y="191000"/>
            <a:ext cx="4279900" cy="646331"/>
          </a:xfrm>
          <a:prstGeom prst="rect">
            <a:avLst/>
          </a:prstGeom>
          <a:solidFill>
            <a:schemeClr val="accent1"/>
          </a:solid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接著，假設要用這些資料來實現</a:t>
            </a:r>
            <a:r>
              <a:rPr lang="en-US" altLang="zh-TW" dirty="0">
                <a:solidFill>
                  <a:schemeClr val="bg1"/>
                </a:solidFill>
                <a:latin typeface="微軟正黑體" panose="020B0604030504040204" pitchFamily="34" charset="-120"/>
                <a:ea typeface="微軟正黑體" panose="020B0604030504040204" pitchFamily="34" charset="-120"/>
              </a:rPr>
              <a:t>3</a:t>
            </a:r>
            <a:r>
              <a:rPr lang="zh-TW" altLang="en-US" dirty="0">
                <a:solidFill>
                  <a:schemeClr val="bg1"/>
                </a:solidFill>
                <a:latin typeface="微軟正黑體" panose="020B0604030504040204" pitchFamily="34" charset="-120"/>
                <a:ea typeface="微軟正黑體" panose="020B0604030504040204" pitchFamily="34" charset="-120"/>
              </a:rPr>
              <a:t>個群集，所以我們會先隨機產生</a:t>
            </a:r>
            <a:r>
              <a:rPr lang="en-US" altLang="zh-TW" dirty="0">
                <a:solidFill>
                  <a:schemeClr val="bg1"/>
                </a:solidFill>
                <a:latin typeface="微軟正黑體" panose="020B0604030504040204" pitchFamily="34" charset="-120"/>
                <a:ea typeface="微軟正黑體" panose="020B0604030504040204" pitchFamily="34" charset="-120"/>
              </a:rPr>
              <a:t>3</a:t>
            </a:r>
            <a:r>
              <a:rPr lang="zh-TW" altLang="en-US" dirty="0">
                <a:solidFill>
                  <a:schemeClr val="bg1"/>
                </a:solidFill>
                <a:latin typeface="微軟正黑體" panose="020B0604030504040204" pitchFamily="34" charset="-120"/>
                <a:ea typeface="微軟正黑體" panose="020B0604030504040204" pitchFamily="34" charset="-120"/>
              </a:rPr>
              <a:t>個群集中心</a:t>
            </a:r>
          </a:p>
        </p:txBody>
      </p:sp>
      <p:sp>
        <p:nvSpPr>
          <p:cNvPr id="25" name="橢圓 24"/>
          <p:cNvSpPr/>
          <p:nvPr/>
        </p:nvSpPr>
        <p:spPr>
          <a:xfrm>
            <a:off x="4711700" y="212580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1739900" y="428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9394100" y="50385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五角星形 1"/>
          <p:cNvSpPr/>
          <p:nvPr/>
        </p:nvSpPr>
        <p:spPr>
          <a:xfrm>
            <a:off x="1919900" y="446827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五角星形 27"/>
          <p:cNvSpPr/>
          <p:nvPr/>
        </p:nvSpPr>
        <p:spPr>
          <a:xfrm>
            <a:off x="4891700" y="230580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五角星形 28"/>
          <p:cNvSpPr/>
          <p:nvPr/>
        </p:nvSpPr>
        <p:spPr>
          <a:xfrm>
            <a:off x="9574100" y="521850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5109733" y="1148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6883333" y="6824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244802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inVertical)">
                                      <p:cBhvr>
                                        <p:cTn id="10" dur="500"/>
                                        <p:tgtEl>
                                          <p:spTgt spid="2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barn(inVertical)">
                                      <p:cBhvr>
                                        <p:cTn id="13" dur="500"/>
                                        <p:tgtEl>
                                          <p:spTgt spid="27"/>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arn(inVertical)">
                                      <p:cBhvr>
                                        <p:cTn id="16" dur="500"/>
                                        <p:tgtEl>
                                          <p:spTgt spid="28"/>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500"/>
                                        <p:tgtEl>
                                          <p:spTgt spid="2"/>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arn(inVertical)">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 grpId="0" animBg="1"/>
      <p:bldP spid="28" grpId="0" animBg="1"/>
      <p:bldP spid="2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橢圓 4"/>
          <p:cNvSpPr/>
          <p:nvPr/>
        </p:nvSpPr>
        <p:spPr>
          <a:xfrm>
            <a:off x="2247650" y="30441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2967650" y="392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1739900" y="428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4711700" y="212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8623300" y="3395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7340100" y="515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9394100" y="50385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431700" y="140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3209200" y="50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8367100" y="443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227375" y="32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734300" y="191000"/>
            <a:ext cx="4279900" cy="646331"/>
          </a:xfrm>
          <a:prstGeom prst="rect">
            <a:avLst/>
          </a:prstGeom>
          <a:solidFill>
            <a:schemeClr val="accent1"/>
          </a:solid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決定群集中心後，其餘各點依距離決定所屬群集</a:t>
            </a:r>
          </a:p>
        </p:txBody>
      </p:sp>
      <p:sp>
        <p:nvSpPr>
          <p:cNvPr id="25" name="橢圓 24"/>
          <p:cNvSpPr/>
          <p:nvPr/>
        </p:nvSpPr>
        <p:spPr>
          <a:xfrm>
            <a:off x="4711700" y="212580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1739900" y="428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9394100" y="50385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五角星形 1"/>
          <p:cNvSpPr/>
          <p:nvPr/>
        </p:nvSpPr>
        <p:spPr>
          <a:xfrm>
            <a:off x="1919900" y="446827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五角星形 27"/>
          <p:cNvSpPr/>
          <p:nvPr/>
        </p:nvSpPr>
        <p:spPr>
          <a:xfrm>
            <a:off x="4891700" y="230580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五角星形 28"/>
          <p:cNvSpPr/>
          <p:nvPr/>
        </p:nvSpPr>
        <p:spPr>
          <a:xfrm>
            <a:off x="9574100" y="521850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2247650" y="30441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2967650" y="392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3209200" y="500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5431700" y="14053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7340100" y="515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p:cNvSpPr/>
          <p:nvPr/>
        </p:nvSpPr>
        <p:spPr>
          <a:xfrm>
            <a:off x="8367100" y="443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p:cNvSpPr/>
          <p:nvPr/>
        </p:nvSpPr>
        <p:spPr>
          <a:xfrm>
            <a:off x="8623300" y="3395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p:nvSpPr>
        <p:spPr>
          <a:xfrm>
            <a:off x="4227375" y="32082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p:cNvSpPr/>
          <p:nvPr/>
        </p:nvSpPr>
        <p:spPr>
          <a:xfrm>
            <a:off x="5109733" y="1148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p:cNvSpPr/>
          <p:nvPr/>
        </p:nvSpPr>
        <p:spPr>
          <a:xfrm>
            <a:off x="6883333" y="6824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39"/>
          <p:cNvSpPr/>
          <p:nvPr/>
        </p:nvSpPr>
        <p:spPr>
          <a:xfrm>
            <a:off x="5109733" y="11444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p:cNvSpPr/>
          <p:nvPr/>
        </p:nvSpPr>
        <p:spPr>
          <a:xfrm>
            <a:off x="6883333" y="6824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6695178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arn(inVertical)">
                                      <p:cBhvr>
                                        <p:cTn id="10" dur="500"/>
                                        <p:tgtEl>
                                          <p:spTgt spid="2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barn(inVertical)">
                                      <p:cBhvr>
                                        <p:cTn id="13" dur="500"/>
                                        <p:tgtEl>
                                          <p:spTgt spid="3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barn(inVertical)">
                                      <p:cBhvr>
                                        <p:cTn id="16" dur="500"/>
                                        <p:tgtEl>
                                          <p:spTgt spid="3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barn(inVertical)">
                                      <p:cBhvr>
                                        <p:cTn id="19" dur="500"/>
                                        <p:tgtEl>
                                          <p:spTgt spid="32"/>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arn(inVertical)">
                                      <p:cBhvr>
                                        <p:cTn id="22" dur="500"/>
                                        <p:tgtEl>
                                          <p:spTgt spid="36"/>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barn(inVertical)">
                                      <p:cBhvr>
                                        <p:cTn id="25" dur="500"/>
                                        <p:tgtEl>
                                          <p:spTgt spid="35"/>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arn(inVertical)">
                                      <p:cBhvr>
                                        <p:cTn id="28" dur="500"/>
                                        <p:tgtEl>
                                          <p:spTgt spid="34"/>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barn(inVertical)">
                                      <p:cBhvr>
                                        <p:cTn id="31" dur="500"/>
                                        <p:tgtEl>
                                          <p:spTgt spid="40"/>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barn(inVertical)">
                                      <p:cBhvr>
                                        <p:cTn id="34"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30" grpId="0" animBg="1"/>
      <p:bldP spid="32" grpId="0" animBg="1"/>
      <p:bldP spid="34" grpId="0" animBg="1"/>
      <p:bldP spid="35" grpId="0" animBg="1"/>
      <p:bldP spid="36" grpId="0" animBg="1"/>
      <p:bldP spid="37" grpId="0" animBg="1"/>
      <p:bldP spid="40" grpId="0" animBg="1"/>
      <p:bldP spid="4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橢圓 4"/>
          <p:cNvSpPr/>
          <p:nvPr/>
        </p:nvSpPr>
        <p:spPr>
          <a:xfrm>
            <a:off x="2247650" y="30441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2967650" y="392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1739900" y="428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5109733" y="1148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883333" y="6824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4711700" y="212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8623300" y="3395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7340100" y="515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9394100" y="50385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431700" y="140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3209200" y="50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8367100" y="443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227375" y="32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734300" y="191000"/>
            <a:ext cx="4279900" cy="646331"/>
          </a:xfrm>
          <a:prstGeom prst="rect">
            <a:avLst/>
          </a:prstGeom>
          <a:solidFill>
            <a:schemeClr val="accent1"/>
          </a:solid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經由各群集質量中心為依據，更改群集中心</a:t>
            </a:r>
          </a:p>
        </p:txBody>
      </p:sp>
      <p:sp>
        <p:nvSpPr>
          <p:cNvPr id="25" name="橢圓 24"/>
          <p:cNvSpPr/>
          <p:nvPr/>
        </p:nvSpPr>
        <p:spPr>
          <a:xfrm>
            <a:off x="4711700" y="212580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1739900" y="428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9394100" y="50385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五角星形 1"/>
          <p:cNvSpPr/>
          <p:nvPr/>
        </p:nvSpPr>
        <p:spPr>
          <a:xfrm>
            <a:off x="1919900" y="446827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五角星形 27"/>
          <p:cNvSpPr/>
          <p:nvPr/>
        </p:nvSpPr>
        <p:spPr>
          <a:xfrm>
            <a:off x="4891700" y="230580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五角星形 28"/>
          <p:cNvSpPr/>
          <p:nvPr/>
        </p:nvSpPr>
        <p:spPr>
          <a:xfrm>
            <a:off x="9574100" y="521850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2247650" y="30441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2967650" y="392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3209200" y="500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5109733" y="11444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5431700" y="14053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p:cNvSpPr/>
          <p:nvPr/>
        </p:nvSpPr>
        <p:spPr>
          <a:xfrm>
            <a:off x="6883333" y="6824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7340100" y="515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p:cNvSpPr/>
          <p:nvPr/>
        </p:nvSpPr>
        <p:spPr>
          <a:xfrm>
            <a:off x="8367100" y="443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p:cNvSpPr/>
          <p:nvPr/>
        </p:nvSpPr>
        <p:spPr>
          <a:xfrm>
            <a:off x="8623300" y="3395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p:nvSpPr>
        <p:spPr>
          <a:xfrm>
            <a:off x="4227375" y="32082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五角星形 37"/>
          <p:cNvSpPr/>
          <p:nvPr/>
        </p:nvSpPr>
        <p:spPr>
          <a:xfrm>
            <a:off x="3147650" y="410827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五角星形 38"/>
          <p:cNvSpPr/>
          <p:nvPr/>
        </p:nvSpPr>
        <p:spPr>
          <a:xfrm>
            <a:off x="5611700" y="1585585"/>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五角星形 39"/>
          <p:cNvSpPr/>
          <p:nvPr/>
        </p:nvSpPr>
        <p:spPr>
          <a:xfrm>
            <a:off x="8547100" y="4646356"/>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8827628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16" presetClass="exit" presetSubtype="21" fill="hold" grpId="0" nodeType="withEffect">
                                  <p:stCondLst>
                                    <p:cond delay="0"/>
                                  </p:stCondLst>
                                  <p:childTnLst>
                                    <p:animEffect transition="out" filter="barn(inVertical)">
                                      <p:cBhvr>
                                        <p:cTn id="9" dur="500"/>
                                        <p:tgtEl>
                                          <p:spTgt spid="28"/>
                                        </p:tgtEl>
                                      </p:cBhvr>
                                    </p:animEffect>
                                    <p:set>
                                      <p:cBhvr>
                                        <p:cTn id="10" dur="1" fill="hold">
                                          <p:stCondLst>
                                            <p:cond delay="499"/>
                                          </p:stCondLst>
                                        </p:cTn>
                                        <p:tgtEl>
                                          <p:spTgt spid="28"/>
                                        </p:tgtEl>
                                        <p:attrNameLst>
                                          <p:attrName>style.visibility</p:attrName>
                                        </p:attrNameLst>
                                      </p:cBhvr>
                                      <p:to>
                                        <p:strVal val="hidden"/>
                                      </p:to>
                                    </p:set>
                                  </p:childTnLst>
                                </p:cTn>
                              </p:par>
                              <p:par>
                                <p:cTn id="11" presetID="16" presetClass="exit" presetSubtype="21" fill="hold" grpId="0" nodeType="withEffect">
                                  <p:stCondLst>
                                    <p:cond delay="0"/>
                                  </p:stCondLst>
                                  <p:childTnLst>
                                    <p:animEffect transition="out" filter="barn(inVertical)">
                                      <p:cBhvr>
                                        <p:cTn id="12" dur="500"/>
                                        <p:tgtEl>
                                          <p:spTgt spid="29"/>
                                        </p:tgtEl>
                                      </p:cBhvr>
                                    </p:animEffect>
                                    <p:set>
                                      <p:cBhvr>
                                        <p:cTn id="13" dur="1" fill="hold">
                                          <p:stCondLst>
                                            <p:cond delay="499"/>
                                          </p:stCondLst>
                                        </p:cTn>
                                        <p:tgtEl>
                                          <p:spTgt spid="29"/>
                                        </p:tgtEl>
                                        <p:attrNameLst>
                                          <p:attrName>style.visibility</p:attrName>
                                        </p:attrNameLst>
                                      </p:cBhvr>
                                      <p:to>
                                        <p:strVal val="hidden"/>
                                      </p:to>
                                    </p:set>
                                  </p:childTnLst>
                                </p:cTn>
                              </p:par>
                              <p:par>
                                <p:cTn id="14" presetID="16" presetClass="entr" presetSubtype="21"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barn(inVertical)">
                                      <p:cBhvr>
                                        <p:cTn id="16" dur="500"/>
                                        <p:tgtEl>
                                          <p:spTgt spid="38"/>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barn(inVertical)">
                                      <p:cBhvr>
                                        <p:cTn id="19" dur="500"/>
                                        <p:tgtEl>
                                          <p:spTgt spid="39"/>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arn(inVertical)">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8" grpId="0" animBg="1"/>
      <p:bldP spid="29" grpId="0" animBg="1"/>
      <p:bldP spid="38" grpId="0" animBg="1"/>
      <p:bldP spid="39" grpId="0" animBg="1"/>
      <p:bldP spid="4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橢圓 4"/>
          <p:cNvSpPr/>
          <p:nvPr/>
        </p:nvSpPr>
        <p:spPr>
          <a:xfrm>
            <a:off x="2247650" y="30441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2967650" y="392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1739900" y="428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5109733" y="1148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883333" y="6824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4711700" y="212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8623300" y="3395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7340100" y="515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9394100" y="50385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431700" y="140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3209200" y="50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8367100" y="443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227375" y="32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734300" y="191000"/>
            <a:ext cx="4279900" cy="646331"/>
          </a:xfrm>
          <a:prstGeom prst="rect">
            <a:avLst/>
          </a:prstGeom>
          <a:solidFill>
            <a:schemeClr val="accent1"/>
          </a:solid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更改群集中心後，各點再次依距離決定所屬群集</a:t>
            </a:r>
          </a:p>
        </p:txBody>
      </p:sp>
      <p:sp>
        <p:nvSpPr>
          <p:cNvPr id="25" name="橢圓 24"/>
          <p:cNvSpPr/>
          <p:nvPr/>
        </p:nvSpPr>
        <p:spPr>
          <a:xfrm>
            <a:off x="4711700" y="212580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1739900" y="428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9394100" y="50385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2247650" y="30441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2967650" y="392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3209200" y="500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5109733" y="11444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5431700" y="14053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p:cNvSpPr/>
          <p:nvPr/>
        </p:nvSpPr>
        <p:spPr>
          <a:xfrm>
            <a:off x="6883333" y="6824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7340100" y="515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p:cNvSpPr/>
          <p:nvPr/>
        </p:nvSpPr>
        <p:spPr>
          <a:xfrm>
            <a:off x="8367100" y="443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p:cNvSpPr/>
          <p:nvPr/>
        </p:nvSpPr>
        <p:spPr>
          <a:xfrm>
            <a:off x="8623300" y="3395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p:nvSpPr>
        <p:spPr>
          <a:xfrm>
            <a:off x="4227375" y="32082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五角星形 37"/>
          <p:cNvSpPr/>
          <p:nvPr/>
        </p:nvSpPr>
        <p:spPr>
          <a:xfrm>
            <a:off x="3147650" y="410827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五角星形 38"/>
          <p:cNvSpPr/>
          <p:nvPr/>
        </p:nvSpPr>
        <p:spPr>
          <a:xfrm>
            <a:off x="5611700" y="1585585"/>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五角星形 39"/>
          <p:cNvSpPr/>
          <p:nvPr/>
        </p:nvSpPr>
        <p:spPr>
          <a:xfrm>
            <a:off x="8547100" y="4646356"/>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p:cNvSpPr/>
          <p:nvPr/>
        </p:nvSpPr>
        <p:spPr>
          <a:xfrm>
            <a:off x="4227375" y="32058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890039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barn(inVertical)">
                                      <p:cBhvr>
                                        <p:cTn id="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橢圓 4"/>
          <p:cNvSpPr/>
          <p:nvPr/>
        </p:nvSpPr>
        <p:spPr>
          <a:xfrm>
            <a:off x="2247650" y="30441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2967650" y="392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1739900" y="428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5109733" y="1148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883333" y="6824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4711700" y="212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8623300" y="3395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7340100" y="515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9394100" y="50385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431700" y="140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3209200" y="50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8367100" y="443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227375" y="32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734300" y="191000"/>
            <a:ext cx="4279900" cy="646331"/>
          </a:xfrm>
          <a:prstGeom prst="rect">
            <a:avLst/>
          </a:prstGeom>
          <a:solidFill>
            <a:schemeClr val="accent1"/>
          </a:solid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重覆以上步驟，當分群不再變動時，即達到分群最佳化</a:t>
            </a:r>
          </a:p>
        </p:txBody>
      </p:sp>
      <p:sp>
        <p:nvSpPr>
          <p:cNvPr id="25" name="橢圓 24"/>
          <p:cNvSpPr/>
          <p:nvPr/>
        </p:nvSpPr>
        <p:spPr>
          <a:xfrm>
            <a:off x="4711700" y="212580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1739900" y="428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9394100" y="50385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2247650" y="30441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2967650" y="392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3209200" y="500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5109733" y="11444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5431700" y="14053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p:cNvSpPr/>
          <p:nvPr/>
        </p:nvSpPr>
        <p:spPr>
          <a:xfrm>
            <a:off x="6883333" y="6824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7340100" y="515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p:cNvSpPr/>
          <p:nvPr/>
        </p:nvSpPr>
        <p:spPr>
          <a:xfrm>
            <a:off x="8367100" y="443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p:cNvSpPr/>
          <p:nvPr/>
        </p:nvSpPr>
        <p:spPr>
          <a:xfrm>
            <a:off x="8623300" y="3395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p:nvSpPr>
        <p:spPr>
          <a:xfrm>
            <a:off x="4227375" y="32082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五角星形 37"/>
          <p:cNvSpPr/>
          <p:nvPr/>
        </p:nvSpPr>
        <p:spPr>
          <a:xfrm>
            <a:off x="3147650" y="4108270"/>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五角星形 38"/>
          <p:cNvSpPr/>
          <p:nvPr/>
        </p:nvSpPr>
        <p:spPr>
          <a:xfrm>
            <a:off x="5611700" y="1585585"/>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五角星形 39"/>
          <p:cNvSpPr/>
          <p:nvPr/>
        </p:nvSpPr>
        <p:spPr>
          <a:xfrm>
            <a:off x="8547100" y="4646356"/>
            <a:ext cx="360000" cy="36000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p:cNvSpPr/>
          <p:nvPr/>
        </p:nvSpPr>
        <p:spPr>
          <a:xfrm>
            <a:off x="4227375" y="32058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648186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非監督式學習</a:t>
            </a:r>
          </a:p>
        </p:txBody>
      </p:sp>
      <p:sp>
        <p:nvSpPr>
          <p:cNvPr id="3" name="內容版面配置區 2"/>
          <p:cNvSpPr>
            <a:spLocks noGrp="1"/>
          </p:cNvSpPr>
          <p:nvPr>
            <p:ph idx="1"/>
          </p:nvPr>
        </p:nvSpPr>
        <p:spPr/>
        <p:txBody>
          <a:bodyPr>
            <a:normAutofit/>
          </a:bodyPr>
          <a:lstStyle/>
          <a:p>
            <a:r>
              <a:rPr lang="zh-TW" altLang="en-US" b="1" dirty="0">
                <a:solidFill>
                  <a:srgbClr val="FFC000"/>
                </a:solidFill>
                <a:latin typeface="微軟正黑體" panose="020B0604030504040204" pitchFamily="34" charset="-120"/>
                <a:ea typeface="微軟正黑體" panose="020B0604030504040204" pitchFamily="34" charset="-120"/>
              </a:rPr>
              <a:t>非監督式學習</a:t>
            </a:r>
            <a:r>
              <a:rPr lang="en-US" altLang="zh-TW" b="1" dirty="0">
                <a:solidFill>
                  <a:srgbClr val="FFC000"/>
                </a:solidFill>
                <a:latin typeface="微軟正黑體" panose="020B0604030504040204" pitchFamily="34" charset="-120"/>
                <a:ea typeface="微軟正黑體" panose="020B0604030504040204" pitchFamily="34" charset="-120"/>
              </a:rPr>
              <a:t> &amp; </a:t>
            </a:r>
            <a:r>
              <a:rPr lang="zh-TW" altLang="en-US" b="1" dirty="0">
                <a:solidFill>
                  <a:srgbClr val="FFC000"/>
                </a:solidFill>
                <a:latin typeface="微軟正黑體" panose="020B0604030504040204" pitchFamily="34" charset="-120"/>
                <a:ea typeface="微軟正黑體" panose="020B0604030504040204" pitchFamily="34" charset="-120"/>
              </a:rPr>
              <a:t>半監督式學習</a:t>
            </a:r>
            <a:endParaRPr lang="en-US" altLang="zh-TW" b="1" dirty="0">
              <a:solidFill>
                <a:srgbClr val="FFC000"/>
              </a:solidFill>
              <a:latin typeface="微軟正黑體" panose="020B0604030504040204" pitchFamily="34" charset="-120"/>
              <a:ea typeface="微軟正黑體" panose="020B0604030504040204" pitchFamily="34" charset="-120"/>
            </a:endParaRPr>
          </a:p>
          <a:p>
            <a:r>
              <a:rPr lang="zh-TW" altLang="en-US" b="1" dirty="0">
                <a:solidFill>
                  <a:srgbClr val="FFC000"/>
                </a:solidFill>
                <a:latin typeface="微軟正黑體" panose="020B0604030504040204" pitchFamily="34" charset="-120"/>
                <a:ea typeface="微軟正黑體" panose="020B0604030504040204" pitchFamily="34" charset="-120"/>
              </a:rPr>
              <a:t>非監督式學習</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所有資料都沒有答案，無法提供機器學習輸出時判斷使用</a:t>
            </a:r>
            <a:endParaRPr lang="en-US" altLang="zh-TW" dirty="0">
              <a:latin typeface="微軟正黑體" panose="020B0604030504040204" pitchFamily="34" charset="-120"/>
              <a:ea typeface="微軟正黑體" panose="020B0604030504040204" pitchFamily="34" charset="-120"/>
            </a:endParaRPr>
          </a:p>
          <a:p>
            <a:r>
              <a:rPr lang="zh-TW" altLang="en-US" b="1" dirty="0">
                <a:solidFill>
                  <a:srgbClr val="FFC000"/>
                </a:solidFill>
                <a:latin typeface="微軟正黑體" panose="020B0604030504040204" pitchFamily="34" charset="-120"/>
                <a:ea typeface="微軟正黑體" panose="020B0604030504040204" pitchFamily="34" charset="-120"/>
              </a:rPr>
              <a:t>半監督式學習</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少部分資料有答案，大部分資料沒有答案</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監督式</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非監督式的混合應用</a:t>
            </a:r>
            <a:endParaRPr lang="zh-TW" altLang="en-US" dirty="0"/>
          </a:p>
        </p:txBody>
      </p:sp>
    </p:spTree>
    <p:extLst>
      <p:ext uri="{BB962C8B-B14F-4D97-AF65-F5344CB8AC3E}">
        <p14:creationId xmlns:p14="http://schemas.microsoft.com/office/powerpoint/2010/main" val="390691773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橢圓 4"/>
          <p:cNvSpPr/>
          <p:nvPr/>
        </p:nvSpPr>
        <p:spPr>
          <a:xfrm>
            <a:off x="2247650" y="30441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2967650" y="392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1739900" y="428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5109733" y="1148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883333" y="6824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4711700" y="212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8623300" y="3395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7340100" y="515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9394100" y="50385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431700" y="140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3209200" y="50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8367100" y="443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227375" y="32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734300" y="191000"/>
            <a:ext cx="4279900" cy="646331"/>
          </a:xfrm>
          <a:prstGeom prst="rect">
            <a:avLst/>
          </a:prstGeom>
          <a:solidFill>
            <a:schemeClr val="accent1"/>
          </a:solid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這邊可以假設：此範例中，總共有</a:t>
            </a:r>
            <a:r>
              <a:rPr lang="en-US" altLang="zh-TW" dirty="0">
                <a:solidFill>
                  <a:schemeClr val="bg1"/>
                </a:solidFill>
                <a:latin typeface="微軟正黑體" panose="020B0604030504040204" pitchFamily="34" charset="-120"/>
                <a:ea typeface="微軟正黑體" panose="020B0604030504040204" pitchFamily="34" charset="-120"/>
              </a:rPr>
              <a:t>13</a:t>
            </a:r>
            <a:r>
              <a:rPr lang="zh-TW" altLang="en-US" dirty="0">
                <a:solidFill>
                  <a:schemeClr val="bg1"/>
                </a:solidFill>
                <a:latin typeface="微軟正黑體" panose="020B0604030504040204" pitchFamily="34" charset="-120"/>
                <a:ea typeface="微軟正黑體" panose="020B0604030504040204" pitchFamily="34" charset="-120"/>
              </a:rPr>
              <a:t>筆資料，其中卻只有</a:t>
            </a:r>
            <a:r>
              <a:rPr lang="en-US" altLang="zh-TW" dirty="0">
                <a:solidFill>
                  <a:schemeClr val="bg1"/>
                </a:solidFill>
                <a:latin typeface="微軟正黑體" panose="020B0604030504040204" pitchFamily="34" charset="-120"/>
                <a:ea typeface="微軟正黑體" panose="020B0604030504040204" pitchFamily="34" charset="-120"/>
              </a:rPr>
              <a:t>3</a:t>
            </a:r>
            <a:r>
              <a:rPr lang="zh-TW" altLang="en-US" dirty="0">
                <a:solidFill>
                  <a:schemeClr val="bg1"/>
                </a:solidFill>
                <a:latin typeface="微軟正黑體" panose="020B0604030504040204" pitchFamily="34" charset="-120"/>
                <a:ea typeface="微軟正黑體" panose="020B0604030504040204" pitchFamily="34" charset="-120"/>
              </a:rPr>
              <a:t>筆是有資料標籤的</a:t>
            </a:r>
          </a:p>
        </p:txBody>
      </p:sp>
      <p:sp>
        <p:nvSpPr>
          <p:cNvPr id="25" name="橢圓 24"/>
          <p:cNvSpPr/>
          <p:nvPr/>
        </p:nvSpPr>
        <p:spPr>
          <a:xfrm>
            <a:off x="4711700" y="212580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1739900" y="428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9394100" y="50385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2247650" y="30441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2967650" y="392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3209200" y="500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5109733" y="11444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5431700" y="14053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p:cNvSpPr/>
          <p:nvPr/>
        </p:nvSpPr>
        <p:spPr>
          <a:xfrm>
            <a:off x="6883333" y="6824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7340100" y="515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p:cNvSpPr/>
          <p:nvPr/>
        </p:nvSpPr>
        <p:spPr>
          <a:xfrm>
            <a:off x="8367100" y="443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p:cNvSpPr/>
          <p:nvPr/>
        </p:nvSpPr>
        <p:spPr>
          <a:xfrm>
            <a:off x="8623300" y="3395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p:nvSpPr>
        <p:spPr>
          <a:xfrm>
            <a:off x="4227375" y="32082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p:cNvSpPr/>
          <p:nvPr/>
        </p:nvSpPr>
        <p:spPr>
          <a:xfrm>
            <a:off x="4227375" y="32058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26" name="Picture 2" descr="https://encrypted-tbn0.gstatic.com/images?q=tbn:ANd9GcTAoWjbxQaTb_yHouTJRAC86fXmO3LH8WXfJQcZZYr4s72kbqDg&amp;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73284" y="5188485"/>
            <a:ext cx="415119"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北极熊, 熊, 动物, 白, 鱼, 卡通, 可爱, 北极, 南极洲"/>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67100" y="5334300"/>
            <a:ext cx="266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企鹅, 无尾礼服, 动物, Linux, 卡通, 鸟, 可爱, 搞笑, 漫画"/>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14083" y="862470"/>
            <a:ext cx="458500"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495419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par>
                                <p:cTn id="8" presetID="16" presetClass="entr" presetSubtype="21" fill="hold" nodeType="withEffect">
                                  <p:stCondLst>
                                    <p:cond delay="0"/>
                                  </p:stCondLst>
                                  <p:childTnLst>
                                    <p:set>
                                      <p:cBhvr>
                                        <p:cTn id="9" dur="1" fill="hold">
                                          <p:stCondLst>
                                            <p:cond delay="0"/>
                                          </p:stCondLst>
                                        </p:cTn>
                                        <p:tgtEl>
                                          <p:spTgt spid="1030"/>
                                        </p:tgtEl>
                                        <p:attrNameLst>
                                          <p:attrName>style.visibility</p:attrName>
                                        </p:attrNameLst>
                                      </p:cBhvr>
                                      <p:to>
                                        <p:strVal val="visible"/>
                                      </p:to>
                                    </p:set>
                                    <p:animEffect transition="in" filter="barn(inVertical)">
                                      <p:cBhvr>
                                        <p:cTn id="10" dur="500"/>
                                        <p:tgtEl>
                                          <p:spTgt spid="1030"/>
                                        </p:tgtEl>
                                      </p:cBhvr>
                                    </p:animEffect>
                                  </p:childTnLst>
                                </p:cTn>
                              </p:par>
                              <p:par>
                                <p:cTn id="11" presetID="16" presetClass="entr" presetSubtype="21"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animEffect transition="in" filter="barn(inVertical)">
                                      <p:cBhvr>
                                        <p:cTn id="13" dur="500"/>
                                        <p:tgtEl>
                                          <p:spTgt spid="1028"/>
                                        </p:tgtEl>
                                      </p:cBhvr>
                                    </p:animEffect>
                                  </p:childTnLst>
                                </p:cTn>
                              </p:par>
                            </p:childTnLst>
                          </p:cTn>
                        </p:par>
                        <p:par>
                          <p:cTn id="14" fill="hold">
                            <p:stCondLst>
                              <p:cond delay="500"/>
                            </p:stCondLst>
                            <p:childTnLst>
                              <p:par>
                                <p:cTn id="15" presetID="8" presetClass="emph" presetSubtype="0" fill="hold" nodeType="afterEffect">
                                  <p:stCondLst>
                                    <p:cond delay="0"/>
                                  </p:stCondLst>
                                  <p:childTnLst>
                                    <p:animRot by="21600000">
                                      <p:cBhvr>
                                        <p:cTn id="16" dur="2000" fill="hold"/>
                                        <p:tgtEl>
                                          <p:spTgt spid="1026"/>
                                        </p:tgtEl>
                                        <p:attrNameLst>
                                          <p:attrName>r</p:attrName>
                                        </p:attrNameLst>
                                      </p:cBhvr>
                                    </p:animRot>
                                  </p:childTnLst>
                                </p:cTn>
                              </p:par>
                              <p:par>
                                <p:cTn id="17" presetID="8" presetClass="emph" presetSubtype="0" fill="hold" nodeType="withEffect">
                                  <p:stCondLst>
                                    <p:cond delay="0"/>
                                  </p:stCondLst>
                                  <p:childTnLst>
                                    <p:animRot by="21600000">
                                      <p:cBhvr>
                                        <p:cTn id="18" dur="2000" fill="hold"/>
                                        <p:tgtEl>
                                          <p:spTgt spid="1030"/>
                                        </p:tgtEl>
                                        <p:attrNameLst>
                                          <p:attrName>r</p:attrName>
                                        </p:attrNameLst>
                                      </p:cBhvr>
                                    </p:animRot>
                                  </p:childTnLst>
                                </p:cTn>
                              </p:par>
                              <p:par>
                                <p:cTn id="19" presetID="8" presetClass="emph" presetSubtype="0" fill="hold" nodeType="withEffect">
                                  <p:stCondLst>
                                    <p:cond delay="0"/>
                                  </p:stCondLst>
                                  <p:childTnLst>
                                    <p:animRot by="21600000">
                                      <p:cBhvr>
                                        <p:cTn id="20" dur="2000" fill="hold"/>
                                        <p:tgtEl>
                                          <p:spTgt spid="102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橢圓 4"/>
          <p:cNvSpPr/>
          <p:nvPr/>
        </p:nvSpPr>
        <p:spPr>
          <a:xfrm>
            <a:off x="2247650" y="30441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2967650" y="392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1739900" y="428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5109733" y="1148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883333" y="68247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4711700" y="212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8623300" y="3395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7340100" y="515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9394100" y="50385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431700" y="14058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3209200" y="50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8367100" y="44343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4227375" y="320870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734300" y="191000"/>
            <a:ext cx="4279900" cy="1200329"/>
          </a:xfrm>
          <a:prstGeom prst="rect">
            <a:avLst/>
          </a:prstGeom>
          <a:solidFill>
            <a:schemeClr val="accent1"/>
          </a:solidFill>
        </p:spPr>
        <p:txBody>
          <a:bodyPr wrap="square" rtlCol="0">
            <a:spAutoFit/>
          </a:bodyPr>
          <a:lstStyle/>
          <a:p>
            <a:r>
              <a:rPr lang="zh-TW" altLang="en-US" dirty="0">
                <a:solidFill>
                  <a:schemeClr val="bg1"/>
                </a:solidFill>
                <a:latin typeface="微軟正黑體" panose="020B0604030504040204" pitchFamily="34" charset="-120"/>
                <a:ea typeface="微軟正黑體" panose="020B0604030504040204" pitchFamily="34" charset="-120"/>
              </a:rPr>
              <a:t>因為已經使用了演算法進行分群，如果各群集中剛好只有一個資料標籤的話，就可以推測同群集資料的特性會是相同的</a:t>
            </a:r>
          </a:p>
        </p:txBody>
      </p:sp>
      <p:sp>
        <p:nvSpPr>
          <p:cNvPr id="25" name="橢圓 24"/>
          <p:cNvSpPr/>
          <p:nvPr/>
        </p:nvSpPr>
        <p:spPr>
          <a:xfrm>
            <a:off x="4711700" y="212580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1739900" y="428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9394100" y="50385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2247650" y="30441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2967650" y="392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3209200" y="500827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5109733" y="11444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5431700" y="14053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p:cNvSpPr/>
          <p:nvPr/>
        </p:nvSpPr>
        <p:spPr>
          <a:xfrm>
            <a:off x="6883333" y="6824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7340100" y="515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p:cNvSpPr/>
          <p:nvPr/>
        </p:nvSpPr>
        <p:spPr>
          <a:xfrm>
            <a:off x="8367100" y="4434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p:cNvSpPr/>
          <p:nvPr/>
        </p:nvSpPr>
        <p:spPr>
          <a:xfrm>
            <a:off x="8623300" y="3395300"/>
            <a:ext cx="720000" cy="72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p:nvSpPr>
        <p:spPr>
          <a:xfrm>
            <a:off x="4227375" y="3208270"/>
            <a:ext cx="720000" cy="72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p:cNvSpPr/>
          <p:nvPr/>
        </p:nvSpPr>
        <p:spPr>
          <a:xfrm>
            <a:off x="4227375" y="3205800"/>
            <a:ext cx="720000" cy="7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26" name="Picture 2" descr="https://encrypted-tbn0.gstatic.com/images?q=tbn:ANd9GcTAoWjbxQaTb_yHouTJRAC86fXmO3LH8WXfJQcZZYr4s72kbqDg&amp;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73284" y="5188485"/>
            <a:ext cx="415119"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北极熊, 熊, 动物, 白, 鱼, 卡通, 可爱, 北极, 南极洲"/>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67100" y="5334300"/>
            <a:ext cx="266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企鹅, 无尾礼服, 动物, Linux, 卡通, 鸟, 可爱, 搞笑, 漫画"/>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14083" y="862470"/>
            <a:ext cx="4585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https://encrypted-tbn0.gstatic.com/images?q=tbn:ANd9GcTAoWjbxQaTb_yHouTJRAC86fXmO3LH8WXfJQcZZYr4s72kbqDg&am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486" y="3509236"/>
            <a:ext cx="2075595" cy="180000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企鹅, 无尾礼服, 动物, Linux, 卡通, 鸟, 可爱, 搞笑, 漫画"/>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13193" y="579905"/>
            <a:ext cx="22925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 descr="北极熊, 熊, 动物, 白, 鱼, 卡通, 可爱, 北极, 南极洲"/>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71543" y="3808484"/>
            <a:ext cx="1330000" cy="18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431549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1026"/>
                                        </p:tgtEl>
                                      </p:cBhvr>
                                    </p:animEffect>
                                    <p:set>
                                      <p:cBhvr>
                                        <p:cTn id="7" dur="1" fill="hold">
                                          <p:stCondLst>
                                            <p:cond delay="499"/>
                                          </p:stCondLst>
                                        </p:cTn>
                                        <p:tgtEl>
                                          <p:spTgt spid="1026"/>
                                        </p:tgtEl>
                                        <p:attrNameLst>
                                          <p:attrName>style.visibility</p:attrName>
                                        </p:attrNameLst>
                                      </p:cBhvr>
                                      <p:to>
                                        <p:strVal val="hidden"/>
                                      </p:to>
                                    </p:set>
                                  </p:childTnLst>
                                </p:cTn>
                              </p:par>
                              <p:par>
                                <p:cTn id="8" presetID="16" presetClass="exit" presetSubtype="21" fill="hold" nodeType="withEffect">
                                  <p:stCondLst>
                                    <p:cond delay="0"/>
                                  </p:stCondLst>
                                  <p:childTnLst>
                                    <p:animEffect transition="out" filter="barn(inVertical)">
                                      <p:cBhvr>
                                        <p:cTn id="9" dur="500"/>
                                        <p:tgtEl>
                                          <p:spTgt spid="1030"/>
                                        </p:tgtEl>
                                      </p:cBhvr>
                                    </p:animEffect>
                                    <p:set>
                                      <p:cBhvr>
                                        <p:cTn id="10" dur="1" fill="hold">
                                          <p:stCondLst>
                                            <p:cond delay="499"/>
                                          </p:stCondLst>
                                        </p:cTn>
                                        <p:tgtEl>
                                          <p:spTgt spid="1030"/>
                                        </p:tgtEl>
                                        <p:attrNameLst>
                                          <p:attrName>style.visibility</p:attrName>
                                        </p:attrNameLst>
                                      </p:cBhvr>
                                      <p:to>
                                        <p:strVal val="hidden"/>
                                      </p:to>
                                    </p:set>
                                  </p:childTnLst>
                                </p:cTn>
                              </p:par>
                              <p:par>
                                <p:cTn id="11" presetID="16" presetClass="exit" presetSubtype="21" fill="hold" nodeType="withEffect">
                                  <p:stCondLst>
                                    <p:cond delay="0"/>
                                  </p:stCondLst>
                                  <p:childTnLst>
                                    <p:animEffect transition="out" filter="barn(inVertical)">
                                      <p:cBhvr>
                                        <p:cTn id="12" dur="500"/>
                                        <p:tgtEl>
                                          <p:spTgt spid="1028"/>
                                        </p:tgtEl>
                                      </p:cBhvr>
                                    </p:animEffect>
                                    <p:set>
                                      <p:cBhvr>
                                        <p:cTn id="13" dur="1" fill="hold">
                                          <p:stCondLst>
                                            <p:cond delay="499"/>
                                          </p:stCondLst>
                                        </p:cTn>
                                        <p:tgtEl>
                                          <p:spTgt spid="1028"/>
                                        </p:tgtEl>
                                        <p:attrNameLst>
                                          <p:attrName>style.visibility</p:attrName>
                                        </p:attrNameLst>
                                      </p:cBhvr>
                                      <p:to>
                                        <p:strVal val="hidden"/>
                                      </p:to>
                                    </p:set>
                                  </p:childTnLst>
                                </p:cTn>
                              </p:par>
                            </p:childTnLst>
                          </p:cTn>
                        </p:par>
                        <p:par>
                          <p:cTn id="14" fill="hold">
                            <p:stCondLst>
                              <p:cond delay="500"/>
                            </p:stCondLst>
                            <p:childTnLst>
                              <p:par>
                                <p:cTn id="15" presetID="16" presetClass="entr" presetSubtype="21" fill="hold" nodeType="after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barn(inVertical)">
                                      <p:cBhvr>
                                        <p:cTn id="17" dur="500"/>
                                        <p:tgtEl>
                                          <p:spTgt spid="38"/>
                                        </p:tgtEl>
                                      </p:cBhvr>
                                    </p:animEffect>
                                  </p:childTnLst>
                                </p:cTn>
                              </p:par>
                              <p:par>
                                <p:cTn id="18" presetID="16" presetClass="entr" presetSubtype="21" fill="hold" nodeType="with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barn(inVertical)">
                                      <p:cBhvr>
                                        <p:cTn id="20" dur="500"/>
                                        <p:tgtEl>
                                          <p:spTgt spid="39"/>
                                        </p:tgtEl>
                                      </p:cBhvr>
                                    </p:animEffect>
                                  </p:childTnLst>
                                </p:cTn>
                              </p:par>
                              <p:par>
                                <p:cTn id="21" presetID="16" presetClass="entr" presetSubtype="21"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barn(inVertical)">
                                      <p:cBhvr>
                                        <p:cTn id="2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37306674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增強學習</a:t>
            </a:r>
          </a:p>
        </p:txBody>
      </p:sp>
      <p:sp>
        <p:nvSpPr>
          <p:cNvPr id="3" name="內容版面配置區 2"/>
          <p:cNvSpPr>
            <a:spLocks noGrp="1"/>
          </p:cNvSpPr>
          <p:nvPr>
            <p:ph idx="1"/>
          </p:nvPr>
        </p:nvSpPr>
        <p:spPr/>
        <p:txBody>
          <a:bodyPr/>
          <a:lstStyle/>
          <a:p>
            <a:r>
              <a:rPr lang="zh-TW" altLang="en-US" b="1" dirty="0">
                <a:solidFill>
                  <a:srgbClr val="FFC000"/>
                </a:solidFill>
                <a:latin typeface="微軟正黑體" panose="020B0604030504040204" pitchFamily="34" charset="-120"/>
                <a:ea typeface="微軟正黑體" panose="020B0604030504040204" pitchFamily="34" charset="-120"/>
              </a:rPr>
              <a:t>增強學習</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b="1" dirty="0">
                <a:solidFill>
                  <a:srgbClr val="FFC000"/>
                </a:solidFill>
                <a:latin typeface="微軟正黑體" panose="020B0604030504040204" pitchFamily="34" charset="-120"/>
                <a:ea typeface="微軟正黑體" panose="020B0604030504040204" pitchFamily="34" charset="-120"/>
              </a:rPr>
              <a:t>強化學習</a:t>
            </a:r>
          </a:p>
          <a:p>
            <a:pPr lvl="1"/>
            <a:r>
              <a:rPr lang="zh-TW" altLang="en-US" dirty="0">
                <a:latin typeface="微軟正黑體" panose="020B0604030504040204" pitchFamily="34" charset="-120"/>
                <a:ea typeface="微軟正黑體" panose="020B0604030504040204" pitchFamily="34" charset="-120"/>
              </a:rPr>
              <a:t>之前討論的方法，都是對於單次決策的輸出資訊都有明確的答案</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增強學習是連續多次的決策，用來達成一個最終的目標（某個參數達到特定值）</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937142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增強學習</a:t>
            </a:r>
          </a:p>
        </p:txBody>
      </p:sp>
      <p:sp>
        <p:nvSpPr>
          <p:cNvPr id="3" name="內容版面配置區 2"/>
          <p:cNvSpPr>
            <a:spLocks noGrp="1"/>
          </p:cNvSpPr>
          <p:nvPr>
            <p:ph idx="1"/>
          </p:nvPr>
        </p:nvSpPr>
        <p:spPr/>
        <p:txBody>
          <a:bodyPr/>
          <a:lstStyle/>
          <a:p>
            <a:r>
              <a:rPr lang="zh-TW" altLang="en-US" b="1" dirty="0">
                <a:solidFill>
                  <a:srgbClr val="FFC000"/>
                </a:solidFill>
                <a:latin typeface="微軟正黑體" panose="020B0604030504040204" pitchFamily="34" charset="-120"/>
                <a:ea typeface="微軟正黑體" panose="020B0604030504040204" pitchFamily="34" charset="-120"/>
              </a:rPr>
              <a:t>增強學習</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在進行決策時，都是依據目前環境（</a:t>
            </a:r>
            <a:r>
              <a:rPr lang="en-US" altLang="zh-TW" dirty="0">
                <a:latin typeface="微軟正黑體" panose="020B0604030504040204" pitchFamily="34" charset="-120"/>
                <a:ea typeface="微軟正黑體" panose="020B0604030504040204" pitchFamily="34" charset="-120"/>
              </a:rPr>
              <a:t>Environment</a:t>
            </a:r>
            <a:r>
              <a:rPr lang="zh-TW" altLang="en-US" dirty="0">
                <a:latin typeface="微軟正黑體" panose="020B0604030504040204" pitchFamily="34" charset="-120"/>
                <a:ea typeface="微軟正黑體" panose="020B0604030504040204" pitchFamily="34" charset="-120"/>
              </a:rPr>
              <a:t>）的狀態（</a:t>
            </a:r>
            <a:r>
              <a:rPr lang="en-US" altLang="zh-TW" dirty="0">
                <a:latin typeface="微軟正黑體" panose="020B0604030504040204" pitchFamily="34" charset="-120"/>
                <a:ea typeface="微軟正黑體" panose="020B0604030504040204" pitchFamily="34" charset="-120"/>
              </a:rPr>
              <a:t>State</a:t>
            </a:r>
            <a:r>
              <a:rPr lang="zh-TW" altLang="en-US" dirty="0">
                <a:latin typeface="微軟正黑體" panose="020B0604030504040204" pitchFamily="34" charset="-120"/>
                <a:ea typeface="微軟正黑體" panose="020B0604030504040204" pitchFamily="34" charset="-120"/>
              </a:rPr>
              <a:t>）來執行動作（</a:t>
            </a:r>
            <a:r>
              <a:rPr lang="en-US" altLang="zh-TW" dirty="0">
                <a:latin typeface="微軟正黑體" panose="020B0604030504040204" pitchFamily="34" charset="-120"/>
                <a:ea typeface="微軟正黑體" panose="020B0604030504040204" pitchFamily="34" charset="-120"/>
              </a:rPr>
              <a:t>Action</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然後我們就會得到環境給予我們的回饋，或者稱為獎勵（</a:t>
            </a:r>
            <a:r>
              <a:rPr lang="en-US" altLang="zh-TW" dirty="0">
                <a:latin typeface="微軟正黑體" panose="020B0604030504040204" pitchFamily="34" charset="-120"/>
                <a:ea typeface="微軟正黑體" panose="020B0604030504040204" pitchFamily="34" charset="-120"/>
              </a:rPr>
              <a:t>Reward</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同時，我們所執行的動作也會改變環境，使得環境轉換為一個新的狀態</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0513668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增強學習</a:t>
            </a:r>
          </a:p>
        </p:txBody>
      </p:sp>
      <p:sp>
        <p:nvSpPr>
          <p:cNvPr id="3" name="內容版面配置區 2"/>
          <p:cNvSpPr>
            <a:spLocks noGrp="1"/>
          </p:cNvSpPr>
          <p:nvPr>
            <p:ph idx="1"/>
          </p:nvPr>
        </p:nvSpPr>
        <p:spPr>
          <a:xfrm>
            <a:off x="1141412" y="2249487"/>
            <a:ext cx="9905999" cy="4484688"/>
          </a:xfrm>
        </p:spPr>
        <p:txBody>
          <a:bodyPr/>
          <a:lstStyle/>
          <a:p>
            <a:r>
              <a:rPr lang="zh-TW" altLang="en-US" b="1" dirty="0">
                <a:solidFill>
                  <a:srgbClr val="FFC000"/>
                </a:solidFill>
                <a:latin typeface="微軟正黑體" panose="020B0604030504040204" pitchFamily="34" charset="-120"/>
                <a:ea typeface="微軟正黑體" panose="020B0604030504040204" pitchFamily="34" charset="-120"/>
              </a:rPr>
              <a:t>增強學習</a:t>
            </a:r>
          </a:p>
          <a:p>
            <a:pPr lvl="1"/>
            <a:endParaRPr lang="en-US" altLang="zh-TW" dirty="0">
              <a:latin typeface="微軟正黑體" panose="020B0604030504040204" pitchFamily="34" charset="-120"/>
              <a:ea typeface="微軟正黑體" panose="020B0604030504040204" pitchFamily="34" charset="-120"/>
            </a:endParaRPr>
          </a:p>
          <a:p>
            <a:pPr lvl="1"/>
            <a:endParaRPr lang="en-US" altLang="zh-TW" dirty="0">
              <a:latin typeface="微軟正黑體" panose="020B0604030504040204" pitchFamily="34" charset="-120"/>
              <a:ea typeface="微軟正黑體" panose="020B0604030504040204" pitchFamily="34" charset="-120"/>
            </a:endParaRPr>
          </a:p>
          <a:p>
            <a:pPr lvl="1"/>
            <a:endParaRPr lang="en-US" altLang="zh-TW" dirty="0">
              <a:latin typeface="微軟正黑體" panose="020B0604030504040204" pitchFamily="34" charset="-120"/>
              <a:ea typeface="微軟正黑體" panose="020B0604030504040204" pitchFamily="34" charset="-120"/>
            </a:endParaRPr>
          </a:p>
          <a:p>
            <a:pPr lvl="1"/>
            <a:endParaRPr lang="en-US" altLang="zh-TW" dirty="0">
              <a:latin typeface="微軟正黑體" panose="020B0604030504040204" pitchFamily="34" charset="-120"/>
              <a:ea typeface="微軟正黑體" panose="020B0604030504040204" pitchFamily="34" charset="-120"/>
            </a:endParaRPr>
          </a:p>
          <a:p>
            <a:pPr lvl="1"/>
            <a:endParaRPr lang="en-US" altLang="zh-TW" dirty="0">
              <a:latin typeface="微軟正黑體" panose="020B0604030504040204" pitchFamily="34" charset="-120"/>
              <a:ea typeface="微軟正黑體" panose="020B0604030504040204" pitchFamily="34" charset="-120"/>
            </a:endParaRPr>
          </a:p>
          <a:p>
            <a:pPr lvl="1"/>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由於不同的動作會得到不同的獎勵</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所以試圖最大化最終報酬，就是增強學習的核心概念</a:t>
            </a:r>
            <a:endParaRPr lang="en-US" altLang="zh-TW" dirty="0">
              <a:latin typeface="微軟正黑體" panose="020B0604030504040204" pitchFamily="34" charset="-120"/>
              <a:ea typeface="微軟正黑體" panose="020B0604030504040204" pitchFamily="34" charset="-120"/>
            </a:endParaRPr>
          </a:p>
        </p:txBody>
      </p:sp>
      <p:sp>
        <p:nvSpPr>
          <p:cNvPr id="7" name="流程圖: 結束點 6"/>
          <p:cNvSpPr/>
          <p:nvPr/>
        </p:nvSpPr>
        <p:spPr>
          <a:xfrm>
            <a:off x="6002336" y="4293091"/>
            <a:ext cx="3379789" cy="687387"/>
          </a:xfrm>
          <a:prstGeom prst="flowChartTermina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bg1"/>
                </a:solidFill>
                <a:latin typeface="微軟正黑體" panose="020B0604030504040204" pitchFamily="34" charset="-120"/>
                <a:ea typeface="微軟正黑體" panose="020B0604030504040204" pitchFamily="34" charset="-120"/>
              </a:rPr>
              <a:t>Environment</a:t>
            </a:r>
            <a:endParaRPr lang="zh-TW" altLang="en-US" dirty="0">
              <a:solidFill>
                <a:schemeClr val="bg1"/>
              </a:solidFill>
              <a:latin typeface="微軟正黑體" panose="020B0604030504040204" pitchFamily="34" charset="-120"/>
              <a:ea typeface="微軟正黑體" panose="020B0604030504040204" pitchFamily="34" charset="-120"/>
            </a:endParaRPr>
          </a:p>
        </p:txBody>
      </p:sp>
      <p:pic>
        <p:nvPicPr>
          <p:cNvPr id="1026" name="Picture 2" descr="man person boy free phot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32230" y="809487"/>
            <a:ext cx="720000" cy="1440000"/>
          </a:xfrm>
          <a:prstGeom prst="rect">
            <a:avLst/>
          </a:prstGeom>
          <a:solidFill>
            <a:schemeClr val="accent5"/>
          </a:solidFill>
        </p:spPr>
      </p:pic>
      <p:sp>
        <p:nvSpPr>
          <p:cNvPr id="28" name="弧形 27"/>
          <p:cNvSpPr/>
          <p:nvPr/>
        </p:nvSpPr>
        <p:spPr>
          <a:xfrm>
            <a:off x="5341503" y="1460921"/>
            <a:ext cx="6212322" cy="3175863"/>
          </a:xfrm>
          <a:prstGeom prst="arc">
            <a:avLst>
              <a:gd name="adj1" fmla="val 16150168"/>
              <a:gd name="adj2" fmla="val 3202561"/>
            </a:avLst>
          </a:prstGeom>
          <a:ln w="50800">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9" name="文字方塊 28"/>
          <p:cNvSpPr txBox="1"/>
          <p:nvPr/>
        </p:nvSpPr>
        <p:spPr>
          <a:xfrm>
            <a:off x="10599736" y="2864186"/>
            <a:ext cx="895350" cy="369332"/>
          </a:xfrm>
          <a:prstGeom prst="rect">
            <a:avLst/>
          </a:prstGeom>
          <a:noFill/>
        </p:spPr>
        <p:txBody>
          <a:bodyPr wrap="square" rtlCol="0">
            <a:spAutoFit/>
          </a:bodyPr>
          <a:lstStyle/>
          <a:p>
            <a:r>
              <a:rPr lang="en-US" altLang="zh-TW" dirty="0">
                <a:solidFill>
                  <a:schemeClr val="accent5"/>
                </a:solidFill>
                <a:latin typeface="微軟正黑體" panose="020B0604030504040204" pitchFamily="34" charset="-120"/>
                <a:ea typeface="微軟正黑體" panose="020B0604030504040204" pitchFamily="34" charset="-120"/>
              </a:rPr>
              <a:t>Action</a:t>
            </a:r>
            <a:endParaRPr lang="zh-TW" altLang="en-US" baseline="-25000" dirty="0">
              <a:solidFill>
                <a:schemeClr val="accent5"/>
              </a:solidFill>
              <a:latin typeface="微軟正黑體" panose="020B0604030504040204" pitchFamily="34" charset="-120"/>
              <a:ea typeface="微軟正黑體" panose="020B0604030504040204" pitchFamily="34" charset="-120"/>
            </a:endParaRPr>
          </a:p>
        </p:txBody>
      </p:sp>
      <p:sp>
        <p:nvSpPr>
          <p:cNvPr id="31" name="弧形 30"/>
          <p:cNvSpPr/>
          <p:nvPr/>
        </p:nvSpPr>
        <p:spPr>
          <a:xfrm flipH="1" flipV="1">
            <a:off x="3714555" y="1504290"/>
            <a:ext cx="5877120" cy="3175200"/>
          </a:xfrm>
          <a:prstGeom prst="arc">
            <a:avLst>
              <a:gd name="adj1" fmla="val 18021207"/>
              <a:gd name="adj2" fmla="val 5943761"/>
            </a:avLst>
          </a:prstGeom>
          <a:ln w="508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2" name="文字方塊 31"/>
          <p:cNvSpPr txBox="1"/>
          <p:nvPr/>
        </p:nvSpPr>
        <p:spPr>
          <a:xfrm>
            <a:off x="2990417" y="2864186"/>
            <a:ext cx="895350" cy="369332"/>
          </a:xfrm>
          <a:prstGeom prst="rect">
            <a:avLst/>
          </a:prstGeom>
          <a:noFill/>
        </p:spPr>
        <p:txBody>
          <a:bodyPr wrap="square" rtlCol="0">
            <a:spAutoFit/>
          </a:bodyPr>
          <a:lstStyle/>
          <a:p>
            <a:r>
              <a:rPr lang="en-US" altLang="zh-TW" dirty="0">
                <a:solidFill>
                  <a:schemeClr val="accent1"/>
                </a:solidFill>
                <a:latin typeface="微軟正黑體" panose="020B0604030504040204" pitchFamily="34" charset="-120"/>
                <a:ea typeface="微軟正黑體" panose="020B0604030504040204" pitchFamily="34" charset="-120"/>
              </a:rPr>
              <a:t>State</a:t>
            </a:r>
            <a:endParaRPr lang="zh-TW" altLang="en-US" baseline="-25000" dirty="0">
              <a:solidFill>
                <a:schemeClr val="accent1"/>
              </a:solidFill>
              <a:latin typeface="微軟正黑體" panose="020B0604030504040204" pitchFamily="34" charset="-120"/>
              <a:ea typeface="微軟正黑體" panose="020B0604030504040204" pitchFamily="34" charset="-120"/>
            </a:endParaRPr>
          </a:p>
        </p:txBody>
      </p:sp>
      <p:sp>
        <p:nvSpPr>
          <p:cNvPr id="33" name="弧形 32"/>
          <p:cNvSpPr/>
          <p:nvPr/>
        </p:nvSpPr>
        <p:spPr>
          <a:xfrm flipH="1" flipV="1">
            <a:off x="3813654" y="1852282"/>
            <a:ext cx="5877120" cy="2479215"/>
          </a:xfrm>
          <a:prstGeom prst="arc">
            <a:avLst>
              <a:gd name="adj1" fmla="val 18485602"/>
              <a:gd name="adj2" fmla="val 5813955"/>
            </a:avLst>
          </a:prstGeom>
          <a:ln w="508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4" name="文字方塊 33"/>
          <p:cNvSpPr txBox="1"/>
          <p:nvPr/>
        </p:nvSpPr>
        <p:spPr>
          <a:xfrm>
            <a:off x="3912249" y="2864186"/>
            <a:ext cx="1040583" cy="369332"/>
          </a:xfrm>
          <a:prstGeom prst="rect">
            <a:avLst/>
          </a:prstGeom>
          <a:noFill/>
        </p:spPr>
        <p:txBody>
          <a:bodyPr wrap="square" rtlCol="0">
            <a:spAutoFit/>
          </a:bodyPr>
          <a:lstStyle/>
          <a:p>
            <a:r>
              <a:rPr lang="en-US" altLang="zh-TW" dirty="0">
                <a:solidFill>
                  <a:schemeClr val="accent1"/>
                </a:solidFill>
                <a:latin typeface="微軟正黑體" panose="020B0604030504040204" pitchFamily="34" charset="-120"/>
                <a:ea typeface="微軟正黑體" panose="020B0604030504040204" pitchFamily="34" charset="-120"/>
              </a:rPr>
              <a:t>Reward</a:t>
            </a:r>
            <a:endParaRPr lang="zh-TW" altLang="en-US" baseline="-25000" dirty="0">
              <a:solidFill>
                <a:schemeClr val="accent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27338005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barn(inVertical)">
                                      <p:cBhvr>
                                        <p:cTn id="17" dur="500"/>
                                        <p:tgtEl>
                                          <p:spTgt spid="28"/>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barn(inVertical)">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barn(inVertical)">
                                      <p:cBhvr>
                                        <p:cTn id="25" dur="500"/>
                                        <p:tgtEl>
                                          <p:spTgt spid="33"/>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barn(inVertical)">
                                      <p:cBhvr>
                                        <p:cTn id="28" dur="500"/>
                                        <p:tgtEl>
                                          <p:spTgt spid="31"/>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barn(inVertical)">
                                      <p:cBhvr>
                                        <p:cTn id="31" dur="500"/>
                                        <p:tgtEl>
                                          <p:spTgt spid="34"/>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barn(inVertical)">
                                      <p:cBhvr>
                                        <p:cTn id="34" dur="500"/>
                                        <p:tgtEl>
                                          <p:spTgt spid="32"/>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8" grpId="0" animBg="1"/>
      <p:bldP spid="29" grpId="0"/>
      <p:bldP spid="31" grpId="0" animBg="1"/>
      <p:bldP spid="32" grpId="0"/>
      <p:bldP spid="33" grpId="0" animBg="1"/>
      <p:bldP spid="3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增強學習</a:t>
            </a:r>
          </a:p>
        </p:txBody>
      </p:sp>
      <p:sp>
        <p:nvSpPr>
          <p:cNvPr id="3" name="內容版面配置區 2"/>
          <p:cNvSpPr>
            <a:spLocks noGrp="1"/>
          </p:cNvSpPr>
          <p:nvPr>
            <p:ph idx="1"/>
          </p:nvPr>
        </p:nvSpPr>
        <p:spPr/>
        <p:txBody>
          <a:bodyPr/>
          <a:lstStyle/>
          <a:p>
            <a:r>
              <a:rPr lang="zh-TW" altLang="en-US" b="1" dirty="0">
                <a:solidFill>
                  <a:srgbClr val="FFC000"/>
                </a:solidFill>
                <a:latin typeface="微軟正黑體" panose="020B0604030504040204" pitchFamily="34" charset="-120"/>
                <a:ea typeface="微軟正黑體" panose="020B0604030504040204" pitchFamily="34" charset="-120"/>
              </a:rPr>
              <a:t>增強學習</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那要怎樣才會知道何種狀態下該執行什麼動作才會得到較高的獎勵</a:t>
            </a:r>
            <a:r>
              <a:rPr lang="en-US" altLang="zh-TW" dirty="0">
                <a:latin typeface="微軟正黑體" panose="020B0604030504040204" pitchFamily="34" charset="-120"/>
                <a:ea typeface="微軟正黑體" panose="020B0604030504040204" pitchFamily="34" charset="-120"/>
              </a:rPr>
              <a:t>?</a:t>
            </a:r>
          </a:p>
          <a:p>
            <a:pPr lvl="2"/>
            <a:r>
              <a:rPr lang="zh-TW" altLang="en-US" b="1" dirty="0">
                <a:solidFill>
                  <a:srgbClr val="FFC000"/>
                </a:solidFill>
                <a:latin typeface="微軟正黑體" panose="020B0604030504040204" pitchFamily="34" charset="-120"/>
                <a:ea typeface="微軟正黑體" panose="020B0604030504040204" pitchFamily="34" charset="-120"/>
              </a:rPr>
              <a:t>探索（</a:t>
            </a:r>
            <a:r>
              <a:rPr lang="en-US" altLang="zh-TW" b="1" dirty="0">
                <a:solidFill>
                  <a:srgbClr val="FFC000"/>
                </a:solidFill>
                <a:latin typeface="微軟正黑體" panose="020B0604030504040204" pitchFamily="34" charset="-120"/>
                <a:ea typeface="微軟正黑體" panose="020B0604030504040204" pitchFamily="34" charset="-120"/>
              </a:rPr>
              <a:t>Explore</a:t>
            </a:r>
            <a:r>
              <a:rPr lang="zh-TW" altLang="en-US" b="1" dirty="0">
                <a:solidFill>
                  <a:srgbClr val="FFC000"/>
                </a:solidFill>
                <a:latin typeface="微軟正黑體" panose="020B0604030504040204" pitchFamily="34" charset="-120"/>
                <a:ea typeface="微軟正黑體" panose="020B0604030504040204" pitchFamily="34" charset="-120"/>
              </a:rPr>
              <a:t>）及利用（</a:t>
            </a:r>
            <a:r>
              <a:rPr lang="en-US" altLang="zh-TW" b="1" dirty="0">
                <a:solidFill>
                  <a:srgbClr val="FFC000"/>
                </a:solidFill>
                <a:latin typeface="微軟正黑體" panose="020B0604030504040204" pitchFamily="34" charset="-120"/>
                <a:ea typeface="微軟正黑體" panose="020B0604030504040204" pitchFamily="34" charset="-120"/>
              </a:rPr>
              <a:t>Exploit</a:t>
            </a:r>
            <a:r>
              <a:rPr lang="zh-TW" altLang="en-US" b="1" dirty="0">
                <a:solidFill>
                  <a:srgbClr val="FFC000"/>
                </a:solidFill>
                <a:latin typeface="微軟正黑體" panose="020B0604030504040204" pitchFamily="34" charset="-120"/>
                <a:ea typeface="微軟正黑體" panose="020B0604030504040204" pitchFamily="34" charset="-120"/>
              </a:rPr>
              <a:t>）</a:t>
            </a:r>
            <a:endParaRPr lang="en-US" altLang="zh-TW" b="1" dirty="0">
              <a:solidFill>
                <a:srgbClr val="FFC000"/>
              </a:solidFill>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例如：假設手上有</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張餐卷，可以到任意的餐廳用餐</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每吃完一餐後，會給這份餐點一個評分</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最後將</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餐的評分加總起來，該如何獲得最高的分數呢</a:t>
            </a:r>
            <a:r>
              <a:rPr lang="en-US" altLang="zh-TW"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18698924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增強學習</a:t>
            </a:r>
          </a:p>
        </p:txBody>
      </p:sp>
      <p:sp>
        <p:nvSpPr>
          <p:cNvPr id="3" name="內容版面配置區 2"/>
          <p:cNvSpPr>
            <a:spLocks noGrp="1"/>
          </p:cNvSpPr>
          <p:nvPr>
            <p:ph idx="1"/>
          </p:nvPr>
        </p:nvSpPr>
        <p:spPr/>
        <p:txBody>
          <a:bodyPr/>
          <a:lstStyle/>
          <a:p>
            <a:r>
              <a:rPr lang="zh-TW" altLang="en-US" b="1" dirty="0">
                <a:solidFill>
                  <a:srgbClr val="FFC000"/>
                </a:solidFill>
                <a:latin typeface="微軟正黑體" panose="020B0604030504040204" pitchFamily="34" charset="-120"/>
                <a:ea typeface="微軟正黑體" panose="020B0604030504040204" pitchFamily="34" charset="-120"/>
              </a:rPr>
              <a:t>增強學習</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那要怎樣才會知道何種狀態下該執行什麼動作才會得到較高的獎勵</a:t>
            </a:r>
            <a:r>
              <a:rPr lang="en-US" altLang="zh-TW" dirty="0">
                <a:latin typeface="微軟正黑體" panose="020B0604030504040204" pitchFamily="34" charset="-120"/>
                <a:ea typeface="微軟正黑體" panose="020B0604030504040204" pitchFamily="34" charset="-120"/>
              </a:rPr>
              <a:t>?</a:t>
            </a:r>
          </a:p>
          <a:p>
            <a:pPr lvl="2"/>
            <a:r>
              <a:rPr lang="zh-TW" altLang="en-US" b="1" dirty="0">
                <a:solidFill>
                  <a:srgbClr val="FFC000"/>
                </a:solidFill>
                <a:latin typeface="微軟正黑體" panose="020B0604030504040204" pitchFamily="34" charset="-120"/>
                <a:ea typeface="微軟正黑體" panose="020B0604030504040204" pitchFamily="34" charset="-120"/>
              </a:rPr>
              <a:t>探索（</a:t>
            </a:r>
            <a:r>
              <a:rPr lang="en-US" altLang="zh-TW" b="1" dirty="0">
                <a:solidFill>
                  <a:srgbClr val="FFC000"/>
                </a:solidFill>
                <a:latin typeface="微軟正黑體" panose="020B0604030504040204" pitchFamily="34" charset="-120"/>
                <a:ea typeface="微軟正黑體" panose="020B0604030504040204" pitchFamily="34" charset="-120"/>
              </a:rPr>
              <a:t>Explore</a:t>
            </a:r>
            <a:r>
              <a:rPr lang="zh-TW" altLang="en-US" b="1" dirty="0">
                <a:solidFill>
                  <a:srgbClr val="FFC000"/>
                </a:solidFill>
                <a:latin typeface="微軟正黑體" panose="020B0604030504040204" pitchFamily="34" charset="-120"/>
                <a:ea typeface="微軟正黑體" panose="020B0604030504040204" pitchFamily="34" charset="-120"/>
              </a:rPr>
              <a:t>）及利用（</a:t>
            </a:r>
            <a:r>
              <a:rPr lang="en-US" altLang="zh-TW" b="1" dirty="0">
                <a:solidFill>
                  <a:srgbClr val="FFC000"/>
                </a:solidFill>
                <a:latin typeface="微軟正黑體" panose="020B0604030504040204" pitchFamily="34" charset="-120"/>
                <a:ea typeface="微軟正黑體" panose="020B0604030504040204" pitchFamily="34" charset="-120"/>
              </a:rPr>
              <a:t>Exploit</a:t>
            </a:r>
            <a:r>
              <a:rPr lang="zh-TW" altLang="en-US" b="1" dirty="0">
                <a:solidFill>
                  <a:srgbClr val="FFC000"/>
                </a:solidFill>
                <a:latin typeface="微軟正黑體" panose="020B0604030504040204" pitchFamily="34" charset="-120"/>
                <a:ea typeface="微軟正黑體" panose="020B0604030504040204" pitchFamily="34" charset="-120"/>
              </a:rPr>
              <a:t>）</a:t>
            </a:r>
            <a:endParaRPr lang="en-US" altLang="zh-TW" b="1" dirty="0">
              <a:solidFill>
                <a:srgbClr val="FFC000"/>
              </a:solidFill>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目標：找到最好吃的那間後，就一直去光顧這間餐廳</a:t>
            </a:r>
          </a:p>
          <a:p>
            <a:pPr lvl="2"/>
            <a:r>
              <a:rPr lang="zh-TW" altLang="en-US" dirty="0">
                <a:latin typeface="微軟正黑體" panose="020B0604030504040204" pitchFamily="34" charset="-120"/>
                <a:ea typeface="微軟正黑體" panose="020B0604030504040204" pitchFamily="34" charset="-120"/>
              </a:rPr>
              <a:t>探索：找新的餐廳</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利用：去光顧目前已知最好吃的餐廳（最高分）</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但過多的探索可能會導致即使找到了最高分的餐廳，手上也剩沒有多少餐卷了</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或者是過多的利用會導致無法有效地提升分數總和</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9804675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增強學習</a:t>
            </a:r>
          </a:p>
        </p:txBody>
      </p:sp>
      <p:sp>
        <p:nvSpPr>
          <p:cNvPr id="3" name="內容版面配置區 2"/>
          <p:cNvSpPr>
            <a:spLocks noGrp="1"/>
          </p:cNvSpPr>
          <p:nvPr>
            <p:ph idx="1"/>
          </p:nvPr>
        </p:nvSpPr>
        <p:spPr/>
        <p:txBody>
          <a:bodyPr/>
          <a:lstStyle/>
          <a:p>
            <a:r>
              <a:rPr lang="zh-TW" altLang="en-US" b="1" dirty="0">
                <a:solidFill>
                  <a:srgbClr val="FFC000"/>
                </a:solidFill>
                <a:latin typeface="微軟正黑體" panose="020B0604030504040204" pitchFamily="34" charset="-120"/>
                <a:ea typeface="微軟正黑體" panose="020B0604030504040204" pitchFamily="34" charset="-120"/>
              </a:rPr>
              <a:t>增強學習</a:t>
            </a:r>
            <a:endParaRPr lang="en-US" altLang="zh-TW" b="1" dirty="0">
              <a:solidFill>
                <a:srgbClr val="FFC000"/>
              </a:solidFill>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那要怎樣才會知道何種狀態下該執行什麼動作才會得到較高的獎勵</a:t>
            </a:r>
            <a:r>
              <a:rPr lang="en-US" altLang="zh-TW" dirty="0">
                <a:latin typeface="微軟正黑體" panose="020B0604030504040204" pitchFamily="34" charset="-120"/>
                <a:ea typeface="微軟正黑體" panose="020B0604030504040204" pitchFamily="34" charset="-120"/>
              </a:rPr>
              <a:t>?</a:t>
            </a:r>
          </a:p>
          <a:p>
            <a:pPr lvl="2"/>
            <a:r>
              <a:rPr lang="zh-TW" altLang="en-US" b="1" dirty="0">
                <a:solidFill>
                  <a:srgbClr val="FFC000"/>
                </a:solidFill>
                <a:latin typeface="微軟正黑體" panose="020B0604030504040204" pitchFamily="34" charset="-120"/>
                <a:ea typeface="微軟正黑體" panose="020B0604030504040204" pitchFamily="34" charset="-120"/>
              </a:rPr>
              <a:t>探索（</a:t>
            </a:r>
            <a:r>
              <a:rPr lang="en-US" altLang="zh-TW" b="1" dirty="0">
                <a:solidFill>
                  <a:srgbClr val="FFC000"/>
                </a:solidFill>
                <a:latin typeface="微軟正黑體" panose="020B0604030504040204" pitchFamily="34" charset="-120"/>
                <a:ea typeface="微軟正黑體" panose="020B0604030504040204" pitchFamily="34" charset="-120"/>
              </a:rPr>
              <a:t>Explore</a:t>
            </a:r>
            <a:r>
              <a:rPr lang="zh-TW" altLang="en-US" b="1" dirty="0">
                <a:solidFill>
                  <a:srgbClr val="FFC000"/>
                </a:solidFill>
                <a:latin typeface="微軟正黑體" panose="020B0604030504040204" pitchFamily="34" charset="-120"/>
                <a:ea typeface="微軟正黑體" panose="020B0604030504040204" pitchFamily="34" charset="-120"/>
              </a:rPr>
              <a:t>）及利用（</a:t>
            </a:r>
            <a:r>
              <a:rPr lang="en-US" altLang="zh-TW" b="1" dirty="0">
                <a:solidFill>
                  <a:srgbClr val="FFC000"/>
                </a:solidFill>
                <a:latin typeface="微軟正黑體" panose="020B0604030504040204" pitchFamily="34" charset="-120"/>
                <a:ea typeface="微軟正黑體" panose="020B0604030504040204" pitchFamily="34" charset="-120"/>
              </a:rPr>
              <a:t>Exploit</a:t>
            </a:r>
            <a:r>
              <a:rPr lang="zh-TW" altLang="en-US" b="1" dirty="0">
                <a:solidFill>
                  <a:srgbClr val="FFC000"/>
                </a:solidFill>
                <a:latin typeface="微軟正黑體" panose="020B0604030504040204" pitchFamily="34" charset="-120"/>
                <a:ea typeface="微軟正黑體" panose="020B0604030504040204" pitchFamily="34" charset="-120"/>
              </a:rPr>
              <a:t>）</a:t>
            </a:r>
            <a:endParaRPr lang="en-US" altLang="zh-TW" b="1" dirty="0">
              <a:solidFill>
                <a:srgbClr val="FFC000"/>
              </a:solidFill>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目標：找到最好吃的那間後，就一直去光顧這間餐廳</a:t>
            </a:r>
          </a:p>
          <a:p>
            <a:pPr lvl="2"/>
            <a:r>
              <a:rPr lang="zh-TW" altLang="en-US" dirty="0">
                <a:latin typeface="微軟正黑體" panose="020B0604030504040204" pitchFamily="34" charset="-120"/>
                <a:ea typeface="微軟正黑體" panose="020B0604030504040204" pitchFamily="34" charset="-120"/>
              </a:rPr>
              <a:t>探索：找新的餐廳</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利用：去光顧目前已知最好吃的餐廳（最高分）</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但過多的探索可能會導致即使找到了最高分的餐廳，手上也剩沒有多少餐卷了</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或者是過多的利用會導致無法有效地提升分數總和</a:t>
            </a:r>
            <a:endParaRPr lang="en-US" altLang="zh-TW" dirty="0">
              <a:latin typeface="微軟正黑體" panose="020B0604030504040204" pitchFamily="34" charset="-120"/>
              <a:ea typeface="微軟正黑體" panose="020B0604030504040204" pitchFamily="34" charset="-120"/>
            </a:endParaRPr>
          </a:p>
        </p:txBody>
      </p:sp>
      <p:sp>
        <p:nvSpPr>
          <p:cNvPr id="5" name="文字方塊 4"/>
          <p:cNvSpPr txBox="1"/>
          <p:nvPr/>
        </p:nvSpPr>
        <p:spPr>
          <a:xfrm>
            <a:off x="1141411" y="5791201"/>
            <a:ext cx="9905999" cy="923330"/>
          </a:xfrm>
          <a:prstGeom prst="rect">
            <a:avLst/>
          </a:prstGeom>
          <a:solidFill>
            <a:schemeClr val="accent5"/>
          </a:solidFill>
          <a:ln w="50800">
            <a:solidFill>
              <a:srgbClr val="FF0000"/>
            </a:solidFill>
          </a:ln>
        </p:spPr>
        <p:txBody>
          <a:bodyPr wrap="square" rtlCol="0">
            <a:spAutoFit/>
          </a:bodyPr>
          <a:lstStyle/>
          <a:p>
            <a:pPr marL="285750" indent="-285750">
              <a:buFont typeface="Wingdings" panose="05000000000000000000" pitchFamily="2" charset="2"/>
              <a:buChar char="p"/>
            </a:pPr>
            <a:r>
              <a:rPr lang="zh-TW" altLang="en-US" dirty="0">
                <a:solidFill>
                  <a:schemeClr val="bg1"/>
                </a:solidFill>
                <a:latin typeface="微軟正黑體" panose="020B0604030504040204" pitchFamily="34" charset="-120"/>
                <a:ea typeface="微軟正黑體" panose="020B0604030504040204" pitchFamily="34" charset="-120"/>
              </a:rPr>
              <a:t>在有限的環境條件中（</a:t>
            </a:r>
            <a:r>
              <a:rPr lang="en-US" altLang="zh-TW" dirty="0">
                <a:solidFill>
                  <a:schemeClr val="bg1"/>
                </a:solidFill>
                <a:latin typeface="微軟正黑體" panose="020B0604030504040204" pitchFamily="34" charset="-120"/>
                <a:ea typeface="微軟正黑體" panose="020B0604030504040204" pitchFamily="34" charset="-120"/>
              </a:rPr>
              <a:t>100</a:t>
            </a:r>
            <a:r>
              <a:rPr lang="zh-TW" altLang="en-US" dirty="0">
                <a:solidFill>
                  <a:schemeClr val="bg1"/>
                </a:solidFill>
                <a:latin typeface="微軟正黑體" panose="020B0604030504040204" pitchFamily="34" charset="-120"/>
                <a:ea typeface="微軟正黑體" panose="020B0604030504040204" pitchFamily="34" charset="-120"/>
              </a:rPr>
              <a:t>張餐卷），一部份的精力用於探索未知的可能（找更好吃的餐廳），一部份則是利用在已知的最佳策略（目前最好吃的餐廳）</a:t>
            </a:r>
            <a:endParaRPr lang="en-US" altLang="zh-TW" dirty="0">
              <a:solidFill>
                <a:schemeClr val="bg1"/>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p"/>
            </a:pPr>
            <a:r>
              <a:rPr lang="zh-TW" altLang="en-US" dirty="0">
                <a:solidFill>
                  <a:schemeClr val="bg1"/>
                </a:solidFill>
                <a:latin typeface="微軟正黑體" panose="020B0604030504040204" pitchFamily="34" charset="-120"/>
                <a:ea typeface="微軟正黑體" panose="020B0604030504040204" pitchFamily="34" charset="-120"/>
              </a:rPr>
              <a:t>好的演算法會試著在兩者間尋求平衡，將利益最大化</a:t>
            </a:r>
          </a:p>
        </p:txBody>
      </p:sp>
    </p:spTree>
    <p:extLst>
      <p:ext uri="{BB962C8B-B14F-4D97-AF65-F5344CB8AC3E}">
        <p14:creationId xmlns:p14="http://schemas.microsoft.com/office/powerpoint/2010/main" val="14795724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9E8E44-DF3D-4C47-3923-FA2AF9CBBFE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831FE53-D797-05FF-4825-7FED1E04170A}"/>
              </a:ext>
            </a:extLst>
          </p:cNvPr>
          <p:cNvSpPr>
            <a:spLocks noGrp="1"/>
          </p:cNvSpPr>
          <p:nvPr>
            <p:ph idx="1"/>
          </p:nvPr>
        </p:nvSpPr>
        <p:spPr/>
        <p:txBody>
          <a:bodyPr/>
          <a:lstStyle/>
          <a:p>
            <a:r>
              <a:rPr lang="en-US" altLang="zh-TW" dirty="0">
                <a:hlinkClick r:id="rId2"/>
              </a:rPr>
              <a:t>https://www.youtube.com/watch?v=4w0QS9ADlu8</a:t>
            </a:r>
            <a:endParaRPr lang="en-US" altLang="zh-TW" dirty="0"/>
          </a:p>
          <a:p>
            <a:endParaRPr lang="zh-TW" altLang="en-US" dirty="0"/>
          </a:p>
        </p:txBody>
      </p:sp>
    </p:spTree>
    <p:extLst>
      <p:ext uri="{BB962C8B-B14F-4D97-AF65-F5344CB8AC3E}">
        <p14:creationId xmlns:p14="http://schemas.microsoft.com/office/powerpoint/2010/main" val="24834009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電路">
  <a:themeElements>
    <a:clrScheme name="電路">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電路">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電路">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TM04033919[[fn=電路]]</Template>
  <TotalTime>10243</TotalTime>
  <Words>5400</Words>
  <Application>Microsoft Office PowerPoint</Application>
  <PresentationFormat>寬螢幕</PresentationFormat>
  <Paragraphs>1428</Paragraphs>
  <Slides>78</Slides>
  <Notes>10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78</vt:i4>
      </vt:variant>
    </vt:vector>
  </HeadingPairs>
  <TitlesOfParts>
    <vt:vector size="84" baseType="lpstr">
      <vt:lpstr>微軟正黑體</vt:lpstr>
      <vt:lpstr>Arial</vt:lpstr>
      <vt:lpstr>Calibri</vt:lpstr>
      <vt:lpstr>Tw Cen MT</vt:lpstr>
      <vt:lpstr>Wingdings</vt:lpstr>
      <vt:lpstr>電路</vt:lpstr>
      <vt:lpstr>機器是怎麼學東西的</vt:lpstr>
      <vt:lpstr>機器是怎麼學東西的</vt:lpstr>
      <vt:lpstr>機器是怎麼學東西的</vt:lpstr>
      <vt:lpstr>機器是怎麼學東西的</vt:lpstr>
      <vt:lpstr>機器是怎麼學東西的</vt:lpstr>
      <vt:lpstr>機器是怎麼學東西的</vt:lpstr>
      <vt:lpstr>機器是怎麼學東西的</vt:lpstr>
      <vt:lpstr>機器是怎麼學東西的</vt:lpstr>
      <vt:lpstr>機器是怎麼學東西的</vt:lpstr>
      <vt:lpstr>機器是怎麼學東西的</vt:lpstr>
      <vt:lpstr>機器是怎麼學東西的</vt:lpstr>
      <vt:lpstr>機器是怎麼學東西的</vt:lpstr>
      <vt:lpstr>機器是怎麼學東西的</vt:lpstr>
      <vt:lpstr>機器是怎麼學東西的</vt:lpstr>
      <vt:lpstr>PowerPoint 簡報</vt:lpstr>
      <vt:lpstr>機器學習演算法的分類</vt:lpstr>
      <vt:lpstr>機器學習演算法的分類</vt:lpstr>
      <vt:lpstr>機器學習演算法的分類</vt:lpstr>
      <vt:lpstr>機器學習演算法的分類</vt:lpstr>
      <vt:lpstr>機器學習演算法的分類</vt:lpstr>
      <vt:lpstr>機器學習演算法的分類</vt:lpstr>
      <vt:lpstr>機器學習演算法的分類</vt:lpstr>
      <vt:lpstr>PowerPoint 簡報</vt:lpstr>
      <vt:lpstr>監督式學習</vt:lpstr>
      <vt:lpstr>監督式學習</vt:lpstr>
      <vt:lpstr>監督式學習</vt:lpstr>
      <vt:lpstr>監督式學習</vt:lpstr>
      <vt:lpstr>PowerPoint 簡報</vt:lpstr>
      <vt:lpstr>PowerPoint 簡報</vt:lpstr>
      <vt:lpstr>PowerPoint 簡報</vt:lpstr>
      <vt:lpstr>PowerPoint 簡報</vt:lpstr>
      <vt:lpstr>監督式學習</vt:lpstr>
      <vt:lpstr>監督式學習</vt:lpstr>
      <vt:lpstr>監督式學習</vt:lpstr>
      <vt:lpstr>監督式學習</vt:lpstr>
      <vt:lpstr>監督式學習</vt:lpstr>
      <vt:lpstr>監督式學習</vt:lpstr>
      <vt:lpstr>監督式學習</vt:lpstr>
      <vt:lpstr>監督式學習</vt:lpstr>
      <vt:lpstr>PowerPoint 簡報</vt:lpstr>
      <vt:lpstr>PowerPoint 簡報</vt:lpstr>
      <vt:lpstr>PowerPoint 簡報</vt:lpstr>
      <vt:lpstr>PowerPoint 簡報</vt:lpstr>
      <vt:lpstr>監督式學習</vt:lpstr>
      <vt:lpstr>監督式學習</vt:lpstr>
      <vt:lpstr>監督式學習</vt:lpstr>
      <vt:lpstr>監督式學習</vt:lpstr>
      <vt:lpstr>監督式學習</vt:lpstr>
      <vt:lpstr>監督式學習</vt:lpstr>
      <vt:lpstr>監督式學習</vt:lpstr>
      <vt:lpstr>監督式學習</vt:lpstr>
      <vt:lpstr>監督式學習</vt:lpstr>
      <vt:lpstr>監督式學習</vt:lpstr>
      <vt:lpstr>監督式學習</vt:lpstr>
      <vt:lpstr>監督式學習</vt:lpstr>
      <vt:lpstr>監督式學習</vt:lpstr>
      <vt:lpstr>監督式學習</vt:lpstr>
      <vt:lpstr>監督式學習</vt:lpstr>
      <vt:lpstr>PowerPoint 簡報</vt:lpstr>
      <vt:lpstr>非監督式學習</vt:lpstr>
      <vt:lpstr>非監督式學習</vt:lpstr>
      <vt:lpstr>PowerPoint 簡報</vt:lpstr>
      <vt:lpstr>PowerPoint 簡報</vt:lpstr>
      <vt:lpstr>PowerPoint 簡報</vt:lpstr>
      <vt:lpstr>PowerPoint 簡報</vt:lpstr>
      <vt:lpstr>PowerPoint 簡報</vt:lpstr>
      <vt:lpstr>PowerPoint 簡報</vt:lpstr>
      <vt:lpstr>非監督式學習</vt:lpstr>
      <vt:lpstr>PowerPoint 簡報</vt:lpstr>
      <vt:lpstr>PowerPoint 簡報</vt:lpstr>
      <vt:lpstr>PowerPoint 簡報</vt:lpstr>
      <vt:lpstr>增強學習</vt:lpstr>
      <vt:lpstr>增強學習</vt:lpstr>
      <vt:lpstr>增強學習</vt:lpstr>
      <vt:lpstr>增強學習</vt:lpstr>
      <vt:lpstr>增強學習</vt:lpstr>
      <vt:lpstr>增強學習</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機器學習基礎理論與實作</dc:title>
  <dc:creator>Ray</dc:creator>
  <cp:lastModifiedBy>張哲誠</cp:lastModifiedBy>
  <cp:revision>183</cp:revision>
  <dcterms:created xsi:type="dcterms:W3CDTF">2019-11-16T08:00:53Z</dcterms:created>
  <dcterms:modified xsi:type="dcterms:W3CDTF">2026-03-26T22:38:47Z</dcterms:modified>
</cp:coreProperties>
</file>