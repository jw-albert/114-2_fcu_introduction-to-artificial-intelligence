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 id="2147483819" r:id="rId2"/>
  </p:sldMasterIdLst>
  <p:notesMasterIdLst>
    <p:notesMasterId r:id="rId35"/>
  </p:notesMasterIdLst>
  <p:sldIdLst>
    <p:sldId id="256" r:id="rId3"/>
    <p:sldId id="373" r:id="rId4"/>
    <p:sldId id="377" r:id="rId5"/>
    <p:sldId id="387" r:id="rId6"/>
    <p:sldId id="388" r:id="rId7"/>
    <p:sldId id="389" r:id="rId8"/>
    <p:sldId id="390" r:id="rId9"/>
    <p:sldId id="391" r:id="rId10"/>
    <p:sldId id="392" r:id="rId11"/>
    <p:sldId id="393" r:id="rId12"/>
    <p:sldId id="394" r:id="rId13"/>
    <p:sldId id="416" r:id="rId14"/>
    <p:sldId id="417" r:id="rId15"/>
    <p:sldId id="407" r:id="rId16"/>
    <p:sldId id="421" r:id="rId17"/>
    <p:sldId id="422" r:id="rId18"/>
    <p:sldId id="423" r:id="rId19"/>
    <p:sldId id="425" r:id="rId20"/>
    <p:sldId id="426" r:id="rId21"/>
    <p:sldId id="428" r:id="rId22"/>
    <p:sldId id="429" r:id="rId23"/>
    <p:sldId id="384" r:id="rId24"/>
    <p:sldId id="397" r:id="rId25"/>
    <p:sldId id="398" r:id="rId26"/>
    <p:sldId id="403" r:id="rId27"/>
    <p:sldId id="395" r:id="rId28"/>
    <p:sldId id="412" r:id="rId29"/>
    <p:sldId id="414" r:id="rId30"/>
    <p:sldId id="415" r:id="rId31"/>
    <p:sldId id="404" r:id="rId32"/>
    <p:sldId id="333" r:id="rId33"/>
    <p:sldId id="259" r:id="rId3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9296DB-1FEE-4C1B-8D4A-D461863AAD66}" v="1" dt="2026-04-09T12:54:26.09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14" y="8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張哲誠" userId="5d6e92af-707e-44d9-a48f-9a80309f0b3d" providerId="ADAL" clId="{87957148-FB1E-4665-A019-A686AD00C742}"/>
    <pc:docChg chg="addSld delSld modSld">
      <pc:chgData name="張哲誠" userId="5d6e92af-707e-44d9-a48f-9a80309f0b3d" providerId="ADAL" clId="{87957148-FB1E-4665-A019-A686AD00C742}" dt="2026-04-09T13:40:59.904" v="2" actId="47"/>
      <pc:docMkLst>
        <pc:docMk/>
      </pc:docMkLst>
      <pc:sldChg chg="add">
        <pc:chgData name="張哲誠" userId="5d6e92af-707e-44d9-a48f-9a80309f0b3d" providerId="ADAL" clId="{87957148-FB1E-4665-A019-A686AD00C742}" dt="2026-04-09T12:54:26.081" v="1"/>
        <pc:sldMkLst>
          <pc:docMk/>
          <pc:sldMk cId="3599561706" sldId="407"/>
        </pc:sldMkLst>
      </pc:sldChg>
      <pc:sldChg chg="new">
        <pc:chgData name="張哲誠" userId="5d6e92af-707e-44d9-a48f-9a80309f0b3d" providerId="ADAL" clId="{87957148-FB1E-4665-A019-A686AD00C742}" dt="2026-04-09T12:54:22.993" v="0" actId="680"/>
        <pc:sldMkLst>
          <pc:docMk/>
          <pc:sldMk cId="1581639444" sldId="416"/>
        </pc:sldMkLst>
      </pc:sldChg>
      <pc:sldChg chg="add">
        <pc:chgData name="張哲誠" userId="5d6e92af-707e-44d9-a48f-9a80309f0b3d" providerId="ADAL" clId="{87957148-FB1E-4665-A019-A686AD00C742}" dt="2026-04-09T12:54:26.081" v="1"/>
        <pc:sldMkLst>
          <pc:docMk/>
          <pc:sldMk cId="577628930" sldId="417"/>
        </pc:sldMkLst>
      </pc:sldChg>
      <pc:sldChg chg="add">
        <pc:chgData name="張哲誠" userId="5d6e92af-707e-44d9-a48f-9a80309f0b3d" providerId="ADAL" clId="{87957148-FB1E-4665-A019-A686AD00C742}" dt="2026-04-09T12:54:26.081" v="1"/>
        <pc:sldMkLst>
          <pc:docMk/>
          <pc:sldMk cId="4159132242" sldId="421"/>
        </pc:sldMkLst>
      </pc:sldChg>
      <pc:sldChg chg="add">
        <pc:chgData name="張哲誠" userId="5d6e92af-707e-44d9-a48f-9a80309f0b3d" providerId="ADAL" clId="{87957148-FB1E-4665-A019-A686AD00C742}" dt="2026-04-09T12:54:26.081" v="1"/>
        <pc:sldMkLst>
          <pc:docMk/>
          <pc:sldMk cId="1515322382" sldId="422"/>
        </pc:sldMkLst>
      </pc:sldChg>
      <pc:sldChg chg="add">
        <pc:chgData name="張哲誠" userId="5d6e92af-707e-44d9-a48f-9a80309f0b3d" providerId="ADAL" clId="{87957148-FB1E-4665-A019-A686AD00C742}" dt="2026-04-09T12:54:26.081" v="1"/>
        <pc:sldMkLst>
          <pc:docMk/>
          <pc:sldMk cId="672398684" sldId="423"/>
        </pc:sldMkLst>
      </pc:sldChg>
      <pc:sldChg chg="add">
        <pc:chgData name="張哲誠" userId="5d6e92af-707e-44d9-a48f-9a80309f0b3d" providerId="ADAL" clId="{87957148-FB1E-4665-A019-A686AD00C742}" dt="2026-04-09T12:54:26.081" v="1"/>
        <pc:sldMkLst>
          <pc:docMk/>
          <pc:sldMk cId="3988480377" sldId="425"/>
        </pc:sldMkLst>
      </pc:sldChg>
      <pc:sldChg chg="add">
        <pc:chgData name="張哲誠" userId="5d6e92af-707e-44d9-a48f-9a80309f0b3d" providerId="ADAL" clId="{87957148-FB1E-4665-A019-A686AD00C742}" dt="2026-04-09T12:54:26.081" v="1"/>
        <pc:sldMkLst>
          <pc:docMk/>
          <pc:sldMk cId="1516011545" sldId="426"/>
        </pc:sldMkLst>
      </pc:sldChg>
      <pc:sldChg chg="add">
        <pc:chgData name="張哲誠" userId="5d6e92af-707e-44d9-a48f-9a80309f0b3d" providerId="ADAL" clId="{87957148-FB1E-4665-A019-A686AD00C742}" dt="2026-04-09T12:54:26.081" v="1"/>
        <pc:sldMkLst>
          <pc:docMk/>
          <pc:sldMk cId="769758790" sldId="428"/>
        </pc:sldMkLst>
      </pc:sldChg>
      <pc:sldChg chg="add">
        <pc:chgData name="張哲誠" userId="5d6e92af-707e-44d9-a48f-9a80309f0b3d" providerId="ADAL" clId="{87957148-FB1E-4665-A019-A686AD00C742}" dt="2026-04-09T12:54:26.081" v="1"/>
        <pc:sldMkLst>
          <pc:docMk/>
          <pc:sldMk cId="2076847403" sldId="429"/>
        </pc:sldMkLst>
      </pc:sldChg>
      <pc:sldChg chg="add del">
        <pc:chgData name="張哲誠" userId="5d6e92af-707e-44d9-a48f-9a80309f0b3d" providerId="ADAL" clId="{87957148-FB1E-4665-A019-A686AD00C742}" dt="2026-04-09T13:40:59.904" v="2" actId="47"/>
        <pc:sldMkLst>
          <pc:docMk/>
          <pc:sldMk cId="3563044152" sldId="4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DD2AE1-4F1C-4587-8B81-76212F264A12}" type="datetimeFigureOut">
              <a:rPr lang="zh-TW" altLang="en-US" smtClean="0"/>
              <a:t>2026/4/9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9203B-478A-4F15-9385-772DE2E1D524}" type="slidenum">
              <a:rPr lang="zh-TW" altLang="en-US" smtClean="0"/>
              <a:t>‹#›</a:t>
            </a:fld>
            <a:endParaRPr lang="zh-TW" altLang="en-US"/>
          </a:p>
        </p:txBody>
      </p:sp>
    </p:spTree>
    <p:extLst>
      <p:ext uri="{BB962C8B-B14F-4D97-AF65-F5344CB8AC3E}">
        <p14:creationId xmlns:p14="http://schemas.microsoft.com/office/powerpoint/2010/main" val="1266580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D4DA1C-903D-4734-9FD4-63059C5936E9}"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72026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572604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36074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423568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19448287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8670342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819870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014297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TW" altLang="en-US"/>
              <a:t>按一下以編輯母片標題樣式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1452152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9B57E17-8F56-4A3B-902A-CD16B5090302}" type="slidenum">
              <a:rPr lang="zh-TW" altLang="en-US" smtClean="0"/>
              <a:t>‹#›</a:t>
            </a:fld>
            <a:endParaRPr lang="zh-TW" altLang="en-US"/>
          </a:p>
        </p:txBody>
      </p:sp>
      <p:sp>
        <p:nvSpPr>
          <p:cNvPr id="5" name="Date Placeholder 4"/>
          <p:cNvSpPr>
            <a:spLocks noGrp="1"/>
          </p:cNvSpPr>
          <p:nvPr>
            <p:ph type="dt" sz="half" idx="10"/>
          </p:nvPr>
        </p:nvSpPr>
        <p:spPr/>
        <p:txBody>
          <a:bodyPr/>
          <a:lstStyle/>
          <a:p>
            <a:fld id="{A5CA501A-E6BD-46D2-BD25-59A76987027A}" type="datetimeFigureOut">
              <a:rPr lang="zh-TW" altLang="en-US" smtClean="0"/>
              <a:t>2026/4/9</a:t>
            </a:fld>
            <a:endParaRPr lang="zh-TW" altLang="en-US"/>
          </a:p>
        </p:txBody>
      </p:sp>
    </p:spTree>
    <p:extLst>
      <p:ext uri="{BB962C8B-B14F-4D97-AF65-F5344CB8AC3E}">
        <p14:creationId xmlns:p14="http://schemas.microsoft.com/office/powerpoint/2010/main" val="230193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2368261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3351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1814250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9622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TW" altLang="en-US"/>
              <a:t>按一下以編輯母片標題樣式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a:t>編輯母片文字樣式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442279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4042148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3792767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TW" altLang="en-US"/>
              <a:t>按一下以編輯母片標題樣式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3872059-2B87-4DC7-8B67-4E1111268401}" type="datetimeFigureOut">
              <a:rPr lang="zh-TW" altLang="en-US" smtClean="0"/>
              <a:t>2026/4/9</a:t>
            </a:fld>
            <a:endParaRPr lang="zh-TW" altLang="en-US"/>
          </a:p>
        </p:txBody>
      </p:sp>
      <p:sp>
        <p:nvSpPr>
          <p:cNvPr id="5" name="Footer Placeholder 4"/>
          <p:cNvSpPr>
            <a:spLocks noGrp="1"/>
          </p:cNvSpPr>
          <p:nvPr>
            <p:ph type="ftr" sz="quarter" idx="11"/>
          </p:nvPr>
        </p:nvSpPr>
        <p:spPr>
          <a:xfrm>
            <a:off x="1876424" y="5410201"/>
            <a:ext cx="5124886" cy="365125"/>
          </a:xfrm>
        </p:spPr>
        <p:txBody>
          <a:bodyPr/>
          <a:lstStyle/>
          <a:p>
            <a:endParaRPr lang="zh-TW" altLang="en-US"/>
          </a:p>
        </p:txBody>
      </p:sp>
      <p:sp>
        <p:nvSpPr>
          <p:cNvPr id="6" name="Slide Number Placeholder 5"/>
          <p:cNvSpPr>
            <a:spLocks noGrp="1"/>
          </p:cNvSpPr>
          <p:nvPr>
            <p:ph type="sldNum" sz="quarter" idx="12"/>
          </p:nvPr>
        </p:nvSpPr>
        <p:spPr>
          <a:xfrm>
            <a:off x="9896911" y="5410199"/>
            <a:ext cx="771089" cy="365125"/>
          </a:xfrm>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20164152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254646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TW" altLang="en-US"/>
              <a:t>按一下以編輯母片標題樣式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5337218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370117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141410" y="3073397"/>
            <a:ext cx="4878391" cy="271780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72200" y="3073397"/>
            <a:ext cx="4875210" cy="271780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1617600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2469427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2832782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528105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2607778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TW" altLang="en-US"/>
              <a:t>按一下圖示以新增圖片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9056072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911649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84226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1913057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4347629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22265052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792844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7757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2.pn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TW"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5CA501A-E6BD-46D2-BD25-59A76987027A}" type="datetimeFigureOut">
              <a:rPr lang="zh-TW" altLang="en-US" smtClean="0"/>
              <a:t>2026/4/9</a:t>
            </a:fld>
            <a:endParaRPr lang="zh-TW"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B57E17-8F56-4A3B-902A-CD16B5090302}" type="slidenum">
              <a:rPr lang="zh-TW" altLang="en-US" smtClean="0"/>
              <a:t>‹#›</a:t>
            </a:fld>
            <a:endParaRPr lang="zh-TW" altLang="en-US"/>
          </a:p>
        </p:txBody>
      </p:sp>
    </p:spTree>
    <p:extLst>
      <p:ext uri="{BB962C8B-B14F-4D97-AF65-F5344CB8AC3E}">
        <p14:creationId xmlns:p14="http://schemas.microsoft.com/office/powerpoint/2010/main" val="404069742"/>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zh-TW" alt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3872059-2B87-4DC7-8B67-4E1111268401}" type="datetimeFigureOut">
              <a:rPr lang="zh-TW" altLang="en-US" smtClean="0"/>
              <a:t>2026/4/9</a:t>
            </a:fld>
            <a:endParaRPr lang="zh-TW" alt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27054091"/>
      </p:ext>
    </p:extLst>
  </p:cSld>
  <p:clrMap bg1="dk1" tx1="lt1" bg2="dk2" tx2="lt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人工智慧概論與實務</a:t>
            </a: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41030881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sz="4400" b="1" dirty="0">
                <a:latin typeface="微軟正黑體" panose="020B0604030504040204" pitchFamily="34" charset="-120"/>
                <a:ea typeface="微軟正黑體" panose="020B0604030504040204" pitchFamily="34" charset="-120"/>
              </a:rPr>
              <a:t>專題實作：阿拉伯數字辨識 </a:t>
            </a:r>
            <a:r>
              <a:rPr lang="en-US" altLang="zh-TW" sz="4400" b="1" dirty="0">
                <a:latin typeface="微軟正黑體" panose="020B0604030504040204" pitchFamily="34" charset="-120"/>
                <a:ea typeface="微軟正黑體" panose="020B0604030504040204" pitchFamily="34" charset="-120"/>
              </a:rPr>
              <a:t>MNIST</a:t>
            </a:r>
            <a:endParaRPr lang="zh-TW" altLang="en-US" sz="4400" b="1"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noAutofit/>
          </a:bodyPr>
          <a:lstStyle/>
          <a:p>
            <a:r>
              <a:rPr lang="en-US" altLang="zh-TW" sz="3200" b="1" dirty="0">
                <a:solidFill>
                  <a:srgbClr val="FFC000"/>
                </a:solidFill>
                <a:latin typeface="微軟正黑體" panose="020B0604030504040204" pitchFamily="34" charset="-120"/>
                <a:ea typeface="微軟正黑體" panose="020B0604030504040204" pitchFamily="34" charset="-120"/>
              </a:rPr>
              <a:t>MNIST</a:t>
            </a:r>
          </a:p>
          <a:p>
            <a:pPr lvl="1"/>
            <a:r>
              <a:rPr lang="zh-TW" altLang="en-US" sz="2800" dirty="0">
                <a:latin typeface="微軟正黑體" panose="020B0604030504040204" pitchFamily="34" charset="-120"/>
                <a:ea typeface="微軟正黑體" panose="020B0604030504040204" pitchFamily="34" charset="-120"/>
              </a:rPr>
              <a:t>它包含：</a:t>
            </a:r>
            <a:r>
              <a:rPr lang="en-US" altLang="zh-TW" sz="2800" dirty="0">
                <a:latin typeface="微軟正黑體" panose="020B0604030504040204" pitchFamily="34" charset="-120"/>
                <a:ea typeface="微軟正黑體" panose="020B0604030504040204" pitchFamily="34" charset="-120"/>
              </a:rPr>
              <a:t>60000</a:t>
            </a:r>
            <a:r>
              <a:rPr lang="zh-TW" altLang="en-US" sz="2800" dirty="0">
                <a:latin typeface="微軟正黑體" panose="020B0604030504040204" pitchFamily="34" charset="-120"/>
                <a:ea typeface="微軟正黑體" panose="020B0604030504040204" pitchFamily="34" charset="-120"/>
              </a:rPr>
              <a:t>個訓練資料及</a:t>
            </a:r>
            <a:r>
              <a:rPr lang="en-US" altLang="zh-TW" sz="2800" dirty="0">
                <a:latin typeface="微軟正黑體" panose="020B0604030504040204" pitchFamily="34" charset="-120"/>
                <a:ea typeface="微軟正黑體" panose="020B0604030504040204" pitchFamily="34" charset="-120"/>
              </a:rPr>
              <a:t>10000</a:t>
            </a:r>
            <a:r>
              <a:rPr lang="zh-TW" altLang="en-US" sz="2800" dirty="0">
                <a:latin typeface="微軟正黑體" panose="020B0604030504040204" pitchFamily="34" charset="-120"/>
                <a:ea typeface="微軟正黑體" panose="020B0604030504040204" pitchFamily="34" charset="-120"/>
              </a:rPr>
              <a:t>個測試資料</a:t>
            </a:r>
            <a:endParaRPr lang="en-US" altLang="zh-TW" sz="2800" dirty="0">
              <a:latin typeface="微軟正黑體" panose="020B0604030504040204" pitchFamily="34" charset="-120"/>
              <a:ea typeface="微軟正黑體" panose="020B0604030504040204" pitchFamily="34" charset="-120"/>
            </a:endParaRPr>
          </a:p>
          <a:p>
            <a:pPr lvl="2"/>
            <a:r>
              <a:rPr lang="zh-TW" altLang="en-US" sz="2400" dirty="0">
                <a:latin typeface="微軟正黑體" panose="020B0604030504040204" pitchFamily="34" charset="-120"/>
                <a:ea typeface="微軟正黑體" panose="020B0604030504040204" pitchFamily="34" charset="-120"/>
              </a:rPr>
              <a:t>每筆資料都有影像資料與標籤資訊（正確答案）</a:t>
            </a:r>
            <a:endParaRPr lang="en-US" altLang="zh-TW" sz="2400" dirty="0">
              <a:latin typeface="微軟正黑體" panose="020B0604030504040204" pitchFamily="34" charset="-120"/>
              <a:ea typeface="微軟正黑體" panose="020B0604030504040204" pitchFamily="34" charset="-120"/>
            </a:endParaRPr>
          </a:p>
          <a:p>
            <a:pPr lvl="2"/>
            <a:r>
              <a:rPr lang="zh-TW" altLang="en-US" sz="2400" dirty="0">
                <a:latin typeface="微軟正黑體" panose="020B0604030504040204" pitchFamily="34" charset="-120"/>
                <a:ea typeface="微軟正黑體" panose="020B0604030504040204" pitchFamily="34" charset="-120"/>
              </a:rPr>
              <a:t>影像資料為</a:t>
            </a:r>
            <a:r>
              <a:rPr lang="en-US" altLang="zh-TW" sz="2400" dirty="0">
                <a:latin typeface="微軟正黑體" panose="020B0604030504040204" pitchFamily="34" charset="-120"/>
                <a:ea typeface="微軟正黑體" panose="020B0604030504040204" pitchFamily="34" charset="-120"/>
              </a:rPr>
              <a:t>28*28</a:t>
            </a:r>
            <a:r>
              <a:rPr lang="zh-TW" altLang="en-US" sz="2400" dirty="0">
                <a:latin typeface="微軟正黑體" panose="020B0604030504040204" pitchFamily="34" charset="-120"/>
                <a:ea typeface="微軟正黑體" panose="020B0604030504040204" pitchFamily="34" charset="-120"/>
              </a:rPr>
              <a:t>的灰階圖像，標籤資訊則為</a:t>
            </a:r>
            <a:r>
              <a:rPr lang="en-US" altLang="zh-TW" sz="2400" dirty="0">
                <a:latin typeface="微軟正黑體" panose="020B0604030504040204" pitchFamily="34" charset="-120"/>
                <a:ea typeface="微軟正黑體" panose="020B0604030504040204" pitchFamily="34" charset="-120"/>
              </a:rPr>
              <a:t>0-9</a:t>
            </a:r>
            <a:r>
              <a:rPr lang="zh-TW" altLang="en-US" sz="2400" dirty="0">
                <a:latin typeface="微軟正黑體" panose="020B0604030504040204" pitchFamily="34" charset="-120"/>
                <a:ea typeface="微軟正黑體" panose="020B0604030504040204" pitchFamily="34" charset="-120"/>
              </a:rPr>
              <a:t>的個位數字</a:t>
            </a:r>
            <a:endParaRPr lang="en-US" altLang="zh-TW"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773433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25" y="1719262"/>
            <a:ext cx="6076950" cy="3419475"/>
          </a:xfrm>
          <a:prstGeom prst="rect">
            <a:avLst/>
          </a:prstGeom>
        </p:spPr>
      </p:pic>
      <p:sp>
        <p:nvSpPr>
          <p:cNvPr id="7" name="文字方塊 6"/>
          <p:cNvSpPr txBox="1"/>
          <p:nvPr/>
        </p:nvSpPr>
        <p:spPr>
          <a:xfrm>
            <a:off x="6437765" y="2024190"/>
            <a:ext cx="5652633"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很明顯地，訓練的圖像資料有</a:t>
            </a:r>
            <a:r>
              <a:rPr lang="en-US" altLang="zh-TW" sz="2400" dirty="0">
                <a:solidFill>
                  <a:schemeClr val="bg1"/>
                </a:solidFill>
                <a:latin typeface="微軟正黑體" panose="020B0604030504040204" pitchFamily="34" charset="-120"/>
                <a:ea typeface="微軟正黑體" panose="020B0604030504040204" pitchFamily="34" charset="-120"/>
              </a:rPr>
              <a:t>60000</a:t>
            </a:r>
            <a:r>
              <a:rPr lang="zh-TW" altLang="en-US" sz="2400" dirty="0">
                <a:solidFill>
                  <a:schemeClr val="bg1"/>
                </a:solidFill>
                <a:latin typeface="微軟正黑體" panose="020B0604030504040204" pitchFamily="34" charset="-120"/>
                <a:ea typeface="微軟正黑體" panose="020B0604030504040204" pitchFamily="34" charset="-120"/>
              </a:rPr>
              <a:t>個，每個都是</a:t>
            </a:r>
            <a:r>
              <a:rPr lang="en-US" altLang="zh-TW" sz="2400" dirty="0">
                <a:solidFill>
                  <a:schemeClr val="bg1"/>
                </a:solidFill>
                <a:latin typeface="微軟正黑體" panose="020B0604030504040204" pitchFamily="34" charset="-120"/>
                <a:ea typeface="微軟正黑體" panose="020B0604030504040204" pitchFamily="34" charset="-120"/>
              </a:rPr>
              <a:t>28*28</a:t>
            </a:r>
            <a:r>
              <a:rPr lang="zh-TW" altLang="en-US" sz="2400" dirty="0">
                <a:solidFill>
                  <a:schemeClr val="bg1"/>
                </a:solidFill>
                <a:latin typeface="微軟正黑體" panose="020B0604030504040204" pitchFamily="34" charset="-120"/>
                <a:ea typeface="微軟正黑體" panose="020B0604030504040204" pitchFamily="34" charset="-120"/>
              </a:rPr>
              <a:t>的維度；然後該資料對應的就是</a:t>
            </a:r>
            <a:r>
              <a:rPr lang="en-US" altLang="zh-TW" sz="2400" dirty="0">
                <a:solidFill>
                  <a:schemeClr val="bg1"/>
                </a:solidFill>
                <a:latin typeface="微軟正黑體" panose="020B0604030504040204" pitchFamily="34" charset="-120"/>
                <a:ea typeface="微軟正黑體" panose="020B0604030504040204" pitchFamily="34" charset="-120"/>
              </a:rPr>
              <a:t>60000</a:t>
            </a:r>
            <a:r>
              <a:rPr lang="zh-TW" altLang="en-US" sz="2400" dirty="0">
                <a:solidFill>
                  <a:schemeClr val="bg1"/>
                </a:solidFill>
                <a:latin typeface="微軟正黑體" panose="020B0604030504040204" pitchFamily="34" charset="-120"/>
                <a:ea typeface="微軟正黑體" panose="020B0604030504040204" pitchFamily="34" charset="-120"/>
              </a:rPr>
              <a:t>個標籤資料</a:t>
            </a:r>
          </a:p>
        </p:txBody>
      </p:sp>
      <p:sp>
        <p:nvSpPr>
          <p:cNvPr id="6" name="文字方塊 5"/>
          <p:cNvSpPr txBox="1"/>
          <p:nvPr/>
        </p:nvSpPr>
        <p:spPr>
          <a:xfrm>
            <a:off x="2844800" y="1143396"/>
            <a:ext cx="9114969"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把資料維度印出來，來看看裡面的資料量是不是真的如簡介所說的</a:t>
            </a:r>
          </a:p>
        </p:txBody>
      </p:sp>
      <p:sp>
        <p:nvSpPr>
          <p:cNvPr id="8" name="文字方塊 7"/>
          <p:cNvSpPr txBox="1"/>
          <p:nvPr/>
        </p:nvSpPr>
        <p:spPr>
          <a:xfrm>
            <a:off x="6437765" y="3668315"/>
            <a:ext cx="3533550"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測試資料集也印一下</a:t>
            </a:r>
            <a:r>
              <a:rPr lang="en-US" altLang="zh-TW" sz="2400" dirty="0">
                <a:solidFill>
                  <a:schemeClr val="bg1"/>
                </a:solidFill>
                <a:latin typeface="微軟正黑體" panose="020B0604030504040204" pitchFamily="34" charset="-120"/>
                <a:ea typeface="微軟正黑體" panose="020B0604030504040204" pitchFamily="34" charset="-120"/>
              </a:rPr>
              <a:t>……</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9" name="文字方塊 8"/>
          <p:cNvSpPr txBox="1"/>
          <p:nvPr/>
        </p:nvSpPr>
        <p:spPr>
          <a:xfrm>
            <a:off x="5260971" y="4529638"/>
            <a:ext cx="6829427"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測試的圖像資料有</a:t>
            </a:r>
            <a:r>
              <a:rPr lang="en-US" altLang="zh-TW" sz="2400" dirty="0">
                <a:solidFill>
                  <a:schemeClr val="bg1"/>
                </a:solidFill>
                <a:latin typeface="微軟正黑體" panose="020B0604030504040204" pitchFamily="34" charset="-120"/>
                <a:ea typeface="微軟正黑體" panose="020B0604030504040204" pitchFamily="34" charset="-120"/>
              </a:rPr>
              <a:t>10000</a:t>
            </a:r>
            <a:r>
              <a:rPr lang="zh-TW" altLang="en-US" sz="2400" dirty="0">
                <a:solidFill>
                  <a:schemeClr val="bg1"/>
                </a:solidFill>
                <a:latin typeface="微軟正黑體" panose="020B0604030504040204" pitchFamily="34" charset="-120"/>
                <a:ea typeface="微軟正黑體" panose="020B0604030504040204" pitchFamily="34" charset="-120"/>
              </a:rPr>
              <a:t>個，每個也都是</a:t>
            </a:r>
            <a:r>
              <a:rPr lang="en-US" altLang="zh-TW" sz="2400" dirty="0">
                <a:solidFill>
                  <a:schemeClr val="bg1"/>
                </a:solidFill>
                <a:latin typeface="微軟正黑體" panose="020B0604030504040204" pitchFamily="34" charset="-120"/>
                <a:ea typeface="微軟正黑體" panose="020B0604030504040204" pitchFamily="34" charset="-120"/>
              </a:rPr>
              <a:t>28*28</a:t>
            </a:r>
            <a:r>
              <a:rPr lang="zh-TW" altLang="en-US" sz="2400" dirty="0">
                <a:solidFill>
                  <a:schemeClr val="bg1"/>
                </a:solidFill>
                <a:latin typeface="微軟正黑體" panose="020B0604030504040204" pitchFamily="34" charset="-120"/>
                <a:ea typeface="微軟正黑體" panose="020B0604030504040204" pitchFamily="34" charset="-120"/>
              </a:rPr>
              <a:t>的維度；同時該資料對應的就是</a:t>
            </a:r>
            <a:r>
              <a:rPr lang="en-US" altLang="zh-TW" sz="2400" dirty="0">
                <a:solidFill>
                  <a:schemeClr val="bg1"/>
                </a:solidFill>
                <a:latin typeface="微軟正黑體" panose="020B0604030504040204" pitchFamily="34" charset="-120"/>
                <a:ea typeface="微軟正黑體" panose="020B0604030504040204" pitchFamily="34" charset="-120"/>
              </a:rPr>
              <a:t>10000</a:t>
            </a:r>
            <a:r>
              <a:rPr lang="zh-TW" altLang="en-US" sz="2400" dirty="0">
                <a:solidFill>
                  <a:schemeClr val="bg1"/>
                </a:solidFill>
                <a:latin typeface="微軟正黑體" panose="020B0604030504040204" pitchFamily="34" charset="-120"/>
                <a:ea typeface="微軟正黑體" panose="020B0604030504040204" pitchFamily="34" charset="-120"/>
              </a:rPr>
              <a:t>個標籤資料</a:t>
            </a:r>
          </a:p>
        </p:txBody>
      </p:sp>
      <p:sp>
        <p:nvSpPr>
          <p:cNvPr id="10" name="文字方塊 9"/>
          <p:cNvSpPr txBox="1"/>
          <p:nvPr/>
        </p:nvSpPr>
        <p:spPr>
          <a:xfrm>
            <a:off x="4503549" y="5760293"/>
            <a:ext cx="352145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所以真的符合簡介內容</a:t>
            </a:r>
            <a:r>
              <a:rPr lang="en-US" altLang="zh-TW" sz="2400" dirty="0">
                <a:solidFill>
                  <a:schemeClr val="bg1"/>
                </a:solidFill>
                <a:latin typeface="微軟正黑體" panose="020B0604030504040204" pitchFamily="34" charset="-120"/>
                <a:ea typeface="微軟正黑體" panose="020B0604030504040204" pitchFamily="34" charset="-120"/>
              </a:rPr>
              <a:t>!!!</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983119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p:cNvSpPr txBox="1"/>
          <p:nvPr/>
        </p:nvSpPr>
        <p:spPr>
          <a:xfrm>
            <a:off x="7758127" y="67740"/>
            <a:ext cx="4357673" cy="1200329"/>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在把資料丟進模型訓練之前，需要進行一些資料預處理的步驟</a:t>
            </a:r>
            <a:endParaRPr lang="en-US" altLang="zh-TW" sz="2400" dirty="0">
              <a:solidFill>
                <a:schemeClr val="bg1"/>
              </a:solidFill>
              <a:latin typeface="微軟正黑體" panose="020B0604030504040204" pitchFamily="34" charset="-120"/>
              <a:ea typeface="微軟正黑體" panose="020B0604030504040204" pitchFamily="34" charset="-120"/>
            </a:endParaRPr>
          </a:p>
        </p:txBody>
      </p:sp>
      <p:sp>
        <p:nvSpPr>
          <p:cNvPr id="7" name="文字方塊 6"/>
          <p:cNvSpPr txBox="1"/>
          <p:nvPr/>
        </p:nvSpPr>
        <p:spPr>
          <a:xfrm>
            <a:off x="7790662" y="1458952"/>
            <a:ext cx="4299737"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對於每種不一樣的應用，也會有自己不同的資料預處理的步驟</a:t>
            </a:r>
          </a:p>
        </p:txBody>
      </p:sp>
      <p:sp>
        <p:nvSpPr>
          <p:cNvPr id="9" name="文字方塊 8"/>
          <p:cNvSpPr txBox="1"/>
          <p:nvPr/>
        </p:nvSpPr>
        <p:spPr>
          <a:xfrm>
            <a:off x="7803362" y="2913889"/>
            <a:ext cx="4299737"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有些資料預處理並不是必要的，但有可能會影響最終的預測準確度（所以還是要做</a:t>
            </a:r>
            <a:r>
              <a:rPr lang="en-US" altLang="zh-TW" sz="2400" dirty="0">
                <a:solidFill>
                  <a:schemeClr val="bg1"/>
                </a:solidFill>
                <a:latin typeface="微軟正黑體" panose="020B0604030504040204" pitchFamily="34" charset="-120"/>
                <a:ea typeface="微軟正黑體" panose="020B0604030504040204" pitchFamily="34" charset="-120"/>
              </a:rPr>
              <a:t>…</a:t>
            </a:r>
            <a:r>
              <a:rPr lang="zh-TW" altLang="en-US" sz="2400" dirty="0">
                <a:solidFill>
                  <a:schemeClr val="bg1"/>
                </a:solidFill>
                <a:latin typeface="微軟正黑體" panose="020B0604030504040204" pitchFamily="34" charset="-120"/>
                <a:ea typeface="微軟正黑體" panose="020B0604030504040204" pitchFamily="34" charset="-120"/>
              </a:rPr>
              <a:t>）</a:t>
            </a:r>
          </a:p>
        </p:txBody>
      </p:sp>
      <p:pic>
        <p:nvPicPr>
          <p:cNvPr id="2" name="圖片 1"/>
          <p:cNvPicPr>
            <a:picLocks noChangeAspect="1"/>
          </p:cNvPicPr>
          <p:nvPr/>
        </p:nvPicPr>
        <p:blipFill>
          <a:blip r:embed="rId2"/>
          <a:stretch>
            <a:fillRect/>
          </a:stretch>
        </p:blipFill>
        <p:spPr>
          <a:xfrm>
            <a:off x="38099" y="901347"/>
            <a:ext cx="7694628" cy="5225412"/>
          </a:xfrm>
          <a:prstGeom prst="rect">
            <a:avLst/>
          </a:prstGeom>
        </p:spPr>
      </p:pic>
    </p:spTree>
    <p:extLst>
      <p:ext uri="{BB962C8B-B14F-4D97-AF65-F5344CB8AC3E}">
        <p14:creationId xmlns:p14="http://schemas.microsoft.com/office/powerpoint/2010/main" val="30136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p:cNvPicPr>
            <a:picLocks noChangeAspect="1"/>
          </p:cNvPicPr>
          <p:nvPr/>
        </p:nvPicPr>
        <p:blipFill>
          <a:blip r:embed="rId2"/>
          <a:stretch>
            <a:fillRect/>
          </a:stretch>
        </p:blipFill>
        <p:spPr>
          <a:xfrm>
            <a:off x="166973" y="113393"/>
            <a:ext cx="9764728" cy="6631214"/>
          </a:xfrm>
          <a:prstGeom prst="rect">
            <a:avLst/>
          </a:prstGeom>
        </p:spPr>
      </p:pic>
      <p:sp>
        <p:nvSpPr>
          <p:cNvPr id="11" name="矩形 10"/>
          <p:cNvSpPr/>
          <p:nvPr/>
        </p:nvSpPr>
        <p:spPr>
          <a:xfrm>
            <a:off x="-2" y="2038350"/>
            <a:ext cx="10098678" cy="278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400" dirty="0">
                <a:solidFill>
                  <a:schemeClr val="bg1"/>
                </a:solidFill>
                <a:latin typeface="微軟正黑體" panose="020B0604030504040204" pitchFamily="34" charset="-120"/>
                <a:ea typeface="微軟正黑體" panose="020B0604030504040204" pitchFamily="34" charset="-120"/>
              </a:rPr>
              <a:t>隱藏層黑盒子</a:t>
            </a:r>
          </a:p>
        </p:txBody>
      </p:sp>
      <p:sp>
        <p:nvSpPr>
          <p:cNvPr id="14" name="文字方塊 13"/>
          <p:cNvSpPr txBox="1"/>
          <p:nvPr/>
        </p:nvSpPr>
        <p:spPr>
          <a:xfrm>
            <a:off x="10574928" y="281413"/>
            <a:ext cx="114082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輸入層</a:t>
            </a:r>
          </a:p>
        </p:txBody>
      </p:sp>
      <p:sp>
        <p:nvSpPr>
          <p:cNvPr id="16" name="文字方塊 15"/>
          <p:cNvSpPr txBox="1"/>
          <p:nvPr/>
        </p:nvSpPr>
        <p:spPr>
          <a:xfrm>
            <a:off x="10574928" y="2967335"/>
            <a:ext cx="114082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隱藏層</a:t>
            </a:r>
          </a:p>
        </p:txBody>
      </p:sp>
      <p:sp>
        <p:nvSpPr>
          <p:cNvPr id="17" name="文字方塊 16"/>
          <p:cNvSpPr txBox="1"/>
          <p:nvPr/>
        </p:nvSpPr>
        <p:spPr>
          <a:xfrm>
            <a:off x="10574928" y="6091535"/>
            <a:ext cx="114082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輸出層</a:t>
            </a:r>
          </a:p>
        </p:txBody>
      </p:sp>
      <p:sp>
        <p:nvSpPr>
          <p:cNvPr id="18" name="文字方塊 17"/>
          <p:cNvSpPr txBox="1"/>
          <p:nvPr/>
        </p:nvSpPr>
        <p:spPr>
          <a:xfrm>
            <a:off x="6610350" y="1076920"/>
            <a:ext cx="5105400"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首先將每張圖片的像素拆解，所以模型的輸入層就會有對應數量的神經元</a:t>
            </a:r>
          </a:p>
        </p:txBody>
      </p:sp>
      <p:sp>
        <p:nvSpPr>
          <p:cNvPr id="19" name="文字方塊 18"/>
          <p:cNvSpPr txBox="1"/>
          <p:nvPr/>
        </p:nvSpPr>
        <p:spPr>
          <a:xfrm>
            <a:off x="6610350" y="3848100"/>
            <a:ext cx="5105400"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隱藏層可以有很多種組合，這裡是一種僅有一層隱藏層的範例，這裡的設置會在之後提到，所以我們就不理它</a:t>
            </a:r>
          </a:p>
        </p:txBody>
      </p:sp>
      <p:sp>
        <p:nvSpPr>
          <p:cNvPr id="20" name="文字方塊 19"/>
          <p:cNvSpPr txBox="1"/>
          <p:nvPr/>
        </p:nvSpPr>
        <p:spPr>
          <a:xfrm>
            <a:off x="6610350" y="5135433"/>
            <a:ext cx="5105400"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因為輸出的類型僅有阿拉伯數字，所以輸出層就只需要</a:t>
            </a:r>
            <a:r>
              <a:rPr lang="en-US" altLang="zh-TW" sz="2400" dirty="0">
                <a:solidFill>
                  <a:schemeClr val="bg1"/>
                </a:solidFill>
                <a:latin typeface="微軟正黑體" panose="020B0604030504040204" pitchFamily="34" charset="-120"/>
                <a:ea typeface="微軟正黑體" panose="020B0604030504040204" pitchFamily="34" charset="-120"/>
              </a:rPr>
              <a:t>10</a:t>
            </a:r>
            <a:r>
              <a:rPr lang="zh-TW" altLang="en-US" sz="2400" dirty="0">
                <a:solidFill>
                  <a:schemeClr val="bg1"/>
                </a:solidFill>
                <a:latin typeface="微軟正黑體" panose="020B0604030504040204" pitchFamily="34" charset="-120"/>
                <a:ea typeface="微軟正黑體" panose="020B0604030504040204" pitchFamily="34" charset="-120"/>
              </a:rPr>
              <a:t>個神經元</a:t>
            </a:r>
          </a:p>
        </p:txBody>
      </p:sp>
    </p:spTree>
    <p:extLst>
      <p:ext uri="{BB962C8B-B14F-4D97-AF65-F5344CB8AC3E}">
        <p14:creationId xmlns:p14="http://schemas.microsoft.com/office/powerpoint/2010/main" val="13983138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xit" presetSubtype="21" fill="hold" grpId="1" nodeType="clickEffect">
                                  <p:stCondLst>
                                    <p:cond delay="0"/>
                                  </p:stCondLst>
                                  <p:childTnLst>
                                    <p:animEffect transition="out" filter="barn(inVertical)">
                                      <p:cBhvr>
                                        <p:cTn id="20" dur="500"/>
                                        <p:tgtEl>
                                          <p:spTgt spid="19"/>
                                        </p:tgtEl>
                                      </p:cBhvr>
                                    </p:animEffect>
                                    <p:set>
                                      <p:cBhvr>
                                        <p:cTn id="21" dur="1" fill="hold">
                                          <p:stCondLst>
                                            <p:cond delay="499"/>
                                          </p:stCondLst>
                                        </p:cTn>
                                        <p:tgtEl>
                                          <p:spTgt spid="19"/>
                                        </p:tgtEl>
                                        <p:attrNameLst>
                                          <p:attrName>style.visibility</p:attrName>
                                        </p:attrNameLst>
                                      </p:cBhvr>
                                      <p:to>
                                        <p:strVal val="hidden"/>
                                      </p:to>
                                    </p:set>
                                  </p:childTnLst>
                                </p:cTn>
                              </p:par>
                            </p:childTnLst>
                          </p:cTn>
                        </p:par>
                        <p:par>
                          <p:cTn id="22" fill="hold">
                            <p:stCondLst>
                              <p:cond delay="500"/>
                            </p:stCondLst>
                            <p:childTnLst>
                              <p:par>
                                <p:cTn id="23" presetID="42"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19" grpId="0" animBg="1"/>
      <p:bldP spid="19" grpId="1"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1878"/>
            <a:ext cx="7867650" cy="4371975"/>
          </a:xfrm>
          <a:prstGeom prst="rect">
            <a:avLst/>
          </a:prstGeom>
        </p:spPr>
      </p:pic>
      <p:sp>
        <p:nvSpPr>
          <p:cNvPr id="12" name="文字方塊 11"/>
          <p:cNvSpPr txBox="1"/>
          <p:nvPr/>
        </p:nvSpPr>
        <p:spPr>
          <a:xfrm>
            <a:off x="6928301" y="4291274"/>
            <a:ext cx="5022849"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由於要將這些資料丟進神經網路中，所以需要進行維度變更，單筆資料從二維的</a:t>
            </a:r>
            <a:r>
              <a:rPr lang="en-US" altLang="zh-TW" sz="2400" dirty="0">
                <a:solidFill>
                  <a:schemeClr val="bg1"/>
                </a:solidFill>
                <a:latin typeface="微軟正黑體" panose="020B0604030504040204" pitchFamily="34" charset="-120"/>
                <a:ea typeface="微軟正黑體" panose="020B0604030504040204" pitchFamily="34" charset="-120"/>
              </a:rPr>
              <a:t>28*28</a:t>
            </a:r>
            <a:r>
              <a:rPr lang="zh-TW" altLang="en-US" sz="2400" dirty="0">
                <a:solidFill>
                  <a:schemeClr val="bg1"/>
                </a:solidFill>
                <a:latin typeface="微軟正黑體" panose="020B0604030504040204" pitchFamily="34" charset="-120"/>
                <a:ea typeface="微軟正黑體" panose="020B0604030504040204" pitchFamily="34" charset="-120"/>
              </a:rPr>
              <a:t>變成一維的</a:t>
            </a:r>
            <a:r>
              <a:rPr lang="en-US" altLang="zh-TW" sz="2400" dirty="0">
                <a:solidFill>
                  <a:schemeClr val="bg1"/>
                </a:solidFill>
                <a:latin typeface="微軟正黑體" panose="020B0604030504040204" pitchFamily="34" charset="-120"/>
                <a:ea typeface="微軟正黑體" panose="020B0604030504040204" pitchFamily="34" charset="-120"/>
              </a:rPr>
              <a:t>784</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cxnSp>
        <p:nvCxnSpPr>
          <p:cNvPr id="14" name="直線單箭頭接點 13"/>
          <p:cNvCxnSpPr/>
          <p:nvPr/>
        </p:nvCxnSpPr>
        <p:spPr>
          <a:xfrm flipH="1">
            <a:off x="3599565" y="3527865"/>
            <a:ext cx="108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H="1">
            <a:off x="3393825" y="3806553"/>
            <a:ext cx="108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10020300" y="88900"/>
            <a:ext cx="20701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在輸入層部份</a:t>
            </a:r>
          </a:p>
        </p:txBody>
      </p:sp>
    </p:spTree>
    <p:extLst>
      <p:ext uri="{BB962C8B-B14F-4D97-AF65-F5344CB8AC3E}">
        <p14:creationId xmlns:p14="http://schemas.microsoft.com/office/powerpoint/2010/main" val="15176070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barn(inVertical)">
                                      <p:cBhvr>
                                        <p:cTn id="14" dur="500"/>
                                        <p:tgtEl>
                                          <p:spTgt spid="14"/>
                                        </p:tgtEl>
                                      </p:cBhvr>
                                    </p:animEffect>
                                  </p:childTnLst>
                                </p:cTn>
                              </p:par>
                              <p:par>
                                <p:cTn id="15" presetID="16" presetClass="entr" presetSubtype="21"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接點 4"/>
          <p:cNvCxnSpPr/>
          <p:nvPr/>
        </p:nvCxnSpPr>
        <p:spPr>
          <a:xfrm>
            <a:off x="1790700" y="2590800"/>
            <a:ext cx="8640000"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1790700" y="6303536"/>
            <a:ext cx="2160000"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295400" y="165735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9" name="矩形 8"/>
          <p:cNvSpPr/>
          <p:nvPr/>
        </p:nvSpPr>
        <p:spPr>
          <a:xfrm>
            <a:off x="10070700" y="1657350"/>
            <a:ext cx="15498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10000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0" name="矩形 9"/>
          <p:cNvSpPr/>
          <p:nvPr/>
        </p:nvSpPr>
        <p:spPr>
          <a:xfrm>
            <a:off x="1295400" y="5370085"/>
            <a:ext cx="720000" cy="720000"/>
          </a:xfrm>
          <a:prstGeom prst="rect">
            <a:avLst/>
          </a:prstGeom>
          <a:solidFill>
            <a:srgbClr val="A262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1" name="矩形 10"/>
          <p:cNvSpPr/>
          <p:nvPr/>
        </p:nvSpPr>
        <p:spPr>
          <a:xfrm>
            <a:off x="3752850" y="5370085"/>
            <a:ext cx="990600" cy="720000"/>
          </a:xfrm>
          <a:prstGeom prst="rect">
            <a:avLst/>
          </a:prstGeom>
          <a:solidFill>
            <a:srgbClr val="A262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100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2" name="文字方塊 11"/>
          <p:cNvSpPr txBox="1"/>
          <p:nvPr/>
        </p:nvSpPr>
        <p:spPr>
          <a:xfrm>
            <a:off x="10020300" y="88900"/>
            <a:ext cx="20701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在輸入層部份</a:t>
            </a:r>
          </a:p>
        </p:txBody>
      </p:sp>
      <p:cxnSp>
        <p:nvCxnSpPr>
          <p:cNvPr id="14" name="直線單箭頭接點 13"/>
          <p:cNvCxnSpPr/>
          <p:nvPr/>
        </p:nvCxnSpPr>
        <p:spPr>
          <a:xfrm>
            <a:off x="4133850" y="1158150"/>
            <a:ext cx="0" cy="1219200"/>
          </a:xfrm>
          <a:prstGeom prst="straightConnector1">
            <a:avLst/>
          </a:prstGeom>
          <a:ln w="76200">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a:off x="5867400" y="1158150"/>
            <a:ext cx="0" cy="1219200"/>
          </a:xfrm>
          <a:prstGeom prst="straightConnector1">
            <a:avLst/>
          </a:prstGeom>
          <a:ln w="76200">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3181350" y="4870885"/>
            <a:ext cx="0" cy="1219200"/>
          </a:xfrm>
          <a:prstGeom prst="straightConnector1">
            <a:avLst/>
          </a:prstGeom>
          <a:ln w="76200">
            <a:solidFill>
              <a:srgbClr val="A262D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2514600" y="4870885"/>
            <a:ext cx="0" cy="1219200"/>
          </a:xfrm>
          <a:prstGeom prst="straightConnector1">
            <a:avLst/>
          </a:prstGeom>
          <a:ln w="76200">
            <a:solidFill>
              <a:srgbClr val="A262D0"/>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590925" y="255226"/>
            <a:ext cx="108585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bg1"/>
                </a:solidFill>
                <a:latin typeface="微軟正黑體" panose="020B0604030504040204" pitchFamily="34" charset="-120"/>
                <a:ea typeface="微軟正黑體" panose="020B0604030504040204" pitchFamily="34" charset="-120"/>
              </a:rPr>
              <a:t>3000</a:t>
            </a:r>
            <a:endParaRPr lang="zh-TW" altLang="en-US" sz="2800" dirty="0">
              <a:solidFill>
                <a:schemeClr val="bg1"/>
              </a:solidFill>
              <a:latin typeface="微軟正黑體" panose="020B0604030504040204" pitchFamily="34" charset="-120"/>
              <a:ea typeface="微軟正黑體" panose="020B0604030504040204" pitchFamily="34" charset="-120"/>
            </a:endParaRPr>
          </a:p>
        </p:txBody>
      </p:sp>
      <p:sp>
        <p:nvSpPr>
          <p:cNvPr id="20" name="矩形 19"/>
          <p:cNvSpPr/>
          <p:nvPr/>
        </p:nvSpPr>
        <p:spPr>
          <a:xfrm>
            <a:off x="5324475" y="255226"/>
            <a:ext cx="108585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bg1"/>
                </a:solidFill>
                <a:latin typeface="微軟正黑體" panose="020B0604030504040204" pitchFamily="34" charset="-120"/>
                <a:ea typeface="微軟正黑體" panose="020B0604030504040204" pitchFamily="34" charset="-120"/>
              </a:rPr>
              <a:t>4500</a:t>
            </a:r>
            <a:endParaRPr lang="zh-TW" altLang="en-US" sz="2800" dirty="0">
              <a:solidFill>
                <a:schemeClr val="bg1"/>
              </a:solidFill>
              <a:latin typeface="微軟正黑體" panose="020B0604030504040204" pitchFamily="34" charset="-120"/>
              <a:ea typeface="微軟正黑體" panose="020B0604030504040204" pitchFamily="34" charset="-120"/>
            </a:endParaRPr>
          </a:p>
        </p:txBody>
      </p:sp>
      <p:sp>
        <p:nvSpPr>
          <p:cNvPr id="21" name="矩形 20"/>
          <p:cNvSpPr/>
          <p:nvPr/>
        </p:nvSpPr>
        <p:spPr>
          <a:xfrm>
            <a:off x="2043112" y="4044160"/>
            <a:ext cx="676275" cy="720000"/>
          </a:xfrm>
          <a:prstGeom prst="rect">
            <a:avLst/>
          </a:prstGeom>
          <a:solidFill>
            <a:srgbClr val="A262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bg1"/>
                </a:solidFill>
                <a:latin typeface="微軟正黑體" panose="020B0604030504040204" pitchFamily="34" charset="-120"/>
                <a:ea typeface="微軟正黑體" panose="020B0604030504040204" pitchFamily="34" charset="-120"/>
              </a:rPr>
              <a:t>20</a:t>
            </a:r>
            <a:endParaRPr lang="zh-TW" altLang="en-US" sz="2800" dirty="0">
              <a:solidFill>
                <a:schemeClr val="bg1"/>
              </a:solidFill>
              <a:latin typeface="微軟正黑體" panose="020B0604030504040204" pitchFamily="34" charset="-120"/>
              <a:ea typeface="微軟正黑體" panose="020B0604030504040204" pitchFamily="34" charset="-120"/>
            </a:endParaRPr>
          </a:p>
        </p:txBody>
      </p:sp>
      <p:sp>
        <p:nvSpPr>
          <p:cNvPr id="22" name="矩形 21"/>
          <p:cNvSpPr/>
          <p:nvPr/>
        </p:nvSpPr>
        <p:spPr>
          <a:xfrm>
            <a:off x="2965950" y="4044160"/>
            <a:ext cx="676275" cy="720000"/>
          </a:xfrm>
          <a:prstGeom prst="rect">
            <a:avLst/>
          </a:prstGeom>
          <a:solidFill>
            <a:srgbClr val="A262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bg1"/>
                </a:solidFill>
                <a:latin typeface="微軟正黑體" panose="020B0604030504040204" pitchFamily="34" charset="-120"/>
                <a:ea typeface="微軟正黑體" panose="020B0604030504040204" pitchFamily="34" charset="-120"/>
              </a:rPr>
              <a:t>60</a:t>
            </a:r>
            <a:endParaRPr lang="zh-TW" altLang="en-US" sz="2800" dirty="0">
              <a:solidFill>
                <a:schemeClr val="bg1"/>
              </a:solidFill>
              <a:latin typeface="微軟正黑體" panose="020B0604030504040204" pitchFamily="34" charset="-120"/>
              <a:ea typeface="微軟正黑體" panose="020B0604030504040204" pitchFamily="34" charset="-120"/>
            </a:endParaRPr>
          </a:p>
        </p:txBody>
      </p:sp>
      <p:sp>
        <p:nvSpPr>
          <p:cNvPr id="23" name="文字方塊 22"/>
          <p:cNvSpPr txBox="1"/>
          <p:nvPr/>
        </p:nvSpPr>
        <p:spPr>
          <a:xfrm>
            <a:off x="7901099" y="3062398"/>
            <a:ext cx="2286000"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誰的變化量大</a:t>
            </a:r>
            <a:r>
              <a:rPr lang="en-US" altLang="zh-TW" sz="2400" dirty="0">
                <a:solidFill>
                  <a:schemeClr val="bg1"/>
                </a:solidFill>
                <a:latin typeface="微軟正黑體" panose="020B0604030504040204" pitchFamily="34" charset="-120"/>
                <a:ea typeface="微軟正黑體" panose="020B0604030504040204" pitchFamily="34" charset="-120"/>
              </a:rPr>
              <a:t>?</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24" name="文字方塊 23"/>
          <p:cNvSpPr txBox="1"/>
          <p:nvPr/>
        </p:nvSpPr>
        <p:spPr>
          <a:xfrm>
            <a:off x="6193050" y="3737514"/>
            <a:ext cx="5702099" cy="1569660"/>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分析不同的資料時，為了消除彼此間單位不同或數據落差，我們可利用資料正規化，以便後續客觀的分析及比較：將資料保持原始的樣貌下縮放至</a:t>
            </a:r>
            <a:r>
              <a:rPr lang="en-US" altLang="zh-TW" sz="2400" dirty="0">
                <a:solidFill>
                  <a:schemeClr val="bg1"/>
                </a:solidFill>
                <a:latin typeface="微軟正黑體" panose="020B0604030504040204" pitchFamily="34" charset="-120"/>
                <a:ea typeface="微軟正黑體" panose="020B0604030504040204" pitchFamily="34" charset="-120"/>
              </a:rPr>
              <a:t>0-1</a:t>
            </a:r>
            <a:r>
              <a:rPr lang="zh-TW" altLang="en-US" sz="2400" dirty="0">
                <a:solidFill>
                  <a:schemeClr val="bg1"/>
                </a:solidFill>
                <a:latin typeface="微軟正黑體" panose="020B0604030504040204" pitchFamily="34" charset="-120"/>
                <a:ea typeface="微軟正黑體" panose="020B0604030504040204" pitchFamily="34" charset="-120"/>
              </a:rPr>
              <a:t>的區間中</a:t>
            </a:r>
          </a:p>
        </p:txBody>
      </p:sp>
      <p:sp>
        <p:nvSpPr>
          <p:cNvPr id="25" name="文字方塊 24"/>
          <p:cNvSpPr txBox="1"/>
          <p:nvPr/>
        </p:nvSpPr>
        <p:spPr>
          <a:xfrm>
            <a:off x="6795225" y="717590"/>
            <a:ext cx="2958375" cy="830997"/>
          </a:xfrm>
          <a:prstGeom prst="rect">
            <a:avLst/>
          </a:prstGeom>
          <a:solidFill>
            <a:srgbClr val="4FD093"/>
          </a:solidFill>
          <a:ln w="508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(4500-3000)/10000</a:t>
            </a:r>
          </a:p>
          <a:p>
            <a:r>
              <a:rPr lang="en-US" altLang="zh-TW" sz="2400" dirty="0">
                <a:solidFill>
                  <a:schemeClr val="bg1"/>
                </a:solidFill>
                <a:latin typeface="微軟正黑體" panose="020B0604030504040204" pitchFamily="34" charset="-120"/>
                <a:ea typeface="微軟正黑體" panose="020B0604030504040204" pitchFamily="34" charset="-120"/>
              </a:rPr>
              <a:t>= 15%</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
        <p:nvSpPr>
          <p:cNvPr id="27" name="文字方塊 26"/>
          <p:cNvSpPr txBox="1"/>
          <p:nvPr/>
        </p:nvSpPr>
        <p:spPr>
          <a:xfrm>
            <a:off x="1890056" y="2994193"/>
            <a:ext cx="1961288" cy="830997"/>
          </a:xfrm>
          <a:prstGeom prst="rect">
            <a:avLst/>
          </a:prstGeom>
          <a:solidFill>
            <a:srgbClr val="A262D0"/>
          </a:solidFill>
          <a:ln w="508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(60-20)/100</a:t>
            </a:r>
          </a:p>
          <a:p>
            <a:r>
              <a:rPr lang="en-US" altLang="zh-TW" sz="2400" dirty="0">
                <a:solidFill>
                  <a:schemeClr val="bg1"/>
                </a:solidFill>
                <a:latin typeface="微軟正黑體" panose="020B0604030504040204" pitchFamily="34" charset="-120"/>
                <a:ea typeface="微軟正黑體" panose="020B0604030504040204" pitchFamily="34" charset="-120"/>
              </a:rPr>
              <a:t>= 40%</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3365743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1000"/>
                                        <p:tgtEl>
                                          <p:spTgt spid="27"/>
                                        </p:tgtEl>
                                      </p:cBhvr>
                                    </p:animEffect>
                                    <p:anim calcmode="lin" valueType="num">
                                      <p:cBhvr>
                                        <p:cTn id="29" dur="1000" fill="hold"/>
                                        <p:tgtEl>
                                          <p:spTgt spid="27"/>
                                        </p:tgtEl>
                                        <p:attrNameLst>
                                          <p:attrName>ppt_x</p:attrName>
                                        </p:attrNameLst>
                                      </p:cBhvr>
                                      <p:tavLst>
                                        <p:tav tm="0">
                                          <p:val>
                                            <p:strVal val="#ppt_x"/>
                                          </p:val>
                                        </p:tav>
                                        <p:tav tm="100000">
                                          <p:val>
                                            <p:strVal val="#ppt_x"/>
                                          </p:val>
                                        </p:tav>
                                      </p:tavLst>
                                    </p:anim>
                                    <p:anim calcmode="lin" valueType="num">
                                      <p:cBhvr>
                                        <p:cTn id="3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p:cNvSpPr txBox="1"/>
          <p:nvPr/>
        </p:nvSpPr>
        <p:spPr>
          <a:xfrm>
            <a:off x="6388301" y="732820"/>
            <a:ext cx="5702099" cy="1938992"/>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原先每個像素的數據範圍為</a:t>
            </a:r>
            <a:r>
              <a:rPr lang="en-US" altLang="zh-TW" sz="2400" dirty="0">
                <a:solidFill>
                  <a:schemeClr val="bg1"/>
                </a:solidFill>
                <a:latin typeface="微軟正黑體" panose="020B0604030504040204" pitchFamily="34" charset="-120"/>
                <a:ea typeface="微軟正黑體" panose="020B0604030504040204" pitchFamily="34" charset="-120"/>
              </a:rPr>
              <a:t>0-255</a:t>
            </a:r>
            <a:r>
              <a:rPr lang="zh-TW" altLang="en-US" sz="2400" dirty="0">
                <a:solidFill>
                  <a:schemeClr val="bg1"/>
                </a:solidFill>
                <a:latin typeface="微軟正黑體" panose="020B0604030504040204" pitchFamily="34" charset="-120"/>
                <a:ea typeface="微軟正黑體" panose="020B0604030504040204" pitchFamily="34" charset="-120"/>
              </a:rPr>
              <a:t>，需要進行正規化，讓數字範圍固定於特定範圍之間（通常為</a:t>
            </a:r>
            <a:r>
              <a:rPr lang="en-US" altLang="zh-TW" sz="2400" dirty="0">
                <a:solidFill>
                  <a:schemeClr val="bg1"/>
                </a:solidFill>
                <a:latin typeface="微軟正黑體" panose="020B0604030504040204" pitchFamily="34" charset="-120"/>
                <a:ea typeface="微軟正黑體" panose="020B0604030504040204" pitchFamily="34" charset="-120"/>
              </a:rPr>
              <a:t>0-1</a:t>
            </a:r>
            <a:r>
              <a:rPr lang="zh-TW" altLang="en-US" sz="2400" dirty="0">
                <a:solidFill>
                  <a:schemeClr val="bg1"/>
                </a:solidFill>
                <a:latin typeface="微軟正黑體" panose="020B0604030504040204" pitchFamily="34" charset="-120"/>
                <a:ea typeface="微軟正黑體" panose="020B0604030504040204" pitchFamily="34" charset="-120"/>
              </a:rPr>
              <a:t>），以便客觀比較不同特性數值的變化量（雖然在這個範例沒有用到多組數值）</a:t>
            </a:r>
          </a:p>
        </p:txBody>
      </p:sp>
      <p:sp>
        <p:nvSpPr>
          <p:cNvPr id="12" name="文字方塊 11"/>
          <p:cNvSpPr txBox="1"/>
          <p:nvPr/>
        </p:nvSpPr>
        <p:spPr>
          <a:xfrm>
            <a:off x="6388301" y="4291273"/>
            <a:ext cx="570209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只需要上面簡單的運算（除以數據範圍），就能得到左下方標準化的值了</a:t>
            </a:r>
          </a:p>
        </p:txBody>
      </p:sp>
      <p:sp>
        <p:nvSpPr>
          <p:cNvPr id="17" name="文字方塊 16"/>
          <p:cNvSpPr txBox="1"/>
          <p:nvPr/>
        </p:nvSpPr>
        <p:spPr>
          <a:xfrm>
            <a:off x="10020300" y="88900"/>
            <a:ext cx="20701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在輸入層部份</a:t>
            </a:r>
          </a:p>
        </p:txBody>
      </p:sp>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8900"/>
            <a:ext cx="6205461" cy="3136901"/>
          </a:xfrm>
          <a:prstGeom prst="rect">
            <a:avLst/>
          </a:prstGeom>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041" y="3010055"/>
            <a:ext cx="4705350" cy="942975"/>
          </a:xfrm>
          <a:prstGeom prst="rect">
            <a:avLst/>
          </a:prstGeom>
          <a:ln w="50800">
            <a:solidFill>
              <a:schemeClr val="accent6"/>
            </a:solidFill>
          </a:ln>
        </p:spPr>
      </p:pic>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1" y="3310362"/>
            <a:ext cx="6184900" cy="3560338"/>
          </a:xfrm>
          <a:prstGeom prst="rect">
            <a:avLst/>
          </a:prstGeom>
        </p:spPr>
      </p:pic>
    </p:spTree>
    <p:extLst>
      <p:ext uri="{BB962C8B-B14F-4D97-AF65-F5344CB8AC3E}">
        <p14:creationId xmlns:p14="http://schemas.microsoft.com/office/powerpoint/2010/main" val="13895819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p:cNvSpPr txBox="1"/>
          <p:nvPr/>
        </p:nvSpPr>
        <p:spPr>
          <a:xfrm>
            <a:off x="6388301" y="732820"/>
            <a:ext cx="5702099" cy="1200329"/>
          </a:xfrm>
          <a:prstGeom prst="rect">
            <a:avLst/>
          </a:prstGeom>
          <a:solidFill>
            <a:schemeClr val="accent2"/>
          </a:solidFill>
          <a:ln w="50800">
            <a:solidFill>
              <a:srgbClr val="FF0000"/>
            </a:solidFill>
          </a:ln>
        </p:spPr>
        <p:txBody>
          <a:bodyPr wrap="square" rtlCol="0">
            <a:spAutoFit/>
          </a:bodyPr>
          <a:lstStyle/>
          <a:p>
            <a:r>
              <a:rPr lang="en-US" altLang="zh-TW" sz="2400" dirty="0">
                <a:solidFill>
                  <a:schemeClr val="bg1"/>
                </a:solidFill>
                <a:latin typeface="微軟正黑體" panose="020B0604030504040204" pitchFamily="34" charset="-120"/>
                <a:ea typeface="微軟正黑體" panose="020B0604030504040204" pitchFamily="34" charset="-120"/>
              </a:rPr>
              <a:t>One hot encoding</a:t>
            </a:r>
            <a:r>
              <a:rPr lang="zh-TW" altLang="en-US" sz="2400" dirty="0">
                <a:solidFill>
                  <a:schemeClr val="bg1"/>
                </a:solidFill>
                <a:latin typeface="微軟正黑體" panose="020B0604030504040204" pitchFamily="34" charset="-120"/>
                <a:ea typeface="微軟正黑體" panose="020B0604030504040204" pitchFamily="34" charset="-120"/>
              </a:rPr>
              <a:t>：為每個類別新增一個對應的欄位，然後用</a:t>
            </a:r>
            <a:r>
              <a:rPr lang="en-US" altLang="zh-TW" sz="2400" dirty="0">
                <a:solidFill>
                  <a:schemeClr val="bg1"/>
                </a:solidFill>
                <a:latin typeface="微軟正黑體" panose="020B0604030504040204" pitchFamily="34" charset="-120"/>
                <a:ea typeface="微軟正黑體" panose="020B0604030504040204" pitchFamily="34" charset="-120"/>
              </a:rPr>
              <a:t>0</a:t>
            </a:r>
            <a:r>
              <a:rPr lang="zh-TW" altLang="en-US" sz="2400" dirty="0">
                <a:solidFill>
                  <a:schemeClr val="bg1"/>
                </a:solidFill>
                <a:latin typeface="微軟正黑體" panose="020B0604030504040204" pitchFamily="34" charset="-120"/>
                <a:ea typeface="微軟正黑體" panose="020B0604030504040204" pitchFamily="34" charset="-120"/>
              </a:rPr>
              <a:t>或</a:t>
            </a:r>
            <a:r>
              <a:rPr lang="en-US" altLang="zh-TW" sz="2400" dirty="0">
                <a:solidFill>
                  <a:schemeClr val="bg1"/>
                </a:solidFill>
                <a:latin typeface="微軟正黑體" panose="020B0604030504040204" pitchFamily="34" charset="-120"/>
                <a:ea typeface="微軟正黑體" panose="020B0604030504040204" pitchFamily="34" charset="-120"/>
              </a:rPr>
              <a:t>1</a:t>
            </a:r>
            <a:r>
              <a:rPr lang="zh-TW" altLang="en-US" sz="2400" dirty="0">
                <a:solidFill>
                  <a:schemeClr val="bg1"/>
                </a:solidFill>
                <a:latin typeface="微軟正黑體" panose="020B0604030504040204" pitchFamily="34" charset="-120"/>
                <a:ea typeface="微軟正黑體" panose="020B0604030504040204" pitchFamily="34" charset="-120"/>
              </a:rPr>
              <a:t>來表示它的特性</a:t>
            </a:r>
          </a:p>
        </p:txBody>
      </p:sp>
      <p:sp>
        <p:nvSpPr>
          <p:cNvPr id="12" name="文字方塊 11"/>
          <p:cNvSpPr txBox="1"/>
          <p:nvPr/>
        </p:nvSpPr>
        <p:spPr>
          <a:xfrm>
            <a:off x="6388300" y="2115404"/>
            <a:ext cx="570209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所以阿拉伯數字</a:t>
            </a:r>
            <a:r>
              <a:rPr lang="en-US" altLang="zh-TW" sz="2400" dirty="0">
                <a:solidFill>
                  <a:schemeClr val="bg1"/>
                </a:solidFill>
                <a:latin typeface="微軟正黑體" panose="020B0604030504040204" pitchFamily="34" charset="-120"/>
                <a:ea typeface="微軟正黑體" panose="020B0604030504040204" pitchFamily="34" charset="-120"/>
              </a:rPr>
              <a:t>0-9</a:t>
            </a:r>
            <a:r>
              <a:rPr lang="zh-TW" altLang="en-US" sz="2400" dirty="0">
                <a:solidFill>
                  <a:schemeClr val="bg1"/>
                </a:solidFill>
                <a:latin typeface="微軟正黑體" panose="020B0604030504040204" pitchFamily="34" charset="-120"/>
                <a:ea typeface="微軟正黑體" panose="020B0604030504040204" pitchFamily="34" charset="-120"/>
              </a:rPr>
              <a:t>就需要</a:t>
            </a:r>
            <a:r>
              <a:rPr lang="en-US" altLang="zh-TW" sz="2400" dirty="0">
                <a:solidFill>
                  <a:schemeClr val="bg1"/>
                </a:solidFill>
                <a:latin typeface="微軟正黑體" panose="020B0604030504040204" pitchFamily="34" charset="-120"/>
                <a:ea typeface="微軟正黑體" panose="020B0604030504040204" pitchFamily="34" charset="-120"/>
              </a:rPr>
              <a:t>10</a:t>
            </a:r>
            <a:r>
              <a:rPr lang="zh-TW" altLang="en-US" sz="2400" dirty="0">
                <a:solidFill>
                  <a:schemeClr val="bg1"/>
                </a:solidFill>
                <a:latin typeface="微軟正黑體" panose="020B0604030504040204" pitchFamily="34" charset="-120"/>
                <a:ea typeface="微軟正黑體" panose="020B0604030504040204" pitchFamily="34" charset="-120"/>
              </a:rPr>
              <a:t>個欄位用來表示它的特性</a:t>
            </a:r>
          </a:p>
        </p:txBody>
      </p:sp>
      <p:sp>
        <p:nvSpPr>
          <p:cNvPr id="17" name="文字方塊 16"/>
          <p:cNvSpPr txBox="1"/>
          <p:nvPr/>
        </p:nvSpPr>
        <p:spPr>
          <a:xfrm>
            <a:off x="10020300" y="88900"/>
            <a:ext cx="20701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在輸出層部份</a:t>
            </a:r>
          </a:p>
        </p:txBody>
      </p:sp>
      <p:sp>
        <p:nvSpPr>
          <p:cNvPr id="8" name="文字方塊 7"/>
          <p:cNvSpPr txBox="1"/>
          <p:nvPr/>
        </p:nvSpPr>
        <p:spPr>
          <a:xfrm>
            <a:off x="6388300" y="3128656"/>
            <a:ext cx="5702099"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字面上不太好懂</a:t>
            </a:r>
            <a:r>
              <a:rPr lang="en-US" altLang="zh-TW" sz="2400" dirty="0">
                <a:solidFill>
                  <a:schemeClr val="bg1"/>
                </a:solidFill>
                <a:latin typeface="微軟正黑體" panose="020B0604030504040204" pitchFamily="34" charset="-120"/>
                <a:ea typeface="微軟正黑體" panose="020B0604030504040204" pitchFamily="34" charset="-120"/>
              </a:rPr>
              <a:t>?  </a:t>
            </a:r>
            <a:r>
              <a:rPr lang="zh-TW" altLang="en-US" sz="2400" dirty="0">
                <a:solidFill>
                  <a:schemeClr val="bg1"/>
                </a:solidFill>
                <a:latin typeface="微軟正黑體" panose="020B0604030504040204" pitchFamily="34" charset="-120"/>
                <a:ea typeface="微軟正黑體" panose="020B0604030504040204" pitchFamily="34" charset="-120"/>
              </a:rPr>
              <a:t>那我們就直接來看個例子吧</a:t>
            </a:r>
          </a:p>
        </p:txBody>
      </p:sp>
    </p:spTree>
    <p:extLst>
      <p:ext uri="{BB962C8B-B14F-4D97-AF65-F5344CB8AC3E}">
        <p14:creationId xmlns:p14="http://schemas.microsoft.com/office/powerpoint/2010/main" val="36721089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xit" presetSubtype="4" fill="hold" grpId="1" nodeType="clickEffect">
                                  <p:stCondLst>
                                    <p:cond delay="0"/>
                                  </p:stCondLst>
                                  <p:childTnLst>
                                    <p:animEffect transition="out" filter="wipe(down)">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par>
                                <p:cTn id="29" presetID="22" presetClass="exit" presetSubtype="4" fill="hold" grpId="1" nodeType="withEffect">
                                  <p:stCondLst>
                                    <p:cond delay="0"/>
                                  </p:stCondLst>
                                  <p:childTnLst>
                                    <p:animEffect transition="out" filter="wipe(down)">
                                      <p:cBhvr>
                                        <p:cTn id="30" dur="500"/>
                                        <p:tgtEl>
                                          <p:spTgt spid="12"/>
                                        </p:tgtEl>
                                      </p:cBhvr>
                                    </p:animEffect>
                                    <p:set>
                                      <p:cBhvr>
                                        <p:cTn id="31" dur="1" fill="hold">
                                          <p:stCondLst>
                                            <p:cond delay="499"/>
                                          </p:stCondLst>
                                        </p:cTn>
                                        <p:tgtEl>
                                          <p:spTgt spid="12"/>
                                        </p:tgtEl>
                                        <p:attrNameLst>
                                          <p:attrName>style.visibility</p:attrName>
                                        </p:attrNameLst>
                                      </p:cBhvr>
                                      <p:to>
                                        <p:strVal val="hidden"/>
                                      </p:to>
                                    </p:set>
                                  </p:childTnLst>
                                </p:cTn>
                              </p:par>
                              <p:par>
                                <p:cTn id="32" presetID="22" presetClass="exit" presetSubtype="4" fill="hold" grpId="1" nodeType="withEffect">
                                  <p:stCondLst>
                                    <p:cond delay="0"/>
                                  </p:stCondLst>
                                  <p:childTnLst>
                                    <p:animEffect transition="out" filter="wipe(down)">
                                      <p:cBhvr>
                                        <p:cTn id="33" dur="500"/>
                                        <p:tgtEl>
                                          <p:spTgt spid="8"/>
                                        </p:tgtEl>
                                      </p:cBhvr>
                                    </p:animEffect>
                                    <p:set>
                                      <p:cBhvr>
                                        <p:cTn id="3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2" grpId="0" animBg="1"/>
      <p:bldP spid="12" grpId="1" animBg="1"/>
      <p:bldP spid="8" grpId="0" animBg="1"/>
      <p:bldP spid="8"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7DC89D1B-2B42-FE9C-B845-1608205CA8F2}"/>
              </a:ext>
            </a:extLst>
          </p:cNvPr>
          <p:cNvPicPr>
            <a:picLocks noChangeAspect="1"/>
          </p:cNvPicPr>
          <p:nvPr/>
        </p:nvPicPr>
        <p:blipFill>
          <a:blip r:embed="rId2"/>
          <a:stretch>
            <a:fillRect/>
          </a:stretch>
        </p:blipFill>
        <p:spPr>
          <a:xfrm>
            <a:off x="0" y="3371363"/>
            <a:ext cx="7297168" cy="3486637"/>
          </a:xfrm>
          <a:prstGeom prst="rect">
            <a:avLst/>
          </a:prstGeom>
        </p:spPr>
      </p:pic>
      <p:sp>
        <p:nvSpPr>
          <p:cNvPr id="17" name="文字方塊 16"/>
          <p:cNvSpPr txBox="1"/>
          <p:nvPr/>
        </p:nvSpPr>
        <p:spPr>
          <a:xfrm>
            <a:off x="10020300" y="88900"/>
            <a:ext cx="20701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在輸出層部份</a:t>
            </a:r>
          </a:p>
        </p:txBody>
      </p:sp>
      <p:sp>
        <p:nvSpPr>
          <p:cNvPr id="2" name="矩形 1"/>
          <p:cNvSpPr/>
          <p:nvPr/>
        </p:nvSpPr>
        <p:spPr>
          <a:xfrm>
            <a:off x="120650" y="114300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9" name="矩形 8"/>
          <p:cNvSpPr/>
          <p:nvPr/>
        </p:nvSpPr>
        <p:spPr>
          <a:xfrm>
            <a:off x="996950" y="114300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1</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0" name="矩形 9"/>
          <p:cNvSpPr/>
          <p:nvPr/>
        </p:nvSpPr>
        <p:spPr>
          <a:xfrm>
            <a:off x="1873250" y="114300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2</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1" name="矩形 10"/>
          <p:cNvSpPr/>
          <p:nvPr/>
        </p:nvSpPr>
        <p:spPr>
          <a:xfrm>
            <a:off x="2749550" y="114300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3</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3" name="矩形 12"/>
          <p:cNvSpPr/>
          <p:nvPr/>
        </p:nvSpPr>
        <p:spPr>
          <a:xfrm>
            <a:off x="3625850" y="114300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4</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4" name="矩形 13"/>
          <p:cNvSpPr/>
          <p:nvPr/>
        </p:nvSpPr>
        <p:spPr>
          <a:xfrm>
            <a:off x="45021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5</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5" name="矩形 14"/>
          <p:cNvSpPr/>
          <p:nvPr/>
        </p:nvSpPr>
        <p:spPr>
          <a:xfrm>
            <a:off x="53784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6</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6" name="矩形 15"/>
          <p:cNvSpPr/>
          <p:nvPr/>
        </p:nvSpPr>
        <p:spPr>
          <a:xfrm>
            <a:off x="62547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7</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8" name="矩形 17"/>
          <p:cNvSpPr/>
          <p:nvPr/>
        </p:nvSpPr>
        <p:spPr>
          <a:xfrm>
            <a:off x="71310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8</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19" name="矩形 18"/>
          <p:cNvSpPr/>
          <p:nvPr/>
        </p:nvSpPr>
        <p:spPr>
          <a:xfrm>
            <a:off x="80073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9</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0" name="矩形 19"/>
          <p:cNvSpPr/>
          <p:nvPr/>
        </p:nvSpPr>
        <p:spPr>
          <a:xfrm>
            <a:off x="1206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1" name="矩形 20"/>
          <p:cNvSpPr/>
          <p:nvPr/>
        </p:nvSpPr>
        <p:spPr>
          <a:xfrm>
            <a:off x="9969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2" name="矩形 21"/>
          <p:cNvSpPr/>
          <p:nvPr/>
        </p:nvSpPr>
        <p:spPr>
          <a:xfrm>
            <a:off x="18732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3" name="矩形 22"/>
          <p:cNvSpPr/>
          <p:nvPr/>
        </p:nvSpPr>
        <p:spPr>
          <a:xfrm>
            <a:off x="27495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4" name="矩形 23"/>
          <p:cNvSpPr/>
          <p:nvPr/>
        </p:nvSpPr>
        <p:spPr>
          <a:xfrm>
            <a:off x="3625850" y="1157288"/>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5" name="矩形 24"/>
          <p:cNvSpPr/>
          <p:nvPr/>
        </p:nvSpPr>
        <p:spPr>
          <a:xfrm>
            <a:off x="4502150" y="1171576"/>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6" name="矩形 25"/>
          <p:cNvSpPr/>
          <p:nvPr/>
        </p:nvSpPr>
        <p:spPr>
          <a:xfrm>
            <a:off x="5378450" y="1171576"/>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7" name="矩形 26"/>
          <p:cNvSpPr/>
          <p:nvPr/>
        </p:nvSpPr>
        <p:spPr>
          <a:xfrm>
            <a:off x="6254750" y="1171576"/>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8" name="矩形 27"/>
          <p:cNvSpPr/>
          <p:nvPr/>
        </p:nvSpPr>
        <p:spPr>
          <a:xfrm>
            <a:off x="7131050" y="1171576"/>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29" name="矩形 28"/>
          <p:cNvSpPr/>
          <p:nvPr/>
        </p:nvSpPr>
        <p:spPr>
          <a:xfrm>
            <a:off x="8007350" y="1171576"/>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0" name="矩形 29"/>
          <p:cNvSpPr/>
          <p:nvPr/>
        </p:nvSpPr>
        <p:spPr>
          <a:xfrm>
            <a:off x="120650" y="1997214"/>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1" name="矩形 30"/>
          <p:cNvSpPr/>
          <p:nvPr/>
        </p:nvSpPr>
        <p:spPr>
          <a:xfrm>
            <a:off x="996950" y="1997214"/>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1</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2" name="矩形 31"/>
          <p:cNvSpPr/>
          <p:nvPr/>
        </p:nvSpPr>
        <p:spPr>
          <a:xfrm>
            <a:off x="1873250" y="1997214"/>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2</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3" name="矩形 32"/>
          <p:cNvSpPr/>
          <p:nvPr/>
        </p:nvSpPr>
        <p:spPr>
          <a:xfrm>
            <a:off x="2749550" y="1997214"/>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3</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4" name="矩形 33"/>
          <p:cNvSpPr/>
          <p:nvPr/>
        </p:nvSpPr>
        <p:spPr>
          <a:xfrm>
            <a:off x="3625850" y="1997214"/>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4</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5" name="矩形 34"/>
          <p:cNvSpPr/>
          <p:nvPr/>
        </p:nvSpPr>
        <p:spPr>
          <a:xfrm>
            <a:off x="45021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5</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6" name="矩形 35"/>
          <p:cNvSpPr/>
          <p:nvPr/>
        </p:nvSpPr>
        <p:spPr>
          <a:xfrm>
            <a:off x="53784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6</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7" name="矩形 36"/>
          <p:cNvSpPr/>
          <p:nvPr/>
        </p:nvSpPr>
        <p:spPr>
          <a:xfrm>
            <a:off x="62547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7</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8" name="矩形 37"/>
          <p:cNvSpPr/>
          <p:nvPr/>
        </p:nvSpPr>
        <p:spPr>
          <a:xfrm>
            <a:off x="71310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8</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39" name="矩形 38"/>
          <p:cNvSpPr/>
          <p:nvPr/>
        </p:nvSpPr>
        <p:spPr>
          <a:xfrm>
            <a:off x="80073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9</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0" name="矩形 39"/>
          <p:cNvSpPr/>
          <p:nvPr/>
        </p:nvSpPr>
        <p:spPr>
          <a:xfrm>
            <a:off x="1206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1" name="矩形 40"/>
          <p:cNvSpPr/>
          <p:nvPr/>
        </p:nvSpPr>
        <p:spPr>
          <a:xfrm>
            <a:off x="9969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2" name="矩形 41"/>
          <p:cNvSpPr/>
          <p:nvPr/>
        </p:nvSpPr>
        <p:spPr>
          <a:xfrm>
            <a:off x="18732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3" name="矩形 42"/>
          <p:cNvSpPr/>
          <p:nvPr/>
        </p:nvSpPr>
        <p:spPr>
          <a:xfrm>
            <a:off x="27495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4" name="矩形 43"/>
          <p:cNvSpPr/>
          <p:nvPr/>
        </p:nvSpPr>
        <p:spPr>
          <a:xfrm>
            <a:off x="3625850" y="2011502"/>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5" name="矩形 44"/>
          <p:cNvSpPr/>
          <p:nvPr/>
        </p:nvSpPr>
        <p:spPr>
          <a:xfrm>
            <a:off x="4502150" y="202579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1</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6" name="矩形 45"/>
          <p:cNvSpPr/>
          <p:nvPr/>
        </p:nvSpPr>
        <p:spPr>
          <a:xfrm>
            <a:off x="5378450" y="202579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6254750" y="202579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8" name="矩形 47"/>
          <p:cNvSpPr/>
          <p:nvPr/>
        </p:nvSpPr>
        <p:spPr>
          <a:xfrm>
            <a:off x="7131050" y="202579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49" name="矩形 48"/>
          <p:cNvSpPr/>
          <p:nvPr/>
        </p:nvSpPr>
        <p:spPr>
          <a:xfrm>
            <a:off x="8007350" y="2025790"/>
            <a:ext cx="72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0</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sp>
        <p:nvSpPr>
          <p:cNvPr id="50" name="矩形 49"/>
          <p:cNvSpPr/>
          <p:nvPr/>
        </p:nvSpPr>
        <p:spPr>
          <a:xfrm>
            <a:off x="9660300" y="2011502"/>
            <a:ext cx="720000" cy="72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600" dirty="0">
                <a:solidFill>
                  <a:schemeClr val="bg1"/>
                </a:solidFill>
                <a:latin typeface="微軟正黑體" panose="020B0604030504040204" pitchFamily="34" charset="-120"/>
                <a:ea typeface="微軟正黑體" panose="020B0604030504040204" pitchFamily="34" charset="-120"/>
              </a:rPr>
              <a:t>5</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p:cxnSp>
        <p:nvCxnSpPr>
          <p:cNvPr id="51" name="直線單箭頭接點 50"/>
          <p:cNvCxnSpPr>
            <a:cxnSpLocks/>
          </p:cNvCxnSpPr>
          <p:nvPr/>
        </p:nvCxnSpPr>
        <p:spPr>
          <a:xfrm flipH="1">
            <a:off x="2943520" y="5096238"/>
            <a:ext cx="315248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cxnSpLocks/>
          </p:cNvCxnSpPr>
          <p:nvPr/>
        </p:nvCxnSpPr>
        <p:spPr>
          <a:xfrm flipH="1">
            <a:off x="2943520" y="5363664"/>
            <a:ext cx="315248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p:nvPr/>
        </p:nvCxnSpPr>
        <p:spPr>
          <a:xfrm flipH="1">
            <a:off x="700675" y="4349205"/>
            <a:ext cx="72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cxnSpLocks/>
          </p:cNvCxnSpPr>
          <p:nvPr/>
        </p:nvCxnSpPr>
        <p:spPr>
          <a:xfrm flipH="1">
            <a:off x="996950" y="6677661"/>
            <a:ext cx="61341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06122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1000"/>
                                        <p:tgtEl>
                                          <p:spTgt spid="25"/>
                                        </p:tgtEl>
                                      </p:cBhvr>
                                    </p:animEffect>
                                    <p:anim calcmode="lin" valueType="num">
                                      <p:cBhvr>
                                        <p:cTn id="33" dur="1000" fill="hold"/>
                                        <p:tgtEl>
                                          <p:spTgt spid="25"/>
                                        </p:tgtEl>
                                        <p:attrNameLst>
                                          <p:attrName>ppt_x</p:attrName>
                                        </p:attrNameLst>
                                      </p:cBhvr>
                                      <p:tavLst>
                                        <p:tav tm="0">
                                          <p:val>
                                            <p:strVal val="#ppt_x"/>
                                          </p:val>
                                        </p:tav>
                                        <p:tav tm="100000">
                                          <p:val>
                                            <p:strVal val="#ppt_x"/>
                                          </p:val>
                                        </p:tav>
                                      </p:tavLst>
                                    </p:anim>
                                    <p:anim calcmode="lin" valueType="num">
                                      <p:cBhvr>
                                        <p:cTn id="34" dur="1000" fill="hold"/>
                                        <p:tgtEl>
                                          <p:spTgt spid="2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1000"/>
                                        <p:tgtEl>
                                          <p:spTgt spid="26"/>
                                        </p:tgtEl>
                                      </p:cBhvr>
                                    </p:animEffect>
                                    <p:anim calcmode="lin" valueType="num">
                                      <p:cBhvr>
                                        <p:cTn id="38" dur="1000" fill="hold"/>
                                        <p:tgtEl>
                                          <p:spTgt spid="26"/>
                                        </p:tgtEl>
                                        <p:attrNameLst>
                                          <p:attrName>ppt_x</p:attrName>
                                        </p:attrNameLst>
                                      </p:cBhvr>
                                      <p:tavLst>
                                        <p:tav tm="0">
                                          <p:val>
                                            <p:strVal val="#ppt_x"/>
                                          </p:val>
                                        </p:tav>
                                        <p:tav tm="100000">
                                          <p:val>
                                            <p:strVal val="#ppt_x"/>
                                          </p:val>
                                        </p:tav>
                                      </p:tavLst>
                                    </p:anim>
                                    <p:anim calcmode="lin" valueType="num">
                                      <p:cBhvr>
                                        <p:cTn id="39" dur="1000" fill="hold"/>
                                        <p:tgtEl>
                                          <p:spTgt spid="2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1000"/>
                                        <p:tgtEl>
                                          <p:spTgt spid="27"/>
                                        </p:tgtEl>
                                      </p:cBhvr>
                                    </p:animEffect>
                                    <p:anim calcmode="lin" valueType="num">
                                      <p:cBhvr>
                                        <p:cTn id="43" dur="1000" fill="hold"/>
                                        <p:tgtEl>
                                          <p:spTgt spid="27"/>
                                        </p:tgtEl>
                                        <p:attrNameLst>
                                          <p:attrName>ppt_x</p:attrName>
                                        </p:attrNameLst>
                                      </p:cBhvr>
                                      <p:tavLst>
                                        <p:tav tm="0">
                                          <p:val>
                                            <p:strVal val="#ppt_x"/>
                                          </p:val>
                                        </p:tav>
                                        <p:tav tm="100000">
                                          <p:val>
                                            <p:strVal val="#ppt_x"/>
                                          </p:val>
                                        </p:tav>
                                      </p:tavLst>
                                    </p:anim>
                                    <p:anim calcmode="lin" valueType="num">
                                      <p:cBhvr>
                                        <p:cTn id="44" dur="1000" fill="hold"/>
                                        <p:tgtEl>
                                          <p:spTgt spid="2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1000"/>
                                        <p:tgtEl>
                                          <p:spTgt spid="28"/>
                                        </p:tgtEl>
                                      </p:cBhvr>
                                    </p:animEffect>
                                    <p:anim calcmode="lin" valueType="num">
                                      <p:cBhvr>
                                        <p:cTn id="48" dur="1000" fill="hold"/>
                                        <p:tgtEl>
                                          <p:spTgt spid="28"/>
                                        </p:tgtEl>
                                        <p:attrNameLst>
                                          <p:attrName>ppt_x</p:attrName>
                                        </p:attrNameLst>
                                      </p:cBhvr>
                                      <p:tavLst>
                                        <p:tav tm="0">
                                          <p:val>
                                            <p:strVal val="#ppt_x"/>
                                          </p:val>
                                        </p:tav>
                                        <p:tav tm="100000">
                                          <p:val>
                                            <p:strVal val="#ppt_x"/>
                                          </p:val>
                                        </p:tav>
                                      </p:tavLst>
                                    </p:anim>
                                    <p:anim calcmode="lin" valueType="num">
                                      <p:cBhvr>
                                        <p:cTn id="49" dur="1000" fill="hold"/>
                                        <p:tgtEl>
                                          <p:spTgt spid="2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1000"/>
                                        <p:tgtEl>
                                          <p:spTgt spid="29"/>
                                        </p:tgtEl>
                                      </p:cBhvr>
                                    </p:animEffect>
                                    <p:anim calcmode="lin" valueType="num">
                                      <p:cBhvr>
                                        <p:cTn id="53" dur="1000" fill="hold"/>
                                        <p:tgtEl>
                                          <p:spTgt spid="29"/>
                                        </p:tgtEl>
                                        <p:attrNameLst>
                                          <p:attrName>ppt_x</p:attrName>
                                        </p:attrNameLst>
                                      </p:cBhvr>
                                      <p:tavLst>
                                        <p:tav tm="0">
                                          <p:val>
                                            <p:strVal val="#ppt_x"/>
                                          </p:val>
                                        </p:tav>
                                        <p:tav tm="100000">
                                          <p:val>
                                            <p:strVal val="#ppt_x"/>
                                          </p:val>
                                        </p:tav>
                                      </p:tavLst>
                                    </p:anim>
                                    <p:anim calcmode="lin" valueType="num">
                                      <p:cBhvr>
                                        <p:cTn id="5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xit" presetSubtype="21" fill="hold" grpId="1" nodeType="clickEffect">
                                  <p:stCondLst>
                                    <p:cond delay="0"/>
                                  </p:stCondLst>
                                  <p:childTnLst>
                                    <p:animEffect transition="out" filter="barn(inVertical)">
                                      <p:cBhvr>
                                        <p:cTn id="58" dur="500"/>
                                        <p:tgtEl>
                                          <p:spTgt spid="20"/>
                                        </p:tgtEl>
                                      </p:cBhvr>
                                    </p:animEffect>
                                    <p:set>
                                      <p:cBhvr>
                                        <p:cTn id="59" dur="1" fill="hold">
                                          <p:stCondLst>
                                            <p:cond delay="499"/>
                                          </p:stCondLst>
                                        </p:cTn>
                                        <p:tgtEl>
                                          <p:spTgt spid="20"/>
                                        </p:tgtEl>
                                        <p:attrNameLst>
                                          <p:attrName>style.visibility</p:attrName>
                                        </p:attrNameLst>
                                      </p:cBhvr>
                                      <p:to>
                                        <p:strVal val="hidden"/>
                                      </p:to>
                                    </p:set>
                                  </p:childTnLst>
                                </p:cTn>
                              </p:par>
                              <p:par>
                                <p:cTn id="60" presetID="16" presetClass="exit" presetSubtype="21" fill="hold" grpId="1" nodeType="withEffect">
                                  <p:stCondLst>
                                    <p:cond delay="0"/>
                                  </p:stCondLst>
                                  <p:childTnLst>
                                    <p:animEffect transition="out" filter="barn(inVertical)">
                                      <p:cBhvr>
                                        <p:cTn id="61" dur="500"/>
                                        <p:tgtEl>
                                          <p:spTgt spid="21"/>
                                        </p:tgtEl>
                                      </p:cBhvr>
                                    </p:animEffect>
                                    <p:set>
                                      <p:cBhvr>
                                        <p:cTn id="62" dur="1" fill="hold">
                                          <p:stCondLst>
                                            <p:cond delay="499"/>
                                          </p:stCondLst>
                                        </p:cTn>
                                        <p:tgtEl>
                                          <p:spTgt spid="21"/>
                                        </p:tgtEl>
                                        <p:attrNameLst>
                                          <p:attrName>style.visibility</p:attrName>
                                        </p:attrNameLst>
                                      </p:cBhvr>
                                      <p:to>
                                        <p:strVal val="hidden"/>
                                      </p:to>
                                    </p:set>
                                  </p:childTnLst>
                                </p:cTn>
                              </p:par>
                              <p:par>
                                <p:cTn id="63" presetID="16" presetClass="exit" presetSubtype="21" fill="hold" grpId="1" nodeType="withEffect">
                                  <p:stCondLst>
                                    <p:cond delay="0"/>
                                  </p:stCondLst>
                                  <p:childTnLst>
                                    <p:animEffect transition="out" filter="barn(inVertical)">
                                      <p:cBhvr>
                                        <p:cTn id="64" dur="500"/>
                                        <p:tgtEl>
                                          <p:spTgt spid="22"/>
                                        </p:tgtEl>
                                      </p:cBhvr>
                                    </p:animEffect>
                                    <p:set>
                                      <p:cBhvr>
                                        <p:cTn id="65" dur="1" fill="hold">
                                          <p:stCondLst>
                                            <p:cond delay="499"/>
                                          </p:stCondLst>
                                        </p:cTn>
                                        <p:tgtEl>
                                          <p:spTgt spid="22"/>
                                        </p:tgtEl>
                                        <p:attrNameLst>
                                          <p:attrName>style.visibility</p:attrName>
                                        </p:attrNameLst>
                                      </p:cBhvr>
                                      <p:to>
                                        <p:strVal val="hidden"/>
                                      </p:to>
                                    </p:set>
                                  </p:childTnLst>
                                </p:cTn>
                              </p:par>
                              <p:par>
                                <p:cTn id="66" presetID="16" presetClass="exit" presetSubtype="21" fill="hold" grpId="1" nodeType="withEffect">
                                  <p:stCondLst>
                                    <p:cond delay="0"/>
                                  </p:stCondLst>
                                  <p:childTnLst>
                                    <p:animEffect transition="out" filter="barn(inVertical)">
                                      <p:cBhvr>
                                        <p:cTn id="67" dur="500"/>
                                        <p:tgtEl>
                                          <p:spTgt spid="23"/>
                                        </p:tgtEl>
                                      </p:cBhvr>
                                    </p:animEffect>
                                    <p:set>
                                      <p:cBhvr>
                                        <p:cTn id="68" dur="1" fill="hold">
                                          <p:stCondLst>
                                            <p:cond delay="499"/>
                                          </p:stCondLst>
                                        </p:cTn>
                                        <p:tgtEl>
                                          <p:spTgt spid="23"/>
                                        </p:tgtEl>
                                        <p:attrNameLst>
                                          <p:attrName>style.visibility</p:attrName>
                                        </p:attrNameLst>
                                      </p:cBhvr>
                                      <p:to>
                                        <p:strVal val="hidden"/>
                                      </p:to>
                                    </p:set>
                                  </p:childTnLst>
                                </p:cTn>
                              </p:par>
                              <p:par>
                                <p:cTn id="69" presetID="16" presetClass="exit" presetSubtype="21" fill="hold" grpId="1" nodeType="withEffect">
                                  <p:stCondLst>
                                    <p:cond delay="0"/>
                                  </p:stCondLst>
                                  <p:childTnLst>
                                    <p:animEffect transition="out" filter="barn(inVertical)">
                                      <p:cBhvr>
                                        <p:cTn id="70" dur="500"/>
                                        <p:tgtEl>
                                          <p:spTgt spid="24"/>
                                        </p:tgtEl>
                                      </p:cBhvr>
                                    </p:animEffect>
                                    <p:set>
                                      <p:cBhvr>
                                        <p:cTn id="71" dur="1" fill="hold">
                                          <p:stCondLst>
                                            <p:cond delay="499"/>
                                          </p:stCondLst>
                                        </p:cTn>
                                        <p:tgtEl>
                                          <p:spTgt spid="24"/>
                                        </p:tgtEl>
                                        <p:attrNameLst>
                                          <p:attrName>style.visibility</p:attrName>
                                        </p:attrNameLst>
                                      </p:cBhvr>
                                      <p:to>
                                        <p:strVal val="hidden"/>
                                      </p:to>
                                    </p:set>
                                  </p:childTnLst>
                                </p:cTn>
                              </p:par>
                              <p:par>
                                <p:cTn id="72" presetID="16" presetClass="exit" presetSubtype="21" fill="hold" grpId="1" nodeType="withEffect">
                                  <p:stCondLst>
                                    <p:cond delay="0"/>
                                  </p:stCondLst>
                                  <p:childTnLst>
                                    <p:animEffect transition="out" filter="barn(inVertical)">
                                      <p:cBhvr>
                                        <p:cTn id="73" dur="500"/>
                                        <p:tgtEl>
                                          <p:spTgt spid="25"/>
                                        </p:tgtEl>
                                      </p:cBhvr>
                                    </p:animEffect>
                                    <p:set>
                                      <p:cBhvr>
                                        <p:cTn id="74" dur="1" fill="hold">
                                          <p:stCondLst>
                                            <p:cond delay="499"/>
                                          </p:stCondLst>
                                        </p:cTn>
                                        <p:tgtEl>
                                          <p:spTgt spid="25"/>
                                        </p:tgtEl>
                                        <p:attrNameLst>
                                          <p:attrName>style.visibility</p:attrName>
                                        </p:attrNameLst>
                                      </p:cBhvr>
                                      <p:to>
                                        <p:strVal val="hidden"/>
                                      </p:to>
                                    </p:set>
                                  </p:childTnLst>
                                </p:cTn>
                              </p:par>
                              <p:par>
                                <p:cTn id="75" presetID="16" presetClass="exit" presetSubtype="21" fill="hold" grpId="1" nodeType="withEffect">
                                  <p:stCondLst>
                                    <p:cond delay="0"/>
                                  </p:stCondLst>
                                  <p:childTnLst>
                                    <p:animEffect transition="out" filter="barn(inVertical)">
                                      <p:cBhvr>
                                        <p:cTn id="76" dur="500"/>
                                        <p:tgtEl>
                                          <p:spTgt spid="26"/>
                                        </p:tgtEl>
                                      </p:cBhvr>
                                    </p:animEffect>
                                    <p:set>
                                      <p:cBhvr>
                                        <p:cTn id="77" dur="1" fill="hold">
                                          <p:stCondLst>
                                            <p:cond delay="499"/>
                                          </p:stCondLst>
                                        </p:cTn>
                                        <p:tgtEl>
                                          <p:spTgt spid="26"/>
                                        </p:tgtEl>
                                        <p:attrNameLst>
                                          <p:attrName>style.visibility</p:attrName>
                                        </p:attrNameLst>
                                      </p:cBhvr>
                                      <p:to>
                                        <p:strVal val="hidden"/>
                                      </p:to>
                                    </p:set>
                                  </p:childTnLst>
                                </p:cTn>
                              </p:par>
                              <p:par>
                                <p:cTn id="78" presetID="16" presetClass="exit" presetSubtype="21" fill="hold" grpId="1" nodeType="withEffect">
                                  <p:stCondLst>
                                    <p:cond delay="0"/>
                                  </p:stCondLst>
                                  <p:childTnLst>
                                    <p:animEffect transition="out" filter="barn(inVertical)">
                                      <p:cBhvr>
                                        <p:cTn id="79" dur="500"/>
                                        <p:tgtEl>
                                          <p:spTgt spid="27"/>
                                        </p:tgtEl>
                                      </p:cBhvr>
                                    </p:animEffect>
                                    <p:set>
                                      <p:cBhvr>
                                        <p:cTn id="80" dur="1" fill="hold">
                                          <p:stCondLst>
                                            <p:cond delay="499"/>
                                          </p:stCondLst>
                                        </p:cTn>
                                        <p:tgtEl>
                                          <p:spTgt spid="27"/>
                                        </p:tgtEl>
                                        <p:attrNameLst>
                                          <p:attrName>style.visibility</p:attrName>
                                        </p:attrNameLst>
                                      </p:cBhvr>
                                      <p:to>
                                        <p:strVal val="hidden"/>
                                      </p:to>
                                    </p:set>
                                  </p:childTnLst>
                                </p:cTn>
                              </p:par>
                              <p:par>
                                <p:cTn id="81" presetID="16" presetClass="exit" presetSubtype="21" fill="hold" grpId="1" nodeType="withEffect">
                                  <p:stCondLst>
                                    <p:cond delay="0"/>
                                  </p:stCondLst>
                                  <p:childTnLst>
                                    <p:animEffect transition="out" filter="barn(inVertical)">
                                      <p:cBhvr>
                                        <p:cTn id="82" dur="500"/>
                                        <p:tgtEl>
                                          <p:spTgt spid="28"/>
                                        </p:tgtEl>
                                      </p:cBhvr>
                                    </p:animEffect>
                                    <p:set>
                                      <p:cBhvr>
                                        <p:cTn id="83" dur="1" fill="hold">
                                          <p:stCondLst>
                                            <p:cond delay="499"/>
                                          </p:stCondLst>
                                        </p:cTn>
                                        <p:tgtEl>
                                          <p:spTgt spid="28"/>
                                        </p:tgtEl>
                                        <p:attrNameLst>
                                          <p:attrName>style.visibility</p:attrName>
                                        </p:attrNameLst>
                                      </p:cBhvr>
                                      <p:to>
                                        <p:strVal val="hidden"/>
                                      </p:to>
                                    </p:set>
                                  </p:childTnLst>
                                </p:cTn>
                              </p:par>
                              <p:par>
                                <p:cTn id="84" presetID="16" presetClass="exit" presetSubtype="21" fill="hold" grpId="1" nodeType="withEffect">
                                  <p:stCondLst>
                                    <p:cond delay="0"/>
                                  </p:stCondLst>
                                  <p:childTnLst>
                                    <p:animEffect transition="out" filter="barn(inVertical)">
                                      <p:cBhvr>
                                        <p:cTn id="85" dur="500"/>
                                        <p:tgtEl>
                                          <p:spTgt spid="29"/>
                                        </p:tgtEl>
                                      </p:cBhvr>
                                    </p:animEffect>
                                    <p:set>
                                      <p:cBhvr>
                                        <p:cTn id="86" dur="1" fill="hold">
                                          <p:stCondLst>
                                            <p:cond delay="499"/>
                                          </p:stCondLst>
                                        </p:cTn>
                                        <p:tgtEl>
                                          <p:spTgt spid="29"/>
                                        </p:tgtEl>
                                        <p:attrNameLst>
                                          <p:attrName>style.visibility</p:attrName>
                                        </p:attrNameLst>
                                      </p:cBhvr>
                                      <p:to>
                                        <p:strVal val="hidden"/>
                                      </p:to>
                                    </p:set>
                                  </p:childTnLst>
                                </p:cTn>
                              </p:par>
                            </p:childTnLst>
                          </p:cTn>
                        </p:par>
                        <p:par>
                          <p:cTn id="87" fill="hold">
                            <p:stCondLst>
                              <p:cond delay="500"/>
                            </p:stCondLst>
                            <p:childTnLst>
                              <p:par>
                                <p:cTn id="88" presetID="16" presetClass="entr" presetSubtype="21" fill="hold" grpId="0" nodeType="after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barn(inVertical)">
                                      <p:cBhvr>
                                        <p:cTn id="90" dur="500"/>
                                        <p:tgtEl>
                                          <p:spTgt spid="2"/>
                                        </p:tgtEl>
                                      </p:cBhvr>
                                    </p:animEffect>
                                  </p:childTnLst>
                                </p:cTn>
                              </p:par>
                              <p:par>
                                <p:cTn id="91" presetID="16" presetClass="entr" presetSubtype="21" fill="hold" grpId="0" nodeType="with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barn(inVertical)">
                                      <p:cBhvr>
                                        <p:cTn id="93" dur="500"/>
                                        <p:tgtEl>
                                          <p:spTgt spid="9"/>
                                        </p:tgtEl>
                                      </p:cBhvr>
                                    </p:animEffect>
                                  </p:childTnLst>
                                </p:cTn>
                              </p:par>
                              <p:par>
                                <p:cTn id="94" presetID="16" presetClass="entr" presetSubtype="21" fill="hold" grpId="0" nodeType="withEffect">
                                  <p:stCondLst>
                                    <p:cond delay="0"/>
                                  </p:stCondLst>
                                  <p:childTnLst>
                                    <p:set>
                                      <p:cBhvr>
                                        <p:cTn id="95" dur="1" fill="hold">
                                          <p:stCondLst>
                                            <p:cond delay="0"/>
                                          </p:stCondLst>
                                        </p:cTn>
                                        <p:tgtEl>
                                          <p:spTgt spid="10"/>
                                        </p:tgtEl>
                                        <p:attrNameLst>
                                          <p:attrName>style.visibility</p:attrName>
                                        </p:attrNameLst>
                                      </p:cBhvr>
                                      <p:to>
                                        <p:strVal val="visible"/>
                                      </p:to>
                                    </p:set>
                                    <p:animEffect transition="in" filter="barn(inVertical)">
                                      <p:cBhvr>
                                        <p:cTn id="96" dur="500"/>
                                        <p:tgtEl>
                                          <p:spTgt spid="10"/>
                                        </p:tgtEl>
                                      </p:cBhvr>
                                    </p:animEffect>
                                  </p:childTnLst>
                                </p:cTn>
                              </p:par>
                              <p:par>
                                <p:cTn id="97" presetID="16" presetClass="entr" presetSubtype="21" fill="hold" grpId="0" nodeType="withEffect">
                                  <p:stCondLst>
                                    <p:cond delay="0"/>
                                  </p:stCondLst>
                                  <p:childTnLst>
                                    <p:set>
                                      <p:cBhvr>
                                        <p:cTn id="98" dur="1" fill="hold">
                                          <p:stCondLst>
                                            <p:cond delay="0"/>
                                          </p:stCondLst>
                                        </p:cTn>
                                        <p:tgtEl>
                                          <p:spTgt spid="11"/>
                                        </p:tgtEl>
                                        <p:attrNameLst>
                                          <p:attrName>style.visibility</p:attrName>
                                        </p:attrNameLst>
                                      </p:cBhvr>
                                      <p:to>
                                        <p:strVal val="visible"/>
                                      </p:to>
                                    </p:set>
                                    <p:animEffect transition="in" filter="barn(inVertical)">
                                      <p:cBhvr>
                                        <p:cTn id="99" dur="500"/>
                                        <p:tgtEl>
                                          <p:spTgt spid="11"/>
                                        </p:tgtEl>
                                      </p:cBhvr>
                                    </p:animEffect>
                                  </p:childTnLst>
                                </p:cTn>
                              </p:par>
                              <p:par>
                                <p:cTn id="100" presetID="16" presetClass="entr" presetSubtype="21" fill="hold" grpId="0" nodeType="withEffect">
                                  <p:stCondLst>
                                    <p:cond delay="0"/>
                                  </p:stCondLst>
                                  <p:childTnLst>
                                    <p:set>
                                      <p:cBhvr>
                                        <p:cTn id="101" dur="1" fill="hold">
                                          <p:stCondLst>
                                            <p:cond delay="0"/>
                                          </p:stCondLst>
                                        </p:cTn>
                                        <p:tgtEl>
                                          <p:spTgt spid="13"/>
                                        </p:tgtEl>
                                        <p:attrNameLst>
                                          <p:attrName>style.visibility</p:attrName>
                                        </p:attrNameLst>
                                      </p:cBhvr>
                                      <p:to>
                                        <p:strVal val="visible"/>
                                      </p:to>
                                    </p:set>
                                    <p:animEffect transition="in" filter="barn(inVertical)">
                                      <p:cBhvr>
                                        <p:cTn id="102" dur="500"/>
                                        <p:tgtEl>
                                          <p:spTgt spid="13"/>
                                        </p:tgtEl>
                                      </p:cBhvr>
                                    </p:animEffect>
                                  </p:childTnLst>
                                </p:cTn>
                              </p:par>
                              <p:par>
                                <p:cTn id="103" presetID="16" presetClass="entr" presetSubtype="21"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Effect transition="in" filter="barn(inVertical)">
                                      <p:cBhvr>
                                        <p:cTn id="105" dur="500"/>
                                        <p:tgtEl>
                                          <p:spTgt spid="14"/>
                                        </p:tgtEl>
                                      </p:cBhvr>
                                    </p:animEffect>
                                  </p:childTnLst>
                                </p:cTn>
                              </p:par>
                              <p:par>
                                <p:cTn id="106" presetID="16" presetClass="entr" presetSubtype="21" fill="hold" grpId="0" nodeType="withEffect">
                                  <p:stCondLst>
                                    <p:cond delay="0"/>
                                  </p:stCondLst>
                                  <p:childTnLst>
                                    <p:set>
                                      <p:cBhvr>
                                        <p:cTn id="107" dur="1" fill="hold">
                                          <p:stCondLst>
                                            <p:cond delay="0"/>
                                          </p:stCondLst>
                                        </p:cTn>
                                        <p:tgtEl>
                                          <p:spTgt spid="15"/>
                                        </p:tgtEl>
                                        <p:attrNameLst>
                                          <p:attrName>style.visibility</p:attrName>
                                        </p:attrNameLst>
                                      </p:cBhvr>
                                      <p:to>
                                        <p:strVal val="visible"/>
                                      </p:to>
                                    </p:set>
                                    <p:animEffect transition="in" filter="barn(inVertical)">
                                      <p:cBhvr>
                                        <p:cTn id="108" dur="500"/>
                                        <p:tgtEl>
                                          <p:spTgt spid="15"/>
                                        </p:tgtEl>
                                      </p:cBhvr>
                                    </p:animEffect>
                                  </p:childTnLst>
                                </p:cTn>
                              </p:par>
                              <p:par>
                                <p:cTn id="109" presetID="16" presetClass="entr" presetSubtype="21" fill="hold" grpId="0" nodeType="withEffect">
                                  <p:stCondLst>
                                    <p:cond delay="0"/>
                                  </p:stCondLst>
                                  <p:childTnLst>
                                    <p:set>
                                      <p:cBhvr>
                                        <p:cTn id="110" dur="1" fill="hold">
                                          <p:stCondLst>
                                            <p:cond delay="0"/>
                                          </p:stCondLst>
                                        </p:cTn>
                                        <p:tgtEl>
                                          <p:spTgt spid="16"/>
                                        </p:tgtEl>
                                        <p:attrNameLst>
                                          <p:attrName>style.visibility</p:attrName>
                                        </p:attrNameLst>
                                      </p:cBhvr>
                                      <p:to>
                                        <p:strVal val="visible"/>
                                      </p:to>
                                    </p:set>
                                    <p:animEffect transition="in" filter="barn(inVertical)">
                                      <p:cBhvr>
                                        <p:cTn id="111" dur="500"/>
                                        <p:tgtEl>
                                          <p:spTgt spid="16"/>
                                        </p:tgtEl>
                                      </p:cBhvr>
                                    </p:animEffect>
                                  </p:childTnLst>
                                </p:cTn>
                              </p:par>
                              <p:par>
                                <p:cTn id="112" presetID="16" presetClass="entr" presetSubtype="21" fill="hold" grpId="0" nodeType="withEffect">
                                  <p:stCondLst>
                                    <p:cond delay="0"/>
                                  </p:stCondLst>
                                  <p:childTnLst>
                                    <p:set>
                                      <p:cBhvr>
                                        <p:cTn id="113" dur="1" fill="hold">
                                          <p:stCondLst>
                                            <p:cond delay="0"/>
                                          </p:stCondLst>
                                        </p:cTn>
                                        <p:tgtEl>
                                          <p:spTgt spid="18"/>
                                        </p:tgtEl>
                                        <p:attrNameLst>
                                          <p:attrName>style.visibility</p:attrName>
                                        </p:attrNameLst>
                                      </p:cBhvr>
                                      <p:to>
                                        <p:strVal val="visible"/>
                                      </p:to>
                                    </p:set>
                                    <p:animEffect transition="in" filter="barn(inVertical)">
                                      <p:cBhvr>
                                        <p:cTn id="114" dur="500"/>
                                        <p:tgtEl>
                                          <p:spTgt spid="18"/>
                                        </p:tgtEl>
                                      </p:cBhvr>
                                    </p:animEffect>
                                  </p:childTnLst>
                                </p:cTn>
                              </p:par>
                              <p:par>
                                <p:cTn id="115" presetID="16" presetClass="entr" presetSubtype="21" fill="hold" grpId="0" nodeType="with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barn(inVertical)">
                                      <p:cBhvr>
                                        <p:cTn id="117" dur="500"/>
                                        <p:tgtEl>
                                          <p:spTgt spid="19"/>
                                        </p:tgtEl>
                                      </p:cBhvr>
                                    </p:animEffect>
                                  </p:childTnLst>
                                </p:cTn>
                              </p:par>
                            </p:childTnLst>
                          </p:cTn>
                        </p:par>
                      </p:childTnLst>
                    </p:cTn>
                  </p:par>
                  <p:par>
                    <p:cTn id="118" fill="hold">
                      <p:stCondLst>
                        <p:cond delay="indefinite"/>
                      </p:stCondLst>
                      <p:childTnLst>
                        <p:par>
                          <p:cTn id="119" fill="hold">
                            <p:stCondLst>
                              <p:cond delay="0"/>
                            </p:stCondLst>
                            <p:childTnLst>
                              <p:par>
                                <p:cTn id="120" presetID="16" presetClass="entr" presetSubtype="21" fill="hold" grpId="0" nodeType="clickEffect">
                                  <p:stCondLst>
                                    <p:cond delay="0"/>
                                  </p:stCondLst>
                                  <p:childTnLst>
                                    <p:set>
                                      <p:cBhvr>
                                        <p:cTn id="121" dur="1" fill="hold">
                                          <p:stCondLst>
                                            <p:cond delay="0"/>
                                          </p:stCondLst>
                                        </p:cTn>
                                        <p:tgtEl>
                                          <p:spTgt spid="30"/>
                                        </p:tgtEl>
                                        <p:attrNameLst>
                                          <p:attrName>style.visibility</p:attrName>
                                        </p:attrNameLst>
                                      </p:cBhvr>
                                      <p:to>
                                        <p:strVal val="visible"/>
                                      </p:to>
                                    </p:set>
                                    <p:animEffect transition="in" filter="barn(inVertical)">
                                      <p:cBhvr>
                                        <p:cTn id="122" dur="500"/>
                                        <p:tgtEl>
                                          <p:spTgt spid="30"/>
                                        </p:tgtEl>
                                      </p:cBhvr>
                                    </p:animEffect>
                                  </p:childTnLst>
                                </p:cTn>
                              </p:par>
                              <p:par>
                                <p:cTn id="123" presetID="16" presetClass="entr" presetSubtype="21" fill="hold" grpId="0" nodeType="withEffect">
                                  <p:stCondLst>
                                    <p:cond delay="0"/>
                                  </p:stCondLst>
                                  <p:childTnLst>
                                    <p:set>
                                      <p:cBhvr>
                                        <p:cTn id="124" dur="1" fill="hold">
                                          <p:stCondLst>
                                            <p:cond delay="0"/>
                                          </p:stCondLst>
                                        </p:cTn>
                                        <p:tgtEl>
                                          <p:spTgt spid="31"/>
                                        </p:tgtEl>
                                        <p:attrNameLst>
                                          <p:attrName>style.visibility</p:attrName>
                                        </p:attrNameLst>
                                      </p:cBhvr>
                                      <p:to>
                                        <p:strVal val="visible"/>
                                      </p:to>
                                    </p:set>
                                    <p:animEffect transition="in" filter="barn(inVertical)">
                                      <p:cBhvr>
                                        <p:cTn id="125" dur="500"/>
                                        <p:tgtEl>
                                          <p:spTgt spid="31"/>
                                        </p:tgtEl>
                                      </p:cBhvr>
                                    </p:animEffect>
                                  </p:childTnLst>
                                </p:cTn>
                              </p:par>
                              <p:par>
                                <p:cTn id="126" presetID="16" presetClass="entr" presetSubtype="21" fill="hold" grpId="0" nodeType="with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barn(inVertical)">
                                      <p:cBhvr>
                                        <p:cTn id="128" dur="500"/>
                                        <p:tgtEl>
                                          <p:spTgt spid="32"/>
                                        </p:tgtEl>
                                      </p:cBhvr>
                                    </p:animEffect>
                                  </p:childTnLst>
                                </p:cTn>
                              </p:par>
                              <p:par>
                                <p:cTn id="129" presetID="16" presetClass="entr" presetSubtype="21" fill="hold" grpId="0" nodeType="withEffect">
                                  <p:stCondLst>
                                    <p:cond delay="0"/>
                                  </p:stCondLst>
                                  <p:childTnLst>
                                    <p:set>
                                      <p:cBhvr>
                                        <p:cTn id="130" dur="1" fill="hold">
                                          <p:stCondLst>
                                            <p:cond delay="0"/>
                                          </p:stCondLst>
                                        </p:cTn>
                                        <p:tgtEl>
                                          <p:spTgt spid="33"/>
                                        </p:tgtEl>
                                        <p:attrNameLst>
                                          <p:attrName>style.visibility</p:attrName>
                                        </p:attrNameLst>
                                      </p:cBhvr>
                                      <p:to>
                                        <p:strVal val="visible"/>
                                      </p:to>
                                    </p:set>
                                    <p:animEffect transition="in" filter="barn(inVertical)">
                                      <p:cBhvr>
                                        <p:cTn id="131" dur="500"/>
                                        <p:tgtEl>
                                          <p:spTgt spid="33"/>
                                        </p:tgtEl>
                                      </p:cBhvr>
                                    </p:animEffect>
                                  </p:childTnLst>
                                </p:cTn>
                              </p:par>
                              <p:par>
                                <p:cTn id="132" presetID="16" presetClass="entr" presetSubtype="21" fill="hold" grpId="0" nodeType="withEffect">
                                  <p:stCondLst>
                                    <p:cond delay="0"/>
                                  </p:stCondLst>
                                  <p:childTnLst>
                                    <p:set>
                                      <p:cBhvr>
                                        <p:cTn id="133" dur="1" fill="hold">
                                          <p:stCondLst>
                                            <p:cond delay="0"/>
                                          </p:stCondLst>
                                        </p:cTn>
                                        <p:tgtEl>
                                          <p:spTgt spid="34"/>
                                        </p:tgtEl>
                                        <p:attrNameLst>
                                          <p:attrName>style.visibility</p:attrName>
                                        </p:attrNameLst>
                                      </p:cBhvr>
                                      <p:to>
                                        <p:strVal val="visible"/>
                                      </p:to>
                                    </p:set>
                                    <p:animEffect transition="in" filter="barn(inVertical)">
                                      <p:cBhvr>
                                        <p:cTn id="134" dur="500"/>
                                        <p:tgtEl>
                                          <p:spTgt spid="34"/>
                                        </p:tgtEl>
                                      </p:cBhvr>
                                    </p:animEffect>
                                  </p:childTnLst>
                                </p:cTn>
                              </p:par>
                              <p:par>
                                <p:cTn id="135" presetID="16" presetClass="entr" presetSubtype="21" fill="hold" grpId="0" nodeType="withEffect">
                                  <p:stCondLst>
                                    <p:cond delay="0"/>
                                  </p:stCondLst>
                                  <p:childTnLst>
                                    <p:set>
                                      <p:cBhvr>
                                        <p:cTn id="136" dur="1" fill="hold">
                                          <p:stCondLst>
                                            <p:cond delay="0"/>
                                          </p:stCondLst>
                                        </p:cTn>
                                        <p:tgtEl>
                                          <p:spTgt spid="35"/>
                                        </p:tgtEl>
                                        <p:attrNameLst>
                                          <p:attrName>style.visibility</p:attrName>
                                        </p:attrNameLst>
                                      </p:cBhvr>
                                      <p:to>
                                        <p:strVal val="visible"/>
                                      </p:to>
                                    </p:set>
                                    <p:animEffect transition="in" filter="barn(inVertical)">
                                      <p:cBhvr>
                                        <p:cTn id="137" dur="500"/>
                                        <p:tgtEl>
                                          <p:spTgt spid="35"/>
                                        </p:tgtEl>
                                      </p:cBhvr>
                                    </p:animEffect>
                                  </p:childTnLst>
                                </p:cTn>
                              </p:par>
                              <p:par>
                                <p:cTn id="138" presetID="16" presetClass="entr" presetSubtype="21" fill="hold" grpId="0" nodeType="withEffect">
                                  <p:stCondLst>
                                    <p:cond delay="0"/>
                                  </p:stCondLst>
                                  <p:childTnLst>
                                    <p:set>
                                      <p:cBhvr>
                                        <p:cTn id="139" dur="1" fill="hold">
                                          <p:stCondLst>
                                            <p:cond delay="0"/>
                                          </p:stCondLst>
                                        </p:cTn>
                                        <p:tgtEl>
                                          <p:spTgt spid="36"/>
                                        </p:tgtEl>
                                        <p:attrNameLst>
                                          <p:attrName>style.visibility</p:attrName>
                                        </p:attrNameLst>
                                      </p:cBhvr>
                                      <p:to>
                                        <p:strVal val="visible"/>
                                      </p:to>
                                    </p:set>
                                    <p:animEffect transition="in" filter="barn(inVertical)">
                                      <p:cBhvr>
                                        <p:cTn id="140" dur="500"/>
                                        <p:tgtEl>
                                          <p:spTgt spid="36"/>
                                        </p:tgtEl>
                                      </p:cBhvr>
                                    </p:animEffect>
                                  </p:childTnLst>
                                </p:cTn>
                              </p:par>
                              <p:par>
                                <p:cTn id="141" presetID="16" presetClass="entr" presetSubtype="21" fill="hold" grpId="0" nodeType="withEffect">
                                  <p:stCondLst>
                                    <p:cond delay="0"/>
                                  </p:stCondLst>
                                  <p:childTnLst>
                                    <p:set>
                                      <p:cBhvr>
                                        <p:cTn id="142" dur="1" fill="hold">
                                          <p:stCondLst>
                                            <p:cond delay="0"/>
                                          </p:stCondLst>
                                        </p:cTn>
                                        <p:tgtEl>
                                          <p:spTgt spid="37"/>
                                        </p:tgtEl>
                                        <p:attrNameLst>
                                          <p:attrName>style.visibility</p:attrName>
                                        </p:attrNameLst>
                                      </p:cBhvr>
                                      <p:to>
                                        <p:strVal val="visible"/>
                                      </p:to>
                                    </p:set>
                                    <p:animEffect transition="in" filter="barn(inVertical)">
                                      <p:cBhvr>
                                        <p:cTn id="143" dur="500"/>
                                        <p:tgtEl>
                                          <p:spTgt spid="37"/>
                                        </p:tgtEl>
                                      </p:cBhvr>
                                    </p:animEffect>
                                  </p:childTnLst>
                                </p:cTn>
                              </p:par>
                              <p:par>
                                <p:cTn id="144" presetID="16" presetClass="entr" presetSubtype="21" fill="hold" grpId="0" nodeType="with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barn(inVertical)">
                                      <p:cBhvr>
                                        <p:cTn id="146" dur="500"/>
                                        <p:tgtEl>
                                          <p:spTgt spid="38"/>
                                        </p:tgtEl>
                                      </p:cBhvr>
                                    </p:animEffect>
                                  </p:childTnLst>
                                </p:cTn>
                              </p:par>
                              <p:par>
                                <p:cTn id="147" presetID="16" presetClass="entr" presetSubtype="21" fill="hold" grpId="0" nodeType="withEffect">
                                  <p:stCondLst>
                                    <p:cond delay="0"/>
                                  </p:stCondLst>
                                  <p:childTnLst>
                                    <p:set>
                                      <p:cBhvr>
                                        <p:cTn id="148" dur="1" fill="hold">
                                          <p:stCondLst>
                                            <p:cond delay="0"/>
                                          </p:stCondLst>
                                        </p:cTn>
                                        <p:tgtEl>
                                          <p:spTgt spid="39"/>
                                        </p:tgtEl>
                                        <p:attrNameLst>
                                          <p:attrName>style.visibility</p:attrName>
                                        </p:attrNameLst>
                                      </p:cBhvr>
                                      <p:to>
                                        <p:strVal val="visible"/>
                                      </p:to>
                                    </p:set>
                                    <p:animEffect transition="in" filter="barn(inVertical)">
                                      <p:cBhvr>
                                        <p:cTn id="149" dur="500"/>
                                        <p:tgtEl>
                                          <p:spTgt spid="39"/>
                                        </p:tgtEl>
                                      </p:cBhvr>
                                    </p:animEffect>
                                  </p:childTnLst>
                                </p:cTn>
                              </p:par>
                              <p:par>
                                <p:cTn id="150" presetID="16" presetClass="entr" presetSubtype="21" fill="hold" grpId="0" nodeType="withEffect">
                                  <p:stCondLst>
                                    <p:cond delay="0"/>
                                  </p:stCondLst>
                                  <p:childTnLst>
                                    <p:set>
                                      <p:cBhvr>
                                        <p:cTn id="151" dur="1" fill="hold">
                                          <p:stCondLst>
                                            <p:cond delay="0"/>
                                          </p:stCondLst>
                                        </p:cTn>
                                        <p:tgtEl>
                                          <p:spTgt spid="40"/>
                                        </p:tgtEl>
                                        <p:attrNameLst>
                                          <p:attrName>style.visibility</p:attrName>
                                        </p:attrNameLst>
                                      </p:cBhvr>
                                      <p:to>
                                        <p:strVal val="visible"/>
                                      </p:to>
                                    </p:set>
                                    <p:animEffect transition="in" filter="barn(inVertical)">
                                      <p:cBhvr>
                                        <p:cTn id="152" dur="500"/>
                                        <p:tgtEl>
                                          <p:spTgt spid="40"/>
                                        </p:tgtEl>
                                      </p:cBhvr>
                                    </p:animEffect>
                                  </p:childTnLst>
                                </p:cTn>
                              </p:par>
                              <p:par>
                                <p:cTn id="153" presetID="16" presetClass="entr" presetSubtype="21" fill="hold" grpId="0" nodeType="withEffect">
                                  <p:stCondLst>
                                    <p:cond delay="0"/>
                                  </p:stCondLst>
                                  <p:childTnLst>
                                    <p:set>
                                      <p:cBhvr>
                                        <p:cTn id="154" dur="1" fill="hold">
                                          <p:stCondLst>
                                            <p:cond delay="0"/>
                                          </p:stCondLst>
                                        </p:cTn>
                                        <p:tgtEl>
                                          <p:spTgt spid="41"/>
                                        </p:tgtEl>
                                        <p:attrNameLst>
                                          <p:attrName>style.visibility</p:attrName>
                                        </p:attrNameLst>
                                      </p:cBhvr>
                                      <p:to>
                                        <p:strVal val="visible"/>
                                      </p:to>
                                    </p:set>
                                    <p:animEffect transition="in" filter="barn(inVertical)">
                                      <p:cBhvr>
                                        <p:cTn id="155" dur="500"/>
                                        <p:tgtEl>
                                          <p:spTgt spid="41"/>
                                        </p:tgtEl>
                                      </p:cBhvr>
                                    </p:animEffect>
                                  </p:childTnLst>
                                </p:cTn>
                              </p:par>
                              <p:par>
                                <p:cTn id="156" presetID="16" presetClass="entr" presetSubtype="21" fill="hold" grpId="0" nodeType="withEffect">
                                  <p:stCondLst>
                                    <p:cond delay="0"/>
                                  </p:stCondLst>
                                  <p:childTnLst>
                                    <p:set>
                                      <p:cBhvr>
                                        <p:cTn id="157" dur="1" fill="hold">
                                          <p:stCondLst>
                                            <p:cond delay="0"/>
                                          </p:stCondLst>
                                        </p:cTn>
                                        <p:tgtEl>
                                          <p:spTgt spid="42"/>
                                        </p:tgtEl>
                                        <p:attrNameLst>
                                          <p:attrName>style.visibility</p:attrName>
                                        </p:attrNameLst>
                                      </p:cBhvr>
                                      <p:to>
                                        <p:strVal val="visible"/>
                                      </p:to>
                                    </p:set>
                                    <p:animEffect transition="in" filter="barn(inVertical)">
                                      <p:cBhvr>
                                        <p:cTn id="158" dur="500"/>
                                        <p:tgtEl>
                                          <p:spTgt spid="42"/>
                                        </p:tgtEl>
                                      </p:cBhvr>
                                    </p:animEffect>
                                  </p:childTnLst>
                                </p:cTn>
                              </p:par>
                              <p:par>
                                <p:cTn id="159" presetID="16" presetClass="entr" presetSubtype="21" fill="hold" grpId="0" nodeType="withEffect">
                                  <p:stCondLst>
                                    <p:cond delay="0"/>
                                  </p:stCondLst>
                                  <p:childTnLst>
                                    <p:set>
                                      <p:cBhvr>
                                        <p:cTn id="160" dur="1" fill="hold">
                                          <p:stCondLst>
                                            <p:cond delay="0"/>
                                          </p:stCondLst>
                                        </p:cTn>
                                        <p:tgtEl>
                                          <p:spTgt spid="43"/>
                                        </p:tgtEl>
                                        <p:attrNameLst>
                                          <p:attrName>style.visibility</p:attrName>
                                        </p:attrNameLst>
                                      </p:cBhvr>
                                      <p:to>
                                        <p:strVal val="visible"/>
                                      </p:to>
                                    </p:set>
                                    <p:animEffect transition="in" filter="barn(inVertical)">
                                      <p:cBhvr>
                                        <p:cTn id="161" dur="500"/>
                                        <p:tgtEl>
                                          <p:spTgt spid="43"/>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44"/>
                                        </p:tgtEl>
                                        <p:attrNameLst>
                                          <p:attrName>style.visibility</p:attrName>
                                        </p:attrNameLst>
                                      </p:cBhvr>
                                      <p:to>
                                        <p:strVal val="visible"/>
                                      </p:to>
                                    </p:set>
                                    <p:animEffect transition="in" filter="barn(inVertical)">
                                      <p:cBhvr>
                                        <p:cTn id="164" dur="500"/>
                                        <p:tgtEl>
                                          <p:spTgt spid="44"/>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45"/>
                                        </p:tgtEl>
                                        <p:attrNameLst>
                                          <p:attrName>style.visibility</p:attrName>
                                        </p:attrNameLst>
                                      </p:cBhvr>
                                      <p:to>
                                        <p:strVal val="visible"/>
                                      </p:to>
                                    </p:set>
                                    <p:animEffect transition="in" filter="barn(inVertical)">
                                      <p:cBhvr>
                                        <p:cTn id="167" dur="500"/>
                                        <p:tgtEl>
                                          <p:spTgt spid="45"/>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46"/>
                                        </p:tgtEl>
                                        <p:attrNameLst>
                                          <p:attrName>style.visibility</p:attrName>
                                        </p:attrNameLst>
                                      </p:cBhvr>
                                      <p:to>
                                        <p:strVal val="visible"/>
                                      </p:to>
                                    </p:set>
                                    <p:animEffect transition="in" filter="barn(inVertical)">
                                      <p:cBhvr>
                                        <p:cTn id="170" dur="500"/>
                                        <p:tgtEl>
                                          <p:spTgt spid="46"/>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47"/>
                                        </p:tgtEl>
                                        <p:attrNameLst>
                                          <p:attrName>style.visibility</p:attrName>
                                        </p:attrNameLst>
                                      </p:cBhvr>
                                      <p:to>
                                        <p:strVal val="visible"/>
                                      </p:to>
                                    </p:set>
                                    <p:animEffect transition="in" filter="barn(inVertical)">
                                      <p:cBhvr>
                                        <p:cTn id="173" dur="500"/>
                                        <p:tgtEl>
                                          <p:spTgt spid="47"/>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48"/>
                                        </p:tgtEl>
                                        <p:attrNameLst>
                                          <p:attrName>style.visibility</p:attrName>
                                        </p:attrNameLst>
                                      </p:cBhvr>
                                      <p:to>
                                        <p:strVal val="visible"/>
                                      </p:to>
                                    </p:set>
                                    <p:animEffect transition="in" filter="barn(inVertical)">
                                      <p:cBhvr>
                                        <p:cTn id="176" dur="500"/>
                                        <p:tgtEl>
                                          <p:spTgt spid="48"/>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49"/>
                                        </p:tgtEl>
                                        <p:attrNameLst>
                                          <p:attrName>style.visibility</p:attrName>
                                        </p:attrNameLst>
                                      </p:cBhvr>
                                      <p:to>
                                        <p:strVal val="visible"/>
                                      </p:to>
                                    </p:set>
                                    <p:animEffect transition="in" filter="barn(inVertical)">
                                      <p:cBhvr>
                                        <p:cTn id="179" dur="500"/>
                                        <p:tgtEl>
                                          <p:spTgt spid="49"/>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barn(inVertical)">
                                      <p:cBhvr>
                                        <p:cTn id="182" dur="500"/>
                                        <p:tgtEl>
                                          <p:spTgt spid="50"/>
                                        </p:tgtEl>
                                      </p:cBhvr>
                                    </p:animEffect>
                                  </p:childTnLst>
                                </p:cTn>
                              </p:par>
                            </p:childTnLst>
                          </p:cTn>
                        </p:par>
                      </p:childTnLst>
                    </p:cTn>
                  </p:par>
                  <p:par>
                    <p:cTn id="183" fill="hold">
                      <p:stCondLst>
                        <p:cond delay="indefinite"/>
                      </p:stCondLst>
                      <p:childTnLst>
                        <p:par>
                          <p:cTn id="184" fill="hold">
                            <p:stCondLst>
                              <p:cond delay="0"/>
                            </p:stCondLst>
                            <p:childTnLst>
                              <p:par>
                                <p:cTn id="185" presetID="42" presetClass="entr" presetSubtype="0" fill="hold" nodeType="clickEffect">
                                  <p:stCondLst>
                                    <p:cond delay="0"/>
                                  </p:stCondLst>
                                  <p:childTnLst>
                                    <p:set>
                                      <p:cBhvr>
                                        <p:cTn id="186" dur="1" fill="hold">
                                          <p:stCondLst>
                                            <p:cond delay="0"/>
                                          </p:stCondLst>
                                        </p:cTn>
                                        <p:tgtEl>
                                          <p:spTgt spid="53"/>
                                        </p:tgtEl>
                                        <p:attrNameLst>
                                          <p:attrName>style.visibility</p:attrName>
                                        </p:attrNameLst>
                                      </p:cBhvr>
                                      <p:to>
                                        <p:strVal val="visible"/>
                                      </p:to>
                                    </p:set>
                                    <p:animEffect transition="in" filter="fade">
                                      <p:cBhvr>
                                        <p:cTn id="187" dur="1000"/>
                                        <p:tgtEl>
                                          <p:spTgt spid="53"/>
                                        </p:tgtEl>
                                      </p:cBhvr>
                                    </p:animEffect>
                                    <p:anim calcmode="lin" valueType="num">
                                      <p:cBhvr>
                                        <p:cTn id="188" dur="1000" fill="hold"/>
                                        <p:tgtEl>
                                          <p:spTgt spid="53"/>
                                        </p:tgtEl>
                                        <p:attrNameLst>
                                          <p:attrName>ppt_x</p:attrName>
                                        </p:attrNameLst>
                                      </p:cBhvr>
                                      <p:tavLst>
                                        <p:tav tm="0">
                                          <p:val>
                                            <p:strVal val="#ppt_x"/>
                                          </p:val>
                                        </p:tav>
                                        <p:tav tm="100000">
                                          <p:val>
                                            <p:strVal val="#ppt_x"/>
                                          </p:val>
                                        </p:tav>
                                      </p:tavLst>
                                    </p:anim>
                                    <p:anim calcmode="lin" valueType="num">
                                      <p:cBhvr>
                                        <p:cTn id="189" dur="1000" fill="hold"/>
                                        <p:tgtEl>
                                          <p:spTgt spid="53"/>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91" dur="1" fill="hold">
                                          <p:stCondLst>
                                            <p:cond delay="0"/>
                                          </p:stCondLst>
                                        </p:cTn>
                                        <p:tgtEl>
                                          <p:spTgt spid="54"/>
                                        </p:tgtEl>
                                        <p:attrNameLst>
                                          <p:attrName>style.visibility</p:attrName>
                                        </p:attrNameLst>
                                      </p:cBhvr>
                                      <p:to>
                                        <p:strVal val="visible"/>
                                      </p:to>
                                    </p:set>
                                    <p:animEffect transition="in" filter="fade">
                                      <p:cBhvr>
                                        <p:cTn id="192" dur="1000"/>
                                        <p:tgtEl>
                                          <p:spTgt spid="54"/>
                                        </p:tgtEl>
                                      </p:cBhvr>
                                    </p:animEffect>
                                    <p:anim calcmode="lin" valueType="num">
                                      <p:cBhvr>
                                        <p:cTn id="193" dur="1000" fill="hold"/>
                                        <p:tgtEl>
                                          <p:spTgt spid="54"/>
                                        </p:tgtEl>
                                        <p:attrNameLst>
                                          <p:attrName>ppt_x</p:attrName>
                                        </p:attrNameLst>
                                      </p:cBhvr>
                                      <p:tavLst>
                                        <p:tav tm="0">
                                          <p:val>
                                            <p:strVal val="#ppt_x"/>
                                          </p:val>
                                        </p:tav>
                                        <p:tav tm="100000">
                                          <p:val>
                                            <p:strVal val="#ppt_x"/>
                                          </p:val>
                                        </p:tav>
                                      </p:tavLst>
                                    </p:anim>
                                    <p:anim calcmode="lin" valueType="num">
                                      <p:cBhvr>
                                        <p:cTn id="19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42" presetClass="entr" presetSubtype="0" fill="hold" nodeType="clickEffect">
                                  <p:stCondLst>
                                    <p:cond delay="0"/>
                                  </p:stCondLst>
                                  <p:childTnLst>
                                    <p:set>
                                      <p:cBhvr>
                                        <p:cTn id="198" dur="1" fill="hold">
                                          <p:stCondLst>
                                            <p:cond delay="0"/>
                                          </p:stCondLst>
                                        </p:cTn>
                                        <p:tgtEl>
                                          <p:spTgt spid="51"/>
                                        </p:tgtEl>
                                        <p:attrNameLst>
                                          <p:attrName>style.visibility</p:attrName>
                                        </p:attrNameLst>
                                      </p:cBhvr>
                                      <p:to>
                                        <p:strVal val="visible"/>
                                      </p:to>
                                    </p:set>
                                    <p:animEffect transition="in" filter="fade">
                                      <p:cBhvr>
                                        <p:cTn id="199" dur="1000"/>
                                        <p:tgtEl>
                                          <p:spTgt spid="51"/>
                                        </p:tgtEl>
                                      </p:cBhvr>
                                    </p:animEffect>
                                    <p:anim calcmode="lin" valueType="num">
                                      <p:cBhvr>
                                        <p:cTn id="200" dur="1000" fill="hold"/>
                                        <p:tgtEl>
                                          <p:spTgt spid="51"/>
                                        </p:tgtEl>
                                        <p:attrNameLst>
                                          <p:attrName>ppt_x</p:attrName>
                                        </p:attrNameLst>
                                      </p:cBhvr>
                                      <p:tavLst>
                                        <p:tav tm="0">
                                          <p:val>
                                            <p:strVal val="#ppt_x"/>
                                          </p:val>
                                        </p:tav>
                                        <p:tav tm="100000">
                                          <p:val>
                                            <p:strVal val="#ppt_x"/>
                                          </p:val>
                                        </p:tav>
                                      </p:tavLst>
                                    </p:anim>
                                    <p:anim calcmode="lin" valueType="num">
                                      <p:cBhvr>
                                        <p:cTn id="201" dur="1000" fill="hold"/>
                                        <p:tgtEl>
                                          <p:spTgt spid="51"/>
                                        </p:tgtEl>
                                        <p:attrNameLst>
                                          <p:attrName>ppt_y</p:attrName>
                                        </p:attrNameLst>
                                      </p:cBhvr>
                                      <p:tavLst>
                                        <p:tav tm="0">
                                          <p:val>
                                            <p:strVal val="#ppt_y+.1"/>
                                          </p:val>
                                        </p:tav>
                                        <p:tav tm="100000">
                                          <p:val>
                                            <p:strVal val="#ppt_y"/>
                                          </p:val>
                                        </p:tav>
                                      </p:tavLst>
                                    </p:anim>
                                  </p:childTnLst>
                                </p:cTn>
                              </p:par>
                              <p:par>
                                <p:cTn id="202" presetID="42" presetClass="entr" presetSubtype="0" fill="hold" nodeType="withEffect">
                                  <p:stCondLst>
                                    <p:cond delay="0"/>
                                  </p:stCondLst>
                                  <p:childTnLst>
                                    <p:set>
                                      <p:cBhvr>
                                        <p:cTn id="203" dur="1" fill="hold">
                                          <p:stCondLst>
                                            <p:cond delay="0"/>
                                          </p:stCondLst>
                                        </p:cTn>
                                        <p:tgtEl>
                                          <p:spTgt spid="52"/>
                                        </p:tgtEl>
                                        <p:attrNameLst>
                                          <p:attrName>style.visibility</p:attrName>
                                        </p:attrNameLst>
                                      </p:cBhvr>
                                      <p:to>
                                        <p:strVal val="visible"/>
                                      </p:to>
                                    </p:set>
                                    <p:animEffect transition="in" filter="fade">
                                      <p:cBhvr>
                                        <p:cTn id="204" dur="1000"/>
                                        <p:tgtEl>
                                          <p:spTgt spid="52"/>
                                        </p:tgtEl>
                                      </p:cBhvr>
                                    </p:animEffect>
                                    <p:anim calcmode="lin" valueType="num">
                                      <p:cBhvr>
                                        <p:cTn id="205" dur="1000" fill="hold"/>
                                        <p:tgtEl>
                                          <p:spTgt spid="52"/>
                                        </p:tgtEl>
                                        <p:attrNameLst>
                                          <p:attrName>ppt_x</p:attrName>
                                        </p:attrNameLst>
                                      </p:cBhvr>
                                      <p:tavLst>
                                        <p:tav tm="0">
                                          <p:val>
                                            <p:strVal val="#ppt_x"/>
                                          </p:val>
                                        </p:tav>
                                        <p:tav tm="100000">
                                          <p:val>
                                            <p:strVal val="#ppt_x"/>
                                          </p:val>
                                        </p:tav>
                                      </p:tavLst>
                                    </p:anim>
                                    <p:anim calcmode="lin" valueType="num">
                                      <p:cBhvr>
                                        <p:cTn id="206"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20300" y="88900"/>
            <a:ext cx="20701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在輸出層部份</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48" y="1552051"/>
            <a:ext cx="8804767" cy="5110006"/>
          </a:xfrm>
          <a:prstGeom prst="rect">
            <a:avLst/>
          </a:prstGeom>
        </p:spPr>
      </p:pic>
      <p:sp>
        <p:nvSpPr>
          <p:cNvPr id="55" name="文字方塊 54"/>
          <p:cNvSpPr txBox="1"/>
          <p:nvPr/>
        </p:nvSpPr>
        <p:spPr>
          <a:xfrm>
            <a:off x="168048" y="936020"/>
            <a:ext cx="1192235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我們也可以用矩陣的語法，一次印出多組資料來比對，確認</a:t>
            </a:r>
            <a:r>
              <a:rPr lang="en-US" altLang="zh-TW" sz="2400" dirty="0">
                <a:solidFill>
                  <a:schemeClr val="bg1"/>
                </a:solidFill>
                <a:latin typeface="微軟正黑體" panose="020B0604030504040204" pitchFamily="34" charset="-120"/>
                <a:ea typeface="微軟正黑體" panose="020B0604030504040204" pitchFamily="34" charset="-120"/>
              </a:rPr>
              <a:t>one hot encoding</a:t>
            </a:r>
            <a:r>
              <a:rPr lang="zh-TW" altLang="en-US" sz="2400" dirty="0">
                <a:solidFill>
                  <a:schemeClr val="bg1"/>
                </a:solidFill>
                <a:latin typeface="微軟正黑體" panose="020B0604030504040204" pitchFamily="34" charset="-120"/>
                <a:ea typeface="微軟正黑體" panose="020B0604030504040204" pitchFamily="34" charset="-120"/>
              </a:rPr>
              <a:t>的用法</a:t>
            </a:r>
          </a:p>
        </p:txBody>
      </p:sp>
      <p:cxnSp>
        <p:nvCxnSpPr>
          <p:cNvPr id="56" name="直線單箭頭接點 55"/>
          <p:cNvCxnSpPr/>
          <p:nvPr/>
        </p:nvCxnSpPr>
        <p:spPr>
          <a:xfrm flipH="1">
            <a:off x="2078310" y="2698386"/>
            <a:ext cx="36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flipH="1">
            <a:off x="1860595" y="4276814"/>
            <a:ext cx="504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flipH="1">
            <a:off x="3188653" y="2698386"/>
            <a:ext cx="360000" cy="0"/>
          </a:xfrm>
          <a:prstGeom prst="straightConnector1">
            <a:avLst/>
          </a:prstGeom>
          <a:ln w="5080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flipH="1">
            <a:off x="1860595" y="5115014"/>
            <a:ext cx="5040000" cy="0"/>
          </a:xfrm>
          <a:prstGeom prst="straightConnector1">
            <a:avLst/>
          </a:prstGeom>
          <a:ln w="5080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flipH="1">
            <a:off x="5082767" y="2698386"/>
            <a:ext cx="360000" cy="0"/>
          </a:xfrm>
          <a:prstGeom prst="straightConnector1">
            <a:avLst/>
          </a:prstGeom>
          <a:ln w="50800">
            <a:solidFill>
              <a:srgbClr val="00B0F0"/>
            </a:solidFill>
            <a:tailEnd type="none" w="lg" len="lg"/>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H="1">
            <a:off x="1860595" y="6541042"/>
            <a:ext cx="5040000" cy="0"/>
          </a:xfrm>
          <a:prstGeom prst="straightConnector1">
            <a:avLst/>
          </a:prstGeom>
          <a:ln w="50800">
            <a:solidFill>
              <a:srgbClr val="00B0F0"/>
            </a:solidFill>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27765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anim calcmode="lin" valueType="num">
                                      <p:cBhvr>
                                        <p:cTn id="8" dur="1000" fill="hold"/>
                                        <p:tgtEl>
                                          <p:spTgt spid="55"/>
                                        </p:tgtEl>
                                        <p:attrNameLst>
                                          <p:attrName>ppt_x</p:attrName>
                                        </p:attrNameLst>
                                      </p:cBhvr>
                                      <p:tavLst>
                                        <p:tav tm="0">
                                          <p:val>
                                            <p:strVal val="#ppt_x"/>
                                          </p:val>
                                        </p:tav>
                                        <p:tav tm="100000">
                                          <p:val>
                                            <p:strVal val="#ppt_x"/>
                                          </p:val>
                                        </p:tav>
                                      </p:tavLst>
                                    </p:anim>
                                    <p:anim calcmode="lin" valueType="num">
                                      <p:cBhvr>
                                        <p:cTn id="9"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fade">
                                      <p:cBhvr>
                                        <p:cTn id="14" dur="1000"/>
                                        <p:tgtEl>
                                          <p:spTgt spid="56"/>
                                        </p:tgtEl>
                                      </p:cBhvr>
                                    </p:animEffect>
                                    <p:anim calcmode="lin" valueType="num">
                                      <p:cBhvr>
                                        <p:cTn id="15" dur="1000" fill="hold"/>
                                        <p:tgtEl>
                                          <p:spTgt spid="56"/>
                                        </p:tgtEl>
                                        <p:attrNameLst>
                                          <p:attrName>ppt_x</p:attrName>
                                        </p:attrNameLst>
                                      </p:cBhvr>
                                      <p:tavLst>
                                        <p:tav tm="0">
                                          <p:val>
                                            <p:strVal val="#ppt_x"/>
                                          </p:val>
                                        </p:tav>
                                        <p:tav tm="100000">
                                          <p:val>
                                            <p:strVal val="#ppt_x"/>
                                          </p:val>
                                        </p:tav>
                                      </p:tavLst>
                                    </p:anim>
                                    <p:anim calcmode="lin" valueType="num">
                                      <p:cBhvr>
                                        <p:cTn id="16" dur="1000" fill="hold"/>
                                        <p:tgtEl>
                                          <p:spTgt spid="5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1000"/>
                                        <p:tgtEl>
                                          <p:spTgt spid="57"/>
                                        </p:tgtEl>
                                      </p:cBhvr>
                                    </p:animEffect>
                                    <p:anim calcmode="lin" valueType="num">
                                      <p:cBhvr>
                                        <p:cTn id="20" dur="1000" fill="hold"/>
                                        <p:tgtEl>
                                          <p:spTgt spid="57"/>
                                        </p:tgtEl>
                                        <p:attrNameLst>
                                          <p:attrName>ppt_x</p:attrName>
                                        </p:attrNameLst>
                                      </p:cBhvr>
                                      <p:tavLst>
                                        <p:tav tm="0">
                                          <p:val>
                                            <p:strVal val="#ppt_x"/>
                                          </p:val>
                                        </p:tav>
                                        <p:tav tm="100000">
                                          <p:val>
                                            <p:strVal val="#ppt_x"/>
                                          </p:val>
                                        </p:tav>
                                      </p:tavLst>
                                    </p:anim>
                                    <p:anim calcmode="lin" valueType="num">
                                      <p:cBhvr>
                                        <p:cTn id="21"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fade">
                                      <p:cBhvr>
                                        <p:cTn id="26" dur="1000"/>
                                        <p:tgtEl>
                                          <p:spTgt spid="58"/>
                                        </p:tgtEl>
                                      </p:cBhvr>
                                    </p:animEffect>
                                    <p:anim calcmode="lin" valueType="num">
                                      <p:cBhvr>
                                        <p:cTn id="27" dur="1000" fill="hold"/>
                                        <p:tgtEl>
                                          <p:spTgt spid="58"/>
                                        </p:tgtEl>
                                        <p:attrNameLst>
                                          <p:attrName>ppt_x</p:attrName>
                                        </p:attrNameLst>
                                      </p:cBhvr>
                                      <p:tavLst>
                                        <p:tav tm="0">
                                          <p:val>
                                            <p:strVal val="#ppt_x"/>
                                          </p:val>
                                        </p:tav>
                                        <p:tav tm="100000">
                                          <p:val>
                                            <p:strVal val="#ppt_x"/>
                                          </p:val>
                                        </p:tav>
                                      </p:tavLst>
                                    </p:anim>
                                    <p:anim calcmode="lin" valueType="num">
                                      <p:cBhvr>
                                        <p:cTn id="28" dur="1000" fill="hold"/>
                                        <p:tgtEl>
                                          <p:spTgt spid="58"/>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1000"/>
                                        <p:tgtEl>
                                          <p:spTgt spid="59"/>
                                        </p:tgtEl>
                                      </p:cBhvr>
                                    </p:animEffect>
                                    <p:anim calcmode="lin" valueType="num">
                                      <p:cBhvr>
                                        <p:cTn id="32" dur="1000" fill="hold"/>
                                        <p:tgtEl>
                                          <p:spTgt spid="59"/>
                                        </p:tgtEl>
                                        <p:attrNameLst>
                                          <p:attrName>ppt_x</p:attrName>
                                        </p:attrNameLst>
                                      </p:cBhvr>
                                      <p:tavLst>
                                        <p:tav tm="0">
                                          <p:val>
                                            <p:strVal val="#ppt_x"/>
                                          </p:val>
                                        </p:tav>
                                        <p:tav tm="100000">
                                          <p:val>
                                            <p:strVal val="#ppt_x"/>
                                          </p:val>
                                        </p:tav>
                                      </p:tavLst>
                                    </p:anim>
                                    <p:anim calcmode="lin" valueType="num">
                                      <p:cBhvr>
                                        <p:cTn id="33"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1000"/>
                                        <p:tgtEl>
                                          <p:spTgt spid="60"/>
                                        </p:tgtEl>
                                      </p:cBhvr>
                                    </p:animEffect>
                                    <p:anim calcmode="lin" valueType="num">
                                      <p:cBhvr>
                                        <p:cTn id="39" dur="1000" fill="hold"/>
                                        <p:tgtEl>
                                          <p:spTgt spid="60"/>
                                        </p:tgtEl>
                                        <p:attrNameLst>
                                          <p:attrName>ppt_x</p:attrName>
                                        </p:attrNameLst>
                                      </p:cBhvr>
                                      <p:tavLst>
                                        <p:tav tm="0">
                                          <p:val>
                                            <p:strVal val="#ppt_x"/>
                                          </p:val>
                                        </p:tav>
                                        <p:tav tm="100000">
                                          <p:val>
                                            <p:strVal val="#ppt_x"/>
                                          </p:val>
                                        </p:tav>
                                      </p:tavLst>
                                    </p:anim>
                                    <p:anim calcmode="lin" valueType="num">
                                      <p:cBhvr>
                                        <p:cTn id="40" dur="1000" fill="hold"/>
                                        <p:tgtEl>
                                          <p:spTgt spid="60"/>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1000"/>
                                        <p:tgtEl>
                                          <p:spTgt spid="61"/>
                                        </p:tgtEl>
                                      </p:cBhvr>
                                    </p:animEffect>
                                    <p:anim calcmode="lin" valueType="num">
                                      <p:cBhvr>
                                        <p:cTn id="44" dur="1000" fill="hold"/>
                                        <p:tgtEl>
                                          <p:spTgt spid="61"/>
                                        </p:tgtEl>
                                        <p:attrNameLst>
                                          <p:attrName>ppt_x</p:attrName>
                                        </p:attrNameLst>
                                      </p:cBhvr>
                                      <p:tavLst>
                                        <p:tav tm="0">
                                          <p:val>
                                            <p:strVal val="#ppt_x"/>
                                          </p:val>
                                        </p:tav>
                                        <p:tav tm="100000">
                                          <p:val>
                                            <p:strVal val="#ppt_x"/>
                                          </p:val>
                                        </p:tav>
                                      </p:tavLst>
                                    </p:anim>
                                    <p:anim calcmode="lin" valueType="num">
                                      <p:cBhvr>
                                        <p:cTn id="45"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C6F2E1-3F7D-DDB0-04E2-F75FCB45A45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7977260-0AFC-5AA8-0293-51BC6BCBCE9E}"/>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1581639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w Cen MT" panose="020B0602020104020603"/>
              <a:ea typeface="新細明體" panose="02020500000000000000" pitchFamily="18" charset="-120"/>
              <a:cs typeface="+mn-cs"/>
            </a:endParaRPr>
          </a:p>
        </p:txBody>
      </p:sp>
      <p:sp>
        <p:nvSpPr>
          <p:cNvPr id="5" name="文字方塊 4"/>
          <p:cNvSpPr txBox="1"/>
          <p:nvPr/>
        </p:nvSpPr>
        <p:spPr>
          <a:xfrm>
            <a:off x="6388100" y="88900"/>
            <a:ext cx="5702299" cy="830997"/>
          </a:xfrm>
          <a:prstGeom prst="rect">
            <a:avLst/>
          </a:prstGeom>
          <a:solidFill>
            <a:schemeClr val="accent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在把資料丟進模型訓練之前，需要進行一些資料預處理的步驟</a:t>
            </a:r>
            <a:endPar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7" name="文字方塊 6"/>
          <p:cNvSpPr txBox="1"/>
          <p:nvPr/>
        </p:nvSpPr>
        <p:spPr>
          <a:xfrm>
            <a:off x="6388099" y="1028700"/>
            <a:ext cx="5702299" cy="830997"/>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對於每種不一樣的應用，也會有自己不同的資料預處理的步驟</a:t>
            </a:r>
          </a:p>
        </p:txBody>
      </p:sp>
      <p:sp>
        <p:nvSpPr>
          <p:cNvPr id="9" name="文字方塊 8"/>
          <p:cNvSpPr txBox="1"/>
          <p:nvPr/>
        </p:nvSpPr>
        <p:spPr>
          <a:xfrm>
            <a:off x="6388097" y="1968500"/>
            <a:ext cx="5702299" cy="1200329"/>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有些資料預處理並不是必要的，但有可能會影響最終的預測準確度（所以還是要做</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p>
        </p:txBody>
      </p:sp>
      <p:pic>
        <p:nvPicPr>
          <p:cNvPr id="3" name="圖片 2">
            <a:extLst>
              <a:ext uri="{FF2B5EF4-FFF2-40B4-BE49-F238E27FC236}">
                <a16:creationId xmlns:a16="http://schemas.microsoft.com/office/drawing/2014/main" id="{E4B7477B-B81F-EAD7-A4D3-B2D8E8711963}"/>
              </a:ext>
            </a:extLst>
          </p:cNvPr>
          <p:cNvPicPr>
            <a:picLocks noChangeAspect="1"/>
          </p:cNvPicPr>
          <p:nvPr/>
        </p:nvPicPr>
        <p:blipFill>
          <a:blip r:embed="rId2"/>
          <a:stretch>
            <a:fillRect/>
          </a:stretch>
        </p:blipFill>
        <p:spPr>
          <a:xfrm>
            <a:off x="978331" y="0"/>
            <a:ext cx="10098680" cy="6858000"/>
          </a:xfrm>
          <a:prstGeom prst="rect">
            <a:avLst/>
          </a:prstGeom>
        </p:spPr>
      </p:pic>
    </p:spTree>
    <p:extLst>
      <p:ext uri="{BB962C8B-B14F-4D97-AF65-F5344CB8AC3E}">
        <p14:creationId xmlns:p14="http://schemas.microsoft.com/office/powerpoint/2010/main" val="577628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grpId="1" nodeType="clickEffect">
                                  <p:stCondLst>
                                    <p:cond delay="0"/>
                                  </p:stCondLst>
                                  <p:childTnLst>
                                    <p:animEffect transition="out" filter="fade">
                                      <p:cBhvr>
                                        <p:cTn id="20" dur="1000"/>
                                        <p:tgtEl>
                                          <p:spTgt spid="7"/>
                                        </p:tgtEl>
                                      </p:cBhvr>
                                    </p:animEffect>
                                    <p:anim calcmode="lin" valueType="num">
                                      <p:cBhvr>
                                        <p:cTn id="21" dur="1000"/>
                                        <p:tgtEl>
                                          <p:spTgt spid="7"/>
                                        </p:tgtEl>
                                        <p:attrNameLst>
                                          <p:attrName>ppt_x</p:attrName>
                                        </p:attrNameLst>
                                      </p:cBhvr>
                                      <p:tavLst>
                                        <p:tav tm="0">
                                          <p:val>
                                            <p:strVal val="ppt_x"/>
                                          </p:val>
                                        </p:tav>
                                        <p:tav tm="100000">
                                          <p:val>
                                            <p:strVal val="ppt_x"/>
                                          </p:val>
                                        </p:tav>
                                      </p:tavLst>
                                    </p:anim>
                                    <p:anim calcmode="lin" valueType="num">
                                      <p:cBhvr>
                                        <p:cTn id="22" dur="1000"/>
                                        <p:tgtEl>
                                          <p:spTgt spid="7"/>
                                        </p:tgtEl>
                                        <p:attrNameLst>
                                          <p:attrName>ppt_y</p:attrName>
                                        </p:attrNameLst>
                                      </p:cBhvr>
                                      <p:tavLst>
                                        <p:tav tm="0">
                                          <p:val>
                                            <p:strVal val="ppt_y"/>
                                          </p:val>
                                        </p:tav>
                                        <p:tav tm="100000">
                                          <p:val>
                                            <p:strVal val="ppt_y+.1"/>
                                          </p:val>
                                        </p:tav>
                                      </p:tavLst>
                                    </p:anim>
                                    <p:set>
                                      <p:cBhvr>
                                        <p:cTn id="23" dur="1" fill="hold">
                                          <p:stCondLst>
                                            <p:cond delay="999"/>
                                          </p:stCondLst>
                                        </p:cTn>
                                        <p:tgtEl>
                                          <p:spTgt spid="7"/>
                                        </p:tgtEl>
                                        <p:attrNameLst>
                                          <p:attrName>style.visibility</p:attrName>
                                        </p:attrNameLst>
                                      </p:cBhvr>
                                      <p:to>
                                        <p:strVal val="hidden"/>
                                      </p:to>
                                    </p:set>
                                  </p:childTnLst>
                                </p:cTn>
                              </p:par>
                              <p:par>
                                <p:cTn id="24" presetID="42" presetClass="exit" presetSubtype="0" fill="hold" grpId="1" nodeType="withEffect">
                                  <p:stCondLst>
                                    <p:cond delay="0"/>
                                  </p:stCondLst>
                                  <p:childTnLst>
                                    <p:animEffect transition="out" filter="fade">
                                      <p:cBhvr>
                                        <p:cTn id="25" dur="1000"/>
                                        <p:tgtEl>
                                          <p:spTgt spid="9"/>
                                        </p:tgtEl>
                                      </p:cBhvr>
                                    </p:animEffect>
                                    <p:anim calcmode="lin" valueType="num">
                                      <p:cBhvr>
                                        <p:cTn id="26" dur="1000"/>
                                        <p:tgtEl>
                                          <p:spTgt spid="9"/>
                                        </p:tgtEl>
                                        <p:attrNameLst>
                                          <p:attrName>ppt_x</p:attrName>
                                        </p:attrNameLst>
                                      </p:cBhvr>
                                      <p:tavLst>
                                        <p:tav tm="0">
                                          <p:val>
                                            <p:strVal val="ppt_x"/>
                                          </p:val>
                                        </p:tav>
                                        <p:tav tm="100000">
                                          <p:val>
                                            <p:strVal val="ppt_x"/>
                                          </p:val>
                                        </p:tav>
                                      </p:tavLst>
                                    </p:anim>
                                    <p:anim calcmode="lin" valueType="num">
                                      <p:cBhvr>
                                        <p:cTn id="27" dur="1000"/>
                                        <p:tgtEl>
                                          <p:spTgt spid="9"/>
                                        </p:tgtEl>
                                        <p:attrNameLst>
                                          <p:attrName>ppt_y</p:attrName>
                                        </p:attrNameLst>
                                      </p:cBhvr>
                                      <p:tavLst>
                                        <p:tav tm="0">
                                          <p:val>
                                            <p:strVal val="ppt_y"/>
                                          </p:val>
                                        </p:tav>
                                        <p:tav tm="100000">
                                          <p:val>
                                            <p:strVal val="ppt_y+.1"/>
                                          </p:val>
                                        </p:tav>
                                      </p:tavLst>
                                    </p:anim>
                                    <p:set>
                                      <p:cBhvr>
                                        <p:cTn id="28" dur="1" fill="hold">
                                          <p:stCondLst>
                                            <p:cond delay="999"/>
                                          </p:stCondLst>
                                        </p:cTn>
                                        <p:tgtEl>
                                          <p:spTgt spid="9"/>
                                        </p:tgtEl>
                                        <p:attrNameLst>
                                          <p:attrName>style.visibility</p:attrName>
                                        </p:attrNameLst>
                                      </p:cBhvr>
                                      <p:to>
                                        <p:strVal val="hidden"/>
                                      </p:to>
                                    </p:set>
                                  </p:childTnLst>
                                </p:cTn>
                              </p:par>
                              <p:par>
                                <p:cTn id="29" presetID="42" presetClass="exit" presetSubtype="0" fill="hold" grpId="0" nodeType="withEffect">
                                  <p:stCondLst>
                                    <p:cond delay="0"/>
                                  </p:stCondLst>
                                  <p:childTnLst>
                                    <p:animEffect transition="out" filter="fade">
                                      <p:cBhvr>
                                        <p:cTn id="30" dur="1000"/>
                                        <p:tgtEl>
                                          <p:spTgt spid="5"/>
                                        </p:tgtEl>
                                      </p:cBhvr>
                                    </p:animEffect>
                                    <p:anim calcmode="lin" valueType="num">
                                      <p:cBhvr>
                                        <p:cTn id="31" dur="1000"/>
                                        <p:tgtEl>
                                          <p:spTgt spid="5"/>
                                        </p:tgtEl>
                                        <p:attrNameLst>
                                          <p:attrName>ppt_x</p:attrName>
                                        </p:attrNameLst>
                                      </p:cBhvr>
                                      <p:tavLst>
                                        <p:tav tm="0">
                                          <p:val>
                                            <p:strVal val="ppt_x"/>
                                          </p:val>
                                        </p:tav>
                                        <p:tav tm="100000">
                                          <p:val>
                                            <p:strVal val="ppt_x"/>
                                          </p:val>
                                        </p:tav>
                                      </p:tavLst>
                                    </p:anim>
                                    <p:anim calcmode="lin" valueType="num">
                                      <p:cBhvr>
                                        <p:cTn id="32" dur="1000"/>
                                        <p:tgtEl>
                                          <p:spTgt spid="5"/>
                                        </p:tgtEl>
                                        <p:attrNameLst>
                                          <p:attrName>ppt_y</p:attrName>
                                        </p:attrNameLst>
                                      </p:cBhvr>
                                      <p:tavLst>
                                        <p:tav tm="0">
                                          <p:val>
                                            <p:strVal val="ppt_y"/>
                                          </p:val>
                                        </p:tav>
                                        <p:tav tm="100000">
                                          <p:val>
                                            <p:strVal val="ppt_y+.1"/>
                                          </p:val>
                                        </p:tav>
                                      </p:tavLst>
                                    </p:anim>
                                    <p:set>
                                      <p:cBhvr>
                                        <p:cTn id="33" dur="1" fill="hold">
                                          <p:stCondLst>
                                            <p:cond delay="999"/>
                                          </p:stCondLst>
                                        </p:cTn>
                                        <p:tgtEl>
                                          <p:spTgt spid="5"/>
                                        </p:tgtEl>
                                        <p:attrNameLst>
                                          <p:attrName>style.visibility</p:attrName>
                                        </p:attrNameLst>
                                      </p:cBhvr>
                                      <p:to>
                                        <p:strVal val="hidden"/>
                                      </p:to>
                                    </p:set>
                                  </p:childTnLst>
                                </p:cTn>
                              </p:par>
                              <p:par>
                                <p:cTn id="34" presetID="16" presetClass="entr" presetSubtype="21"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arn(inVertical)">
                                      <p:cBhvr>
                                        <p:cTn id="36" dur="500"/>
                                        <p:tgtEl>
                                          <p:spTgt spid="11"/>
                                        </p:tgtEl>
                                      </p:cBhvr>
                                    </p:animEffect>
                                  </p:childTnLst>
                                </p:cTn>
                              </p:par>
                              <p:par>
                                <p:cTn id="37" presetID="16" presetClass="entr" presetSubtype="21"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arn(inVertical)">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animBg="1"/>
      <p:bldP spid="7" grpId="0" animBg="1"/>
      <p:bldP spid="7" grpId="1" animBg="1"/>
      <p:bldP spid="9" grpId="0" animBg="1"/>
      <p:bldP spid="9"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w Cen MT" panose="020B0602020104020603"/>
              <a:ea typeface="新細明體" panose="02020500000000000000" pitchFamily="18" charset="-120"/>
              <a:cs typeface="+mn-cs"/>
            </a:endParaRPr>
          </a:p>
        </p:txBody>
      </p:sp>
      <p:pic>
        <p:nvPicPr>
          <p:cNvPr id="3" name="圖片 2">
            <a:extLst>
              <a:ext uri="{FF2B5EF4-FFF2-40B4-BE49-F238E27FC236}">
                <a16:creationId xmlns:a16="http://schemas.microsoft.com/office/drawing/2014/main" id="{E2255638-10AD-7B72-0E3E-0FBADF4C698D}"/>
              </a:ext>
            </a:extLst>
          </p:cNvPr>
          <p:cNvPicPr>
            <a:picLocks noChangeAspect="1"/>
          </p:cNvPicPr>
          <p:nvPr/>
        </p:nvPicPr>
        <p:blipFill>
          <a:blip r:embed="rId2"/>
          <a:stretch>
            <a:fillRect/>
          </a:stretch>
        </p:blipFill>
        <p:spPr>
          <a:xfrm>
            <a:off x="978331" y="0"/>
            <a:ext cx="10098680" cy="6858000"/>
          </a:xfrm>
          <a:prstGeom prst="rect">
            <a:avLst/>
          </a:prstGeom>
        </p:spPr>
      </p:pic>
      <p:sp>
        <p:nvSpPr>
          <p:cNvPr id="11" name="矩形 10"/>
          <p:cNvSpPr/>
          <p:nvPr/>
        </p:nvSpPr>
        <p:spPr>
          <a:xfrm>
            <a:off x="-2" y="2038350"/>
            <a:ext cx="10574930" cy="278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4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隱藏層黑盒子</a:t>
            </a:r>
          </a:p>
        </p:txBody>
      </p:sp>
      <p:sp>
        <p:nvSpPr>
          <p:cNvPr id="14" name="文字方塊 13"/>
          <p:cNvSpPr txBox="1"/>
          <p:nvPr/>
        </p:nvSpPr>
        <p:spPr>
          <a:xfrm>
            <a:off x="10574928" y="281413"/>
            <a:ext cx="1140822" cy="461665"/>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輸入層</a:t>
            </a:r>
          </a:p>
        </p:txBody>
      </p:sp>
      <p:sp>
        <p:nvSpPr>
          <p:cNvPr id="16" name="文字方塊 15"/>
          <p:cNvSpPr txBox="1"/>
          <p:nvPr/>
        </p:nvSpPr>
        <p:spPr>
          <a:xfrm>
            <a:off x="10574928" y="2967335"/>
            <a:ext cx="1140822" cy="461665"/>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隱藏層</a:t>
            </a:r>
          </a:p>
        </p:txBody>
      </p:sp>
      <p:sp>
        <p:nvSpPr>
          <p:cNvPr id="17" name="文字方塊 16"/>
          <p:cNvSpPr txBox="1"/>
          <p:nvPr/>
        </p:nvSpPr>
        <p:spPr>
          <a:xfrm>
            <a:off x="10574928" y="6091535"/>
            <a:ext cx="1140822" cy="461665"/>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輸出層</a:t>
            </a:r>
          </a:p>
        </p:txBody>
      </p:sp>
      <p:sp>
        <p:nvSpPr>
          <p:cNvPr id="18" name="文字方塊 17"/>
          <p:cNvSpPr txBox="1"/>
          <p:nvPr/>
        </p:nvSpPr>
        <p:spPr>
          <a:xfrm>
            <a:off x="6610350" y="1076920"/>
            <a:ext cx="5105400" cy="830997"/>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首先將每張圖片的像素拆解，所以模型的輸入層就會有對應數量的神經元</a:t>
            </a:r>
          </a:p>
        </p:txBody>
      </p:sp>
      <p:sp>
        <p:nvSpPr>
          <p:cNvPr id="19" name="文字方塊 18"/>
          <p:cNvSpPr txBox="1"/>
          <p:nvPr/>
        </p:nvSpPr>
        <p:spPr>
          <a:xfrm>
            <a:off x="6610350" y="3848100"/>
            <a:ext cx="5105400" cy="1200329"/>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隱藏層可以有很多種組合，這裡是一種僅有一層隱藏層的範例，這裡的設置會在之後提到，所以我們就不理它</a:t>
            </a:r>
          </a:p>
        </p:txBody>
      </p:sp>
      <p:sp>
        <p:nvSpPr>
          <p:cNvPr id="20" name="文字方塊 19"/>
          <p:cNvSpPr txBox="1"/>
          <p:nvPr/>
        </p:nvSpPr>
        <p:spPr>
          <a:xfrm>
            <a:off x="6610350" y="5135433"/>
            <a:ext cx="5105400" cy="830997"/>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因為輸出的類型僅有阿拉伯數字，所以輸出層就只需要</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10</a:t>
            </a: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個神經元</a:t>
            </a:r>
          </a:p>
        </p:txBody>
      </p:sp>
    </p:spTree>
    <p:extLst>
      <p:ext uri="{BB962C8B-B14F-4D97-AF65-F5344CB8AC3E}">
        <p14:creationId xmlns:p14="http://schemas.microsoft.com/office/powerpoint/2010/main" val="35995617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xit" presetSubtype="21" fill="hold" grpId="1" nodeType="clickEffect">
                                  <p:stCondLst>
                                    <p:cond delay="0"/>
                                  </p:stCondLst>
                                  <p:childTnLst>
                                    <p:animEffect transition="out" filter="barn(inVertical)">
                                      <p:cBhvr>
                                        <p:cTn id="20" dur="500"/>
                                        <p:tgtEl>
                                          <p:spTgt spid="19"/>
                                        </p:tgtEl>
                                      </p:cBhvr>
                                    </p:animEffect>
                                    <p:set>
                                      <p:cBhvr>
                                        <p:cTn id="21" dur="1" fill="hold">
                                          <p:stCondLst>
                                            <p:cond delay="499"/>
                                          </p:stCondLst>
                                        </p:cTn>
                                        <p:tgtEl>
                                          <p:spTgt spid="19"/>
                                        </p:tgtEl>
                                        <p:attrNameLst>
                                          <p:attrName>style.visibility</p:attrName>
                                        </p:attrNameLst>
                                      </p:cBhvr>
                                      <p:to>
                                        <p:strVal val="hidden"/>
                                      </p:to>
                                    </p:set>
                                  </p:childTnLst>
                                </p:cTn>
                              </p:par>
                            </p:childTnLst>
                          </p:cTn>
                        </p:par>
                        <p:par>
                          <p:cTn id="22" fill="hold">
                            <p:stCondLst>
                              <p:cond delay="500"/>
                            </p:stCondLst>
                            <p:childTnLst>
                              <p:par>
                                <p:cTn id="23" presetID="42"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19" grpId="0" animBg="1"/>
      <p:bldP spid="19" grpId="1"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86971" y="0"/>
            <a:ext cx="10203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w Cen MT" panose="020B0602020104020603"/>
              <a:ea typeface="新細明體" panose="02020500000000000000" pitchFamily="18" charset="-120"/>
              <a:cs typeface="+mn-cs"/>
            </a:endParaRPr>
          </a:p>
        </p:txBody>
      </p:sp>
      <p:sp>
        <p:nvSpPr>
          <p:cNvPr id="9" name="手繪多邊形 8"/>
          <p:cNvSpPr/>
          <p:nvPr/>
        </p:nvSpPr>
        <p:spPr>
          <a:xfrm>
            <a:off x="1203327" y="159657"/>
            <a:ext cx="9455346" cy="3976914"/>
          </a:xfrm>
          <a:custGeom>
            <a:avLst/>
            <a:gdLst>
              <a:gd name="connsiteX0" fmla="*/ 73930 w 9455346"/>
              <a:gd name="connsiteY0" fmla="*/ 725714 h 3976914"/>
              <a:gd name="connsiteX1" fmla="*/ 59416 w 9455346"/>
              <a:gd name="connsiteY1" fmla="*/ 653143 h 3976914"/>
              <a:gd name="connsiteX2" fmla="*/ 73930 w 9455346"/>
              <a:gd name="connsiteY2" fmla="*/ 595086 h 3976914"/>
              <a:gd name="connsiteX3" fmla="*/ 102959 w 9455346"/>
              <a:gd name="connsiteY3" fmla="*/ 508000 h 3976914"/>
              <a:gd name="connsiteX4" fmla="*/ 117473 w 9455346"/>
              <a:gd name="connsiteY4" fmla="*/ 464457 h 3976914"/>
              <a:gd name="connsiteX5" fmla="*/ 146502 w 9455346"/>
              <a:gd name="connsiteY5" fmla="*/ 420914 h 3976914"/>
              <a:gd name="connsiteX6" fmla="*/ 233587 w 9455346"/>
              <a:gd name="connsiteY6" fmla="*/ 246743 h 3976914"/>
              <a:gd name="connsiteX7" fmla="*/ 262616 w 9455346"/>
              <a:gd name="connsiteY7" fmla="*/ 203200 h 3976914"/>
              <a:gd name="connsiteX8" fmla="*/ 364216 w 9455346"/>
              <a:gd name="connsiteY8" fmla="*/ 159657 h 3976914"/>
              <a:gd name="connsiteX9" fmla="*/ 407759 w 9455346"/>
              <a:gd name="connsiteY9" fmla="*/ 116114 h 3976914"/>
              <a:gd name="connsiteX10" fmla="*/ 552902 w 9455346"/>
              <a:gd name="connsiteY10" fmla="*/ 72572 h 3976914"/>
              <a:gd name="connsiteX11" fmla="*/ 712559 w 9455346"/>
              <a:gd name="connsiteY11" fmla="*/ 29029 h 3976914"/>
              <a:gd name="connsiteX12" fmla="*/ 1133473 w 9455346"/>
              <a:gd name="connsiteY12" fmla="*/ 0 h 3976914"/>
              <a:gd name="connsiteX13" fmla="*/ 1568902 w 9455346"/>
              <a:gd name="connsiteY13" fmla="*/ 14514 h 3976914"/>
              <a:gd name="connsiteX14" fmla="*/ 1626959 w 9455346"/>
              <a:gd name="connsiteY14" fmla="*/ 29029 h 3976914"/>
              <a:gd name="connsiteX15" fmla="*/ 1801130 w 9455346"/>
              <a:gd name="connsiteY15" fmla="*/ 58057 h 3976914"/>
              <a:gd name="connsiteX16" fmla="*/ 1960787 w 9455346"/>
              <a:gd name="connsiteY16" fmla="*/ 72572 h 3976914"/>
              <a:gd name="connsiteX17" fmla="*/ 2047873 w 9455346"/>
              <a:gd name="connsiteY17" fmla="*/ 87086 h 3976914"/>
              <a:gd name="connsiteX18" fmla="*/ 2396216 w 9455346"/>
              <a:gd name="connsiteY18" fmla="*/ 116114 h 3976914"/>
              <a:gd name="connsiteX19" fmla="*/ 2512330 w 9455346"/>
              <a:gd name="connsiteY19" fmla="*/ 130629 h 3976914"/>
              <a:gd name="connsiteX20" fmla="*/ 4108902 w 9455346"/>
              <a:gd name="connsiteY20" fmla="*/ 174172 h 3976914"/>
              <a:gd name="connsiteX21" fmla="*/ 4500787 w 9455346"/>
              <a:gd name="connsiteY21" fmla="*/ 159657 h 3976914"/>
              <a:gd name="connsiteX22" fmla="*/ 4762044 w 9455346"/>
              <a:gd name="connsiteY22" fmla="*/ 145143 h 3976914"/>
              <a:gd name="connsiteX23" fmla="*/ 5516787 w 9455346"/>
              <a:gd name="connsiteY23" fmla="*/ 116114 h 3976914"/>
              <a:gd name="connsiteX24" fmla="*/ 5719987 w 9455346"/>
              <a:gd name="connsiteY24" fmla="*/ 101600 h 3976914"/>
              <a:gd name="connsiteX25" fmla="*/ 6416673 w 9455346"/>
              <a:gd name="connsiteY25" fmla="*/ 72572 h 3976914"/>
              <a:gd name="connsiteX26" fmla="*/ 7592330 w 9455346"/>
              <a:gd name="connsiteY26" fmla="*/ 58057 h 3976914"/>
              <a:gd name="connsiteX27" fmla="*/ 8318044 w 9455346"/>
              <a:gd name="connsiteY27" fmla="*/ 72572 h 3976914"/>
              <a:gd name="connsiteX28" fmla="*/ 8753473 w 9455346"/>
              <a:gd name="connsiteY28" fmla="*/ 101600 h 3976914"/>
              <a:gd name="connsiteX29" fmla="*/ 8869587 w 9455346"/>
              <a:gd name="connsiteY29" fmla="*/ 130629 h 3976914"/>
              <a:gd name="connsiteX30" fmla="*/ 8913130 w 9455346"/>
              <a:gd name="connsiteY30" fmla="*/ 159657 h 3976914"/>
              <a:gd name="connsiteX31" fmla="*/ 8956673 w 9455346"/>
              <a:gd name="connsiteY31" fmla="*/ 174172 h 3976914"/>
              <a:gd name="connsiteX32" fmla="*/ 9116330 w 9455346"/>
              <a:gd name="connsiteY32" fmla="*/ 261257 h 3976914"/>
              <a:gd name="connsiteX33" fmla="*/ 9159873 w 9455346"/>
              <a:gd name="connsiteY33" fmla="*/ 304800 h 3976914"/>
              <a:gd name="connsiteX34" fmla="*/ 9217930 w 9455346"/>
              <a:gd name="connsiteY34" fmla="*/ 333829 h 3976914"/>
              <a:gd name="connsiteX35" fmla="*/ 9261473 w 9455346"/>
              <a:gd name="connsiteY35" fmla="*/ 377372 h 3976914"/>
              <a:gd name="connsiteX36" fmla="*/ 9392102 w 9455346"/>
              <a:gd name="connsiteY36" fmla="*/ 478972 h 3976914"/>
              <a:gd name="connsiteX37" fmla="*/ 9421130 w 9455346"/>
              <a:gd name="connsiteY37" fmla="*/ 537029 h 3976914"/>
              <a:gd name="connsiteX38" fmla="*/ 9450159 w 9455346"/>
              <a:gd name="connsiteY38" fmla="*/ 580572 h 3976914"/>
              <a:gd name="connsiteX39" fmla="*/ 9421130 w 9455346"/>
              <a:gd name="connsiteY39" fmla="*/ 928914 h 3976914"/>
              <a:gd name="connsiteX40" fmla="*/ 9392102 w 9455346"/>
              <a:gd name="connsiteY40" fmla="*/ 1103086 h 3976914"/>
              <a:gd name="connsiteX41" fmla="*/ 9377587 w 9455346"/>
              <a:gd name="connsiteY41" fmla="*/ 1161143 h 3976914"/>
              <a:gd name="connsiteX42" fmla="*/ 9319530 w 9455346"/>
              <a:gd name="connsiteY42" fmla="*/ 1248229 h 3976914"/>
              <a:gd name="connsiteX43" fmla="*/ 9261473 w 9455346"/>
              <a:gd name="connsiteY43" fmla="*/ 1277257 h 3976914"/>
              <a:gd name="connsiteX44" fmla="*/ 9232444 w 9455346"/>
              <a:gd name="connsiteY44" fmla="*/ 1320800 h 3976914"/>
              <a:gd name="connsiteX45" fmla="*/ 9174387 w 9455346"/>
              <a:gd name="connsiteY45" fmla="*/ 1335314 h 3976914"/>
              <a:gd name="connsiteX46" fmla="*/ 9116330 w 9455346"/>
              <a:gd name="connsiteY46" fmla="*/ 1364343 h 3976914"/>
              <a:gd name="connsiteX47" fmla="*/ 9014730 w 9455346"/>
              <a:gd name="connsiteY47" fmla="*/ 1436914 h 3976914"/>
              <a:gd name="connsiteX48" fmla="*/ 8956673 w 9455346"/>
              <a:gd name="connsiteY48" fmla="*/ 1451429 h 3976914"/>
              <a:gd name="connsiteX49" fmla="*/ 8913130 w 9455346"/>
              <a:gd name="connsiteY49" fmla="*/ 1480457 h 3976914"/>
              <a:gd name="connsiteX50" fmla="*/ 8811530 w 9455346"/>
              <a:gd name="connsiteY50" fmla="*/ 1524000 h 3976914"/>
              <a:gd name="connsiteX51" fmla="*/ 8724444 w 9455346"/>
              <a:gd name="connsiteY51" fmla="*/ 1538514 h 3976914"/>
              <a:gd name="connsiteX52" fmla="*/ 8680902 w 9455346"/>
              <a:gd name="connsiteY52" fmla="*/ 1567543 h 3976914"/>
              <a:gd name="connsiteX53" fmla="*/ 8622844 w 9455346"/>
              <a:gd name="connsiteY53" fmla="*/ 1582057 h 3976914"/>
              <a:gd name="connsiteX54" fmla="*/ 8579302 w 9455346"/>
              <a:gd name="connsiteY54" fmla="*/ 1596572 h 3976914"/>
              <a:gd name="connsiteX55" fmla="*/ 8506730 w 9455346"/>
              <a:gd name="connsiteY55" fmla="*/ 1625600 h 3976914"/>
              <a:gd name="connsiteX56" fmla="*/ 8434159 w 9455346"/>
              <a:gd name="connsiteY56" fmla="*/ 1640114 h 3976914"/>
              <a:gd name="connsiteX57" fmla="*/ 8376102 w 9455346"/>
              <a:gd name="connsiteY57" fmla="*/ 1654629 h 3976914"/>
              <a:gd name="connsiteX58" fmla="*/ 8332559 w 9455346"/>
              <a:gd name="connsiteY58" fmla="*/ 1669143 h 3976914"/>
              <a:gd name="connsiteX59" fmla="*/ 8172902 w 9455346"/>
              <a:gd name="connsiteY59" fmla="*/ 1683657 h 3976914"/>
              <a:gd name="connsiteX60" fmla="*/ 7882616 w 9455346"/>
              <a:gd name="connsiteY60" fmla="*/ 1712686 h 3976914"/>
              <a:gd name="connsiteX61" fmla="*/ 7664902 w 9455346"/>
              <a:gd name="connsiteY61" fmla="*/ 1727200 h 3976914"/>
              <a:gd name="connsiteX62" fmla="*/ 7476216 w 9455346"/>
              <a:gd name="connsiteY62" fmla="*/ 1741714 h 3976914"/>
              <a:gd name="connsiteX63" fmla="*/ 6721473 w 9455346"/>
              <a:gd name="connsiteY63" fmla="*/ 1770743 h 3976914"/>
              <a:gd name="connsiteX64" fmla="*/ 6387644 w 9455346"/>
              <a:gd name="connsiteY64" fmla="*/ 1785257 h 3976914"/>
              <a:gd name="connsiteX65" fmla="*/ 4950730 w 9455346"/>
              <a:gd name="connsiteY65" fmla="*/ 1770743 h 3976914"/>
              <a:gd name="connsiteX66" fmla="*/ 4878159 w 9455346"/>
              <a:gd name="connsiteY66" fmla="*/ 1785257 h 3976914"/>
              <a:gd name="connsiteX67" fmla="*/ 4486273 w 9455346"/>
              <a:gd name="connsiteY67" fmla="*/ 1799772 h 3976914"/>
              <a:gd name="connsiteX68" fmla="*/ 4239530 w 9455346"/>
              <a:gd name="connsiteY68" fmla="*/ 1814286 h 3976914"/>
              <a:gd name="connsiteX69" fmla="*/ 3934730 w 9455346"/>
              <a:gd name="connsiteY69" fmla="*/ 1828800 h 3976914"/>
              <a:gd name="connsiteX70" fmla="*/ 3702502 w 9455346"/>
              <a:gd name="connsiteY70" fmla="*/ 1857829 h 3976914"/>
              <a:gd name="connsiteX71" fmla="*/ 3586387 w 9455346"/>
              <a:gd name="connsiteY71" fmla="*/ 1872343 h 3976914"/>
              <a:gd name="connsiteX72" fmla="*/ 3542844 w 9455346"/>
              <a:gd name="connsiteY72" fmla="*/ 1886857 h 3976914"/>
              <a:gd name="connsiteX73" fmla="*/ 3441244 w 9455346"/>
              <a:gd name="connsiteY73" fmla="*/ 1901372 h 3976914"/>
              <a:gd name="connsiteX74" fmla="*/ 3368673 w 9455346"/>
              <a:gd name="connsiteY74" fmla="*/ 1930400 h 3976914"/>
              <a:gd name="connsiteX75" fmla="*/ 3325130 w 9455346"/>
              <a:gd name="connsiteY75" fmla="*/ 1959429 h 3976914"/>
              <a:gd name="connsiteX76" fmla="*/ 3238044 w 9455346"/>
              <a:gd name="connsiteY76" fmla="*/ 1988457 h 3976914"/>
              <a:gd name="connsiteX77" fmla="*/ 3136444 w 9455346"/>
              <a:gd name="connsiteY77" fmla="*/ 2046514 h 3976914"/>
              <a:gd name="connsiteX78" fmla="*/ 3092902 w 9455346"/>
              <a:gd name="connsiteY78" fmla="*/ 2075543 h 3976914"/>
              <a:gd name="connsiteX79" fmla="*/ 3005816 w 9455346"/>
              <a:gd name="connsiteY79" fmla="*/ 2104572 h 3976914"/>
              <a:gd name="connsiteX80" fmla="*/ 2831644 w 9455346"/>
              <a:gd name="connsiteY80" fmla="*/ 2220686 h 3976914"/>
              <a:gd name="connsiteX81" fmla="*/ 2744559 w 9455346"/>
              <a:gd name="connsiteY81" fmla="*/ 2278743 h 3976914"/>
              <a:gd name="connsiteX82" fmla="*/ 2657473 w 9455346"/>
              <a:gd name="connsiteY82" fmla="*/ 2351314 h 3976914"/>
              <a:gd name="connsiteX83" fmla="*/ 2599416 w 9455346"/>
              <a:gd name="connsiteY83" fmla="*/ 2438400 h 3976914"/>
              <a:gd name="connsiteX84" fmla="*/ 2555873 w 9455346"/>
              <a:gd name="connsiteY84" fmla="*/ 2481943 h 3976914"/>
              <a:gd name="connsiteX85" fmla="*/ 2526844 w 9455346"/>
              <a:gd name="connsiteY85" fmla="*/ 2540000 h 3976914"/>
              <a:gd name="connsiteX86" fmla="*/ 2483302 w 9455346"/>
              <a:gd name="connsiteY86" fmla="*/ 2583543 h 3976914"/>
              <a:gd name="connsiteX87" fmla="*/ 2454273 w 9455346"/>
              <a:gd name="connsiteY87" fmla="*/ 2641600 h 3976914"/>
              <a:gd name="connsiteX88" fmla="*/ 2367187 w 9455346"/>
              <a:gd name="connsiteY88" fmla="*/ 2786743 h 3976914"/>
              <a:gd name="connsiteX89" fmla="*/ 2323644 w 9455346"/>
              <a:gd name="connsiteY89" fmla="*/ 2888343 h 3976914"/>
              <a:gd name="connsiteX90" fmla="*/ 2309130 w 9455346"/>
              <a:gd name="connsiteY90" fmla="*/ 2946400 h 3976914"/>
              <a:gd name="connsiteX91" fmla="*/ 2294616 w 9455346"/>
              <a:gd name="connsiteY91" fmla="*/ 2989943 h 3976914"/>
              <a:gd name="connsiteX92" fmla="*/ 2280102 w 9455346"/>
              <a:gd name="connsiteY92" fmla="*/ 3048000 h 3976914"/>
              <a:gd name="connsiteX93" fmla="*/ 2236559 w 9455346"/>
              <a:gd name="connsiteY93" fmla="*/ 3149600 h 3976914"/>
              <a:gd name="connsiteX94" fmla="*/ 2193016 w 9455346"/>
              <a:gd name="connsiteY94" fmla="*/ 3236686 h 3976914"/>
              <a:gd name="connsiteX95" fmla="*/ 2149473 w 9455346"/>
              <a:gd name="connsiteY95" fmla="*/ 3338286 h 3976914"/>
              <a:gd name="connsiteX96" fmla="*/ 2105930 w 9455346"/>
              <a:gd name="connsiteY96" fmla="*/ 3425372 h 3976914"/>
              <a:gd name="connsiteX97" fmla="*/ 2062387 w 9455346"/>
              <a:gd name="connsiteY97" fmla="*/ 3512457 h 3976914"/>
              <a:gd name="connsiteX98" fmla="*/ 2033359 w 9455346"/>
              <a:gd name="connsiteY98" fmla="*/ 3599543 h 3976914"/>
              <a:gd name="connsiteX99" fmla="*/ 1975302 w 9455346"/>
              <a:gd name="connsiteY99" fmla="*/ 3701143 h 3976914"/>
              <a:gd name="connsiteX100" fmla="*/ 1960787 w 9455346"/>
              <a:gd name="connsiteY100" fmla="*/ 3744686 h 3976914"/>
              <a:gd name="connsiteX101" fmla="*/ 1917244 w 9455346"/>
              <a:gd name="connsiteY101" fmla="*/ 3788229 h 3976914"/>
              <a:gd name="connsiteX102" fmla="*/ 1830159 w 9455346"/>
              <a:gd name="connsiteY102" fmla="*/ 3875314 h 3976914"/>
              <a:gd name="connsiteX103" fmla="*/ 1786616 w 9455346"/>
              <a:gd name="connsiteY103" fmla="*/ 3918857 h 3976914"/>
              <a:gd name="connsiteX104" fmla="*/ 1699530 w 9455346"/>
              <a:gd name="connsiteY104" fmla="*/ 3947886 h 3976914"/>
              <a:gd name="connsiteX105" fmla="*/ 1655987 w 9455346"/>
              <a:gd name="connsiteY105" fmla="*/ 3976914 h 3976914"/>
              <a:gd name="connsiteX106" fmla="*/ 1510844 w 9455346"/>
              <a:gd name="connsiteY106" fmla="*/ 3962400 h 3976914"/>
              <a:gd name="connsiteX107" fmla="*/ 1278616 w 9455346"/>
              <a:gd name="connsiteY107" fmla="*/ 3933372 h 3976914"/>
              <a:gd name="connsiteX108" fmla="*/ 1220559 w 9455346"/>
              <a:gd name="connsiteY108" fmla="*/ 3918857 h 3976914"/>
              <a:gd name="connsiteX109" fmla="*/ 1147987 w 9455346"/>
              <a:gd name="connsiteY109" fmla="*/ 3904343 h 3976914"/>
              <a:gd name="connsiteX110" fmla="*/ 1104444 w 9455346"/>
              <a:gd name="connsiteY110" fmla="*/ 3875314 h 3976914"/>
              <a:gd name="connsiteX111" fmla="*/ 1060902 w 9455346"/>
              <a:gd name="connsiteY111" fmla="*/ 3860800 h 3976914"/>
              <a:gd name="connsiteX112" fmla="*/ 959302 w 9455346"/>
              <a:gd name="connsiteY112" fmla="*/ 3817257 h 3976914"/>
              <a:gd name="connsiteX113" fmla="*/ 857702 w 9455346"/>
              <a:gd name="connsiteY113" fmla="*/ 3773714 h 3976914"/>
              <a:gd name="connsiteX114" fmla="*/ 756102 w 9455346"/>
              <a:gd name="connsiteY114" fmla="*/ 3686629 h 3976914"/>
              <a:gd name="connsiteX115" fmla="*/ 712559 w 9455346"/>
              <a:gd name="connsiteY115" fmla="*/ 3672114 h 3976914"/>
              <a:gd name="connsiteX116" fmla="*/ 669016 w 9455346"/>
              <a:gd name="connsiteY116" fmla="*/ 3643086 h 3976914"/>
              <a:gd name="connsiteX117" fmla="*/ 639987 w 9455346"/>
              <a:gd name="connsiteY117" fmla="*/ 3599543 h 3976914"/>
              <a:gd name="connsiteX118" fmla="*/ 552902 w 9455346"/>
              <a:gd name="connsiteY118" fmla="*/ 3526972 h 3976914"/>
              <a:gd name="connsiteX119" fmla="*/ 523873 w 9455346"/>
              <a:gd name="connsiteY119" fmla="*/ 3483429 h 3976914"/>
              <a:gd name="connsiteX120" fmla="*/ 480330 w 9455346"/>
              <a:gd name="connsiteY120" fmla="*/ 3425372 h 3976914"/>
              <a:gd name="connsiteX121" fmla="*/ 407759 w 9455346"/>
              <a:gd name="connsiteY121" fmla="*/ 3338286 h 3976914"/>
              <a:gd name="connsiteX122" fmla="*/ 349702 w 9455346"/>
              <a:gd name="connsiteY122" fmla="*/ 3251200 h 3976914"/>
              <a:gd name="connsiteX123" fmla="*/ 306159 w 9455346"/>
              <a:gd name="connsiteY123" fmla="*/ 3207657 h 3976914"/>
              <a:gd name="connsiteX124" fmla="*/ 291644 w 9455346"/>
              <a:gd name="connsiteY124" fmla="*/ 3164114 h 3976914"/>
              <a:gd name="connsiteX125" fmla="*/ 233587 w 9455346"/>
              <a:gd name="connsiteY125" fmla="*/ 3077029 h 3976914"/>
              <a:gd name="connsiteX126" fmla="*/ 219073 w 9455346"/>
              <a:gd name="connsiteY126" fmla="*/ 3018972 h 3976914"/>
              <a:gd name="connsiteX127" fmla="*/ 190044 w 9455346"/>
              <a:gd name="connsiteY127" fmla="*/ 2931886 h 3976914"/>
              <a:gd name="connsiteX128" fmla="*/ 175530 w 9455346"/>
              <a:gd name="connsiteY128" fmla="*/ 2888343 h 3976914"/>
              <a:gd name="connsiteX129" fmla="*/ 161016 w 9455346"/>
              <a:gd name="connsiteY129" fmla="*/ 2830286 h 3976914"/>
              <a:gd name="connsiteX130" fmla="*/ 102959 w 9455346"/>
              <a:gd name="connsiteY130" fmla="*/ 2728686 h 3976914"/>
              <a:gd name="connsiteX131" fmla="*/ 88444 w 9455346"/>
              <a:gd name="connsiteY131" fmla="*/ 2641600 h 3976914"/>
              <a:gd name="connsiteX132" fmla="*/ 73930 w 9455346"/>
              <a:gd name="connsiteY132" fmla="*/ 2598057 h 3976914"/>
              <a:gd name="connsiteX133" fmla="*/ 59416 w 9455346"/>
              <a:gd name="connsiteY133" fmla="*/ 2467429 h 3976914"/>
              <a:gd name="connsiteX134" fmla="*/ 44902 w 9455346"/>
              <a:gd name="connsiteY134" fmla="*/ 2394857 h 3976914"/>
              <a:gd name="connsiteX135" fmla="*/ 30387 w 9455346"/>
              <a:gd name="connsiteY135" fmla="*/ 2307772 h 3976914"/>
              <a:gd name="connsiteX136" fmla="*/ 15873 w 9455346"/>
              <a:gd name="connsiteY136" fmla="*/ 2119086 h 3976914"/>
              <a:gd name="connsiteX137" fmla="*/ 1359 w 9455346"/>
              <a:gd name="connsiteY137" fmla="*/ 1959429 h 3976914"/>
              <a:gd name="connsiteX138" fmla="*/ 30387 w 9455346"/>
              <a:gd name="connsiteY138" fmla="*/ 1262743 h 3976914"/>
              <a:gd name="connsiteX139" fmla="*/ 73930 w 9455346"/>
              <a:gd name="connsiteY139" fmla="*/ 725714 h 397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455346" h="3976914">
                <a:moveTo>
                  <a:pt x="73930" y="725714"/>
                </a:moveTo>
                <a:cubicBezTo>
                  <a:pt x="78768" y="624114"/>
                  <a:pt x="59416" y="677812"/>
                  <a:pt x="59416" y="653143"/>
                </a:cubicBezTo>
                <a:cubicBezTo>
                  <a:pt x="59416" y="633195"/>
                  <a:pt x="68198" y="614193"/>
                  <a:pt x="73930" y="595086"/>
                </a:cubicBezTo>
                <a:cubicBezTo>
                  <a:pt x="82723" y="565778"/>
                  <a:pt x="93283" y="537029"/>
                  <a:pt x="102959" y="508000"/>
                </a:cubicBezTo>
                <a:cubicBezTo>
                  <a:pt x="107797" y="493486"/>
                  <a:pt x="108986" y="477187"/>
                  <a:pt x="117473" y="464457"/>
                </a:cubicBezTo>
                <a:lnTo>
                  <a:pt x="146502" y="420914"/>
                </a:lnTo>
                <a:cubicBezTo>
                  <a:pt x="186562" y="300732"/>
                  <a:pt x="158557" y="359287"/>
                  <a:pt x="233587" y="246743"/>
                </a:cubicBezTo>
                <a:cubicBezTo>
                  <a:pt x="243263" y="232229"/>
                  <a:pt x="247013" y="211001"/>
                  <a:pt x="262616" y="203200"/>
                </a:cubicBezTo>
                <a:cubicBezTo>
                  <a:pt x="334357" y="167330"/>
                  <a:pt x="300147" y="181014"/>
                  <a:pt x="364216" y="159657"/>
                </a:cubicBezTo>
                <a:cubicBezTo>
                  <a:pt x="378730" y="145143"/>
                  <a:pt x="389816" y="126082"/>
                  <a:pt x="407759" y="116114"/>
                </a:cubicBezTo>
                <a:cubicBezTo>
                  <a:pt x="447922" y="93801"/>
                  <a:pt x="508087" y="86017"/>
                  <a:pt x="552902" y="72572"/>
                </a:cubicBezTo>
                <a:cubicBezTo>
                  <a:pt x="626138" y="50601"/>
                  <a:pt x="640017" y="37564"/>
                  <a:pt x="712559" y="29029"/>
                </a:cubicBezTo>
                <a:cubicBezTo>
                  <a:pt x="819360" y="16464"/>
                  <a:pt x="1039963" y="5500"/>
                  <a:pt x="1133473" y="0"/>
                </a:cubicBezTo>
                <a:cubicBezTo>
                  <a:pt x="1278616" y="4838"/>
                  <a:pt x="1423929" y="5986"/>
                  <a:pt x="1568902" y="14514"/>
                </a:cubicBezTo>
                <a:cubicBezTo>
                  <a:pt x="1588816" y="15685"/>
                  <a:pt x="1607486" y="24702"/>
                  <a:pt x="1626959" y="29029"/>
                </a:cubicBezTo>
                <a:cubicBezTo>
                  <a:pt x="1685887" y="42124"/>
                  <a:pt x="1740549" y="51326"/>
                  <a:pt x="1801130" y="58057"/>
                </a:cubicBezTo>
                <a:cubicBezTo>
                  <a:pt x="1854242" y="63958"/>
                  <a:pt x="1907715" y="66328"/>
                  <a:pt x="1960787" y="72572"/>
                </a:cubicBezTo>
                <a:cubicBezTo>
                  <a:pt x="1990014" y="76011"/>
                  <a:pt x="2018646" y="83648"/>
                  <a:pt x="2047873" y="87086"/>
                </a:cubicBezTo>
                <a:cubicBezTo>
                  <a:pt x="2172443" y="101741"/>
                  <a:pt x="2269825" y="104077"/>
                  <a:pt x="2396216" y="116114"/>
                </a:cubicBezTo>
                <a:cubicBezTo>
                  <a:pt x="2435046" y="119812"/>
                  <a:pt x="2473370" y="128744"/>
                  <a:pt x="2512330" y="130629"/>
                </a:cubicBezTo>
                <a:cubicBezTo>
                  <a:pt x="3174800" y="162684"/>
                  <a:pt x="3441108" y="162247"/>
                  <a:pt x="4108902" y="174172"/>
                </a:cubicBezTo>
                <a:lnTo>
                  <a:pt x="4500787" y="159657"/>
                </a:lnTo>
                <a:cubicBezTo>
                  <a:pt x="4587921" y="155784"/>
                  <a:pt x="4674894" y="148629"/>
                  <a:pt x="4762044" y="145143"/>
                </a:cubicBezTo>
                <a:cubicBezTo>
                  <a:pt x="5250827" y="125592"/>
                  <a:pt x="5117153" y="139622"/>
                  <a:pt x="5516787" y="116114"/>
                </a:cubicBezTo>
                <a:cubicBezTo>
                  <a:pt x="5584576" y="112126"/>
                  <a:pt x="5652186" y="105367"/>
                  <a:pt x="5719987" y="101600"/>
                </a:cubicBezTo>
                <a:cubicBezTo>
                  <a:pt x="5823477" y="95851"/>
                  <a:pt x="6336397" y="74073"/>
                  <a:pt x="6416673" y="72572"/>
                </a:cubicBezTo>
                <a:lnTo>
                  <a:pt x="7592330" y="58057"/>
                </a:lnTo>
                <a:lnTo>
                  <a:pt x="8318044" y="72572"/>
                </a:lnTo>
                <a:cubicBezTo>
                  <a:pt x="8437133" y="76127"/>
                  <a:pt x="8628591" y="91994"/>
                  <a:pt x="8753473" y="101600"/>
                </a:cubicBezTo>
                <a:cubicBezTo>
                  <a:pt x="8781082" y="107122"/>
                  <a:pt x="8839829" y="115750"/>
                  <a:pt x="8869587" y="130629"/>
                </a:cubicBezTo>
                <a:cubicBezTo>
                  <a:pt x="8885189" y="138430"/>
                  <a:pt x="8897528" y="151856"/>
                  <a:pt x="8913130" y="159657"/>
                </a:cubicBezTo>
                <a:cubicBezTo>
                  <a:pt x="8926814" y="166499"/>
                  <a:pt x="8942745" y="167841"/>
                  <a:pt x="8956673" y="174172"/>
                </a:cubicBezTo>
                <a:cubicBezTo>
                  <a:pt x="8985750" y="187389"/>
                  <a:pt x="9078157" y="229446"/>
                  <a:pt x="9116330" y="261257"/>
                </a:cubicBezTo>
                <a:cubicBezTo>
                  <a:pt x="9132099" y="274398"/>
                  <a:pt x="9143170" y="292869"/>
                  <a:pt x="9159873" y="304800"/>
                </a:cubicBezTo>
                <a:cubicBezTo>
                  <a:pt x="9177479" y="317376"/>
                  <a:pt x="9200324" y="321253"/>
                  <a:pt x="9217930" y="333829"/>
                </a:cubicBezTo>
                <a:cubicBezTo>
                  <a:pt x="9234633" y="345760"/>
                  <a:pt x="9245270" y="364770"/>
                  <a:pt x="9261473" y="377372"/>
                </a:cubicBezTo>
                <a:cubicBezTo>
                  <a:pt x="9417720" y="498897"/>
                  <a:pt x="9293247" y="380117"/>
                  <a:pt x="9392102" y="478972"/>
                </a:cubicBezTo>
                <a:cubicBezTo>
                  <a:pt x="9401778" y="498324"/>
                  <a:pt x="9410395" y="518243"/>
                  <a:pt x="9421130" y="537029"/>
                </a:cubicBezTo>
                <a:cubicBezTo>
                  <a:pt x="9429785" y="552175"/>
                  <a:pt x="9449367" y="563146"/>
                  <a:pt x="9450159" y="580572"/>
                </a:cubicBezTo>
                <a:cubicBezTo>
                  <a:pt x="9465082" y="908878"/>
                  <a:pt x="9445460" y="758603"/>
                  <a:pt x="9421130" y="928914"/>
                </a:cubicBezTo>
                <a:cubicBezTo>
                  <a:pt x="9384066" y="1188366"/>
                  <a:pt x="9427755" y="978303"/>
                  <a:pt x="9392102" y="1103086"/>
                </a:cubicBezTo>
                <a:cubicBezTo>
                  <a:pt x="9386622" y="1122266"/>
                  <a:pt x="9386508" y="1143301"/>
                  <a:pt x="9377587" y="1161143"/>
                </a:cubicBezTo>
                <a:cubicBezTo>
                  <a:pt x="9361985" y="1192348"/>
                  <a:pt x="9350735" y="1232627"/>
                  <a:pt x="9319530" y="1248229"/>
                </a:cubicBezTo>
                <a:lnTo>
                  <a:pt x="9261473" y="1277257"/>
                </a:lnTo>
                <a:cubicBezTo>
                  <a:pt x="9251797" y="1291771"/>
                  <a:pt x="9246958" y="1311124"/>
                  <a:pt x="9232444" y="1320800"/>
                </a:cubicBezTo>
                <a:cubicBezTo>
                  <a:pt x="9215846" y="1331865"/>
                  <a:pt x="9193065" y="1328310"/>
                  <a:pt x="9174387" y="1335314"/>
                </a:cubicBezTo>
                <a:cubicBezTo>
                  <a:pt x="9154128" y="1342911"/>
                  <a:pt x="9134678" y="1352876"/>
                  <a:pt x="9116330" y="1364343"/>
                </a:cubicBezTo>
                <a:cubicBezTo>
                  <a:pt x="9105509" y="1371106"/>
                  <a:pt x="9034275" y="1428537"/>
                  <a:pt x="9014730" y="1436914"/>
                </a:cubicBezTo>
                <a:cubicBezTo>
                  <a:pt x="8996395" y="1444772"/>
                  <a:pt x="8976025" y="1446591"/>
                  <a:pt x="8956673" y="1451429"/>
                </a:cubicBezTo>
                <a:cubicBezTo>
                  <a:pt x="8942159" y="1461105"/>
                  <a:pt x="8928276" y="1471802"/>
                  <a:pt x="8913130" y="1480457"/>
                </a:cubicBezTo>
                <a:cubicBezTo>
                  <a:pt x="8884890" y="1496594"/>
                  <a:pt x="8844840" y="1516598"/>
                  <a:pt x="8811530" y="1524000"/>
                </a:cubicBezTo>
                <a:cubicBezTo>
                  <a:pt x="8782802" y="1530384"/>
                  <a:pt x="8753473" y="1533676"/>
                  <a:pt x="8724444" y="1538514"/>
                </a:cubicBezTo>
                <a:cubicBezTo>
                  <a:pt x="8709930" y="1548190"/>
                  <a:pt x="8696935" y="1560672"/>
                  <a:pt x="8680902" y="1567543"/>
                </a:cubicBezTo>
                <a:cubicBezTo>
                  <a:pt x="8662567" y="1575401"/>
                  <a:pt x="8642025" y="1576577"/>
                  <a:pt x="8622844" y="1582057"/>
                </a:cubicBezTo>
                <a:cubicBezTo>
                  <a:pt x="8608133" y="1586260"/>
                  <a:pt x="8593627" y="1591200"/>
                  <a:pt x="8579302" y="1596572"/>
                </a:cubicBezTo>
                <a:cubicBezTo>
                  <a:pt x="8554907" y="1605720"/>
                  <a:pt x="8531685" y="1618114"/>
                  <a:pt x="8506730" y="1625600"/>
                </a:cubicBezTo>
                <a:cubicBezTo>
                  <a:pt x="8483101" y="1632689"/>
                  <a:pt x="8458241" y="1634762"/>
                  <a:pt x="8434159" y="1640114"/>
                </a:cubicBezTo>
                <a:cubicBezTo>
                  <a:pt x="8414686" y="1644441"/>
                  <a:pt x="8395282" y="1649149"/>
                  <a:pt x="8376102" y="1654629"/>
                </a:cubicBezTo>
                <a:cubicBezTo>
                  <a:pt x="8361391" y="1658832"/>
                  <a:pt x="8347705" y="1666979"/>
                  <a:pt x="8332559" y="1669143"/>
                </a:cubicBezTo>
                <a:cubicBezTo>
                  <a:pt x="8279658" y="1676700"/>
                  <a:pt x="8226092" y="1678510"/>
                  <a:pt x="8172902" y="1683657"/>
                </a:cubicBezTo>
                <a:cubicBezTo>
                  <a:pt x="8076110" y="1693024"/>
                  <a:pt x="7979645" y="1706218"/>
                  <a:pt x="7882616" y="1712686"/>
                </a:cubicBezTo>
                <a:lnTo>
                  <a:pt x="7664902" y="1727200"/>
                </a:lnTo>
                <a:cubicBezTo>
                  <a:pt x="7601981" y="1731694"/>
                  <a:pt x="7539200" y="1738215"/>
                  <a:pt x="7476216" y="1741714"/>
                </a:cubicBezTo>
                <a:cubicBezTo>
                  <a:pt x="7238742" y="1754907"/>
                  <a:pt x="6955472" y="1761743"/>
                  <a:pt x="6721473" y="1770743"/>
                </a:cubicBezTo>
                <a:lnTo>
                  <a:pt x="6387644" y="1785257"/>
                </a:lnTo>
                <a:lnTo>
                  <a:pt x="4950730" y="1770743"/>
                </a:lnTo>
                <a:cubicBezTo>
                  <a:pt x="4926061" y="1770743"/>
                  <a:pt x="4902780" y="1783718"/>
                  <a:pt x="4878159" y="1785257"/>
                </a:cubicBezTo>
                <a:cubicBezTo>
                  <a:pt x="4747695" y="1793411"/>
                  <a:pt x="4616856" y="1793836"/>
                  <a:pt x="4486273" y="1799772"/>
                </a:cubicBezTo>
                <a:cubicBezTo>
                  <a:pt x="4403968" y="1803513"/>
                  <a:pt x="4321806" y="1809956"/>
                  <a:pt x="4239530" y="1814286"/>
                </a:cubicBezTo>
                <a:lnTo>
                  <a:pt x="3934730" y="1828800"/>
                </a:lnTo>
                <a:cubicBezTo>
                  <a:pt x="3827539" y="1864530"/>
                  <a:pt x="3922127" y="1836912"/>
                  <a:pt x="3702502" y="1857829"/>
                </a:cubicBezTo>
                <a:cubicBezTo>
                  <a:pt x="3663672" y="1861527"/>
                  <a:pt x="3625092" y="1867505"/>
                  <a:pt x="3586387" y="1872343"/>
                </a:cubicBezTo>
                <a:cubicBezTo>
                  <a:pt x="3571873" y="1877181"/>
                  <a:pt x="3557846" y="1883856"/>
                  <a:pt x="3542844" y="1886857"/>
                </a:cubicBezTo>
                <a:cubicBezTo>
                  <a:pt x="3509298" y="1893566"/>
                  <a:pt x="3474433" y="1893075"/>
                  <a:pt x="3441244" y="1901372"/>
                </a:cubicBezTo>
                <a:cubicBezTo>
                  <a:pt x="3415968" y="1907691"/>
                  <a:pt x="3391976" y="1918748"/>
                  <a:pt x="3368673" y="1930400"/>
                </a:cubicBezTo>
                <a:cubicBezTo>
                  <a:pt x="3353071" y="1938201"/>
                  <a:pt x="3341071" y="1952344"/>
                  <a:pt x="3325130" y="1959429"/>
                </a:cubicBezTo>
                <a:cubicBezTo>
                  <a:pt x="3297168" y="1971856"/>
                  <a:pt x="3238044" y="1988457"/>
                  <a:pt x="3238044" y="1988457"/>
                </a:cubicBezTo>
                <a:cubicBezTo>
                  <a:pt x="3097653" y="2093751"/>
                  <a:pt x="3247268" y="1991101"/>
                  <a:pt x="3136444" y="2046514"/>
                </a:cubicBezTo>
                <a:cubicBezTo>
                  <a:pt x="3120842" y="2054315"/>
                  <a:pt x="3108842" y="2068458"/>
                  <a:pt x="3092902" y="2075543"/>
                </a:cubicBezTo>
                <a:cubicBezTo>
                  <a:pt x="3064940" y="2087971"/>
                  <a:pt x="3031276" y="2087599"/>
                  <a:pt x="3005816" y="2104572"/>
                </a:cubicBezTo>
                <a:lnTo>
                  <a:pt x="2831644" y="2220686"/>
                </a:lnTo>
                <a:cubicBezTo>
                  <a:pt x="2831642" y="2220688"/>
                  <a:pt x="2744560" y="2278742"/>
                  <a:pt x="2744559" y="2278743"/>
                </a:cubicBezTo>
                <a:cubicBezTo>
                  <a:pt x="2688681" y="2334621"/>
                  <a:pt x="2718095" y="2310900"/>
                  <a:pt x="2657473" y="2351314"/>
                </a:cubicBezTo>
                <a:cubicBezTo>
                  <a:pt x="2638121" y="2380343"/>
                  <a:pt x="2624086" y="2413730"/>
                  <a:pt x="2599416" y="2438400"/>
                </a:cubicBezTo>
                <a:cubicBezTo>
                  <a:pt x="2584902" y="2452914"/>
                  <a:pt x="2567804" y="2465240"/>
                  <a:pt x="2555873" y="2481943"/>
                </a:cubicBezTo>
                <a:cubicBezTo>
                  <a:pt x="2543297" y="2499549"/>
                  <a:pt x="2539420" y="2522394"/>
                  <a:pt x="2526844" y="2540000"/>
                </a:cubicBezTo>
                <a:cubicBezTo>
                  <a:pt x="2514913" y="2556703"/>
                  <a:pt x="2495233" y="2566840"/>
                  <a:pt x="2483302" y="2583543"/>
                </a:cubicBezTo>
                <a:cubicBezTo>
                  <a:pt x="2470726" y="2601149"/>
                  <a:pt x="2465405" y="2623047"/>
                  <a:pt x="2454273" y="2641600"/>
                </a:cubicBezTo>
                <a:cubicBezTo>
                  <a:pt x="2349184" y="2816748"/>
                  <a:pt x="2433543" y="2654033"/>
                  <a:pt x="2367187" y="2786743"/>
                </a:cubicBezTo>
                <a:cubicBezTo>
                  <a:pt x="2325519" y="2953420"/>
                  <a:pt x="2383785" y="2748015"/>
                  <a:pt x="2323644" y="2888343"/>
                </a:cubicBezTo>
                <a:cubicBezTo>
                  <a:pt x="2315786" y="2906678"/>
                  <a:pt x="2314610" y="2927220"/>
                  <a:pt x="2309130" y="2946400"/>
                </a:cubicBezTo>
                <a:cubicBezTo>
                  <a:pt x="2304927" y="2961111"/>
                  <a:pt x="2298819" y="2975232"/>
                  <a:pt x="2294616" y="2989943"/>
                </a:cubicBezTo>
                <a:cubicBezTo>
                  <a:pt x="2289136" y="3009123"/>
                  <a:pt x="2285582" y="3028820"/>
                  <a:pt x="2280102" y="3048000"/>
                </a:cubicBezTo>
                <a:cubicBezTo>
                  <a:pt x="2260653" y="3116069"/>
                  <a:pt x="2269730" y="3072202"/>
                  <a:pt x="2236559" y="3149600"/>
                </a:cubicBezTo>
                <a:cubicBezTo>
                  <a:pt x="2200505" y="3233727"/>
                  <a:pt x="2248799" y="3153009"/>
                  <a:pt x="2193016" y="3236686"/>
                </a:cubicBezTo>
                <a:cubicBezTo>
                  <a:pt x="2162809" y="3357516"/>
                  <a:pt x="2199591" y="3238051"/>
                  <a:pt x="2149473" y="3338286"/>
                </a:cubicBezTo>
                <a:cubicBezTo>
                  <a:pt x="2089381" y="3458470"/>
                  <a:pt x="2189123" y="3300583"/>
                  <a:pt x="2105930" y="3425372"/>
                </a:cubicBezTo>
                <a:cubicBezTo>
                  <a:pt x="2052995" y="3584176"/>
                  <a:pt x="2137420" y="3343632"/>
                  <a:pt x="2062387" y="3512457"/>
                </a:cubicBezTo>
                <a:cubicBezTo>
                  <a:pt x="2049960" y="3540419"/>
                  <a:pt x="2050332" y="3574083"/>
                  <a:pt x="2033359" y="3599543"/>
                </a:cubicBezTo>
                <a:cubicBezTo>
                  <a:pt x="2004204" y="3643275"/>
                  <a:pt x="1997402" y="3649578"/>
                  <a:pt x="1975302" y="3701143"/>
                </a:cubicBezTo>
                <a:cubicBezTo>
                  <a:pt x="1969275" y="3715205"/>
                  <a:pt x="1969274" y="3731956"/>
                  <a:pt x="1960787" y="3744686"/>
                </a:cubicBezTo>
                <a:cubicBezTo>
                  <a:pt x="1949401" y="3761765"/>
                  <a:pt x="1930602" y="3772644"/>
                  <a:pt x="1917244" y="3788229"/>
                </a:cubicBezTo>
                <a:cubicBezTo>
                  <a:pt x="1792084" y="3934251"/>
                  <a:pt x="1945138" y="3779499"/>
                  <a:pt x="1830159" y="3875314"/>
                </a:cubicBezTo>
                <a:cubicBezTo>
                  <a:pt x="1814390" y="3888455"/>
                  <a:pt x="1804559" y="3908888"/>
                  <a:pt x="1786616" y="3918857"/>
                </a:cubicBezTo>
                <a:cubicBezTo>
                  <a:pt x="1759868" y="3933717"/>
                  <a:pt x="1724990" y="3930913"/>
                  <a:pt x="1699530" y="3947886"/>
                </a:cubicBezTo>
                <a:lnTo>
                  <a:pt x="1655987" y="3976914"/>
                </a:lnTo>
                <a:lnTo>
                  <a:pt x="1510844" y="3962400"/>
                </a:lnTo>
                <a:lnTo>
                  <a:pt x="1278616" y="3933372"/>
                </a:lnTo>
                <a:cubicBezTo>
                  <a:pt x="1259264" y="3928534"/>
                  <a:pt x="1240032" y="3923184"/>
                  <a:pt x="1220559" y="3918857"/>
                </a:cubicBezTo>
                <a:cubicBezTo>
                  <a:pt x="1196477" y="3913505"/>
                  <a:pt x="1171086" y="3913005"/>
                  <a:pt x="1147987" y="3904343"/>
                </a:cubicBezTo>
                <a:cubicBezTo>
                  <a:pt x="1131654" y="3898218"/>
                  <a:pt x="1120046" y="3883115"/>
                  <a:pt x="1104444" y="3875314"/>
                </a:cubicBezTo>
                <a:cubicBezTo>
                  <a:pt x="1090760" y="3868472"/>
                  <a:pt x="1074586" y="3867642"/>
                  <a:pt x="1060902" y="3860800"/>
                </a:cubicBezTo>
                <a:cubicBezTo>
                  <a:pt x="960667" y="3810683"/>
                  <a:pt x="1080132" y="3847466"/>
                  <a:pt x="959302" y="3817257"/>
                </a:cubicBezTo>
                <a:cubicBezTo>
                  <a:pt x="800810" y="3711598"/>
                  <a:pt x="1045152" y="3867438"/>
                  <a:pt x="857702" y="3773714"/>
                </a:cubicBezTo>
                <a:cubicBezTo>
                  <a:pt x="751984" y="3720856"/>
                  <a:pt x="843256" y="3744733"/>
                  <a:pt x="756102" y="3686629"/>
                </a:cubicBezTo>
                <a:cubicBezTo>
                  <a:pt x="743372" y="3678142"/>
                  <a:pt x="726243" y="3678956"/>
                  <a:pt x="712559" y="3672114"/>
                </a:cubicBezTo>
                <a:cubicBezTo>
                  <a:pt x="696957" y="3664313"/>
                  <a:pt x="683530" y="3652762"/>
                  <a:pt x="669016" y="3643086"/>
                </a:cubicBezTo>
                <a:cubicBezTo>
                  <a:pt x="659340" y="3628572"/>
                  <a:pt x="652322" y="3611878"/>
                  <a:pt x="639987" y="3599543"/>
                </a:cubicBezTo>
                <a:cubicBezTo>
                  <a:pt x="525818" y="3485374"/>
                  <a:pt x="671786" y="3669633"/>
                  <a:pt x="552902" y="3526972"/>
                </a:cubicBezTo>
                <a:cubicBezTo>
                  <a:pt x="541735" y="3513571"/>
                  <a:pt x="534012" y="3497624"/>
                  <a:pt x="523873" y="3483429"/>
                </a:cubicBezTo>
                <a:cubicBezTo>
                  <a:pt x="509813" y="3463744"/>
                  <a:pt x="494844" y="3444724"/>
                  <a:pt x="480330" y="3425372"/>
                </a:cubicBezTo>
                <a:cubicBezTo>
                  <a:pt x="449275" y="3332204"/>
                  <a:pt x="492114" y="3433186"/>
                  <a:pt x="407759" y="3338286"/>
                </a:cubicBezTo>
                <a:cubicBezTo>
                  <a:pt x="384581" y="3312210"/>
                  <a:pt x="374372" y="3275870"/>
                  <a:pt x="349702" y="3251200"/>
                </a:cubicBezTo>
                <a:lnTo>
                  <a:pt x="306159" y="3207657"/>
                </a:lnTo>
                <a:cubicBezTo>
                  <a:pt x="301321" y="3193143"/>
                  <a:pt x="299074" y="3177488"/>
                  <a:pt x="291644" y="3164114"/>
                </a:cubicBezTo>
                <a:cubicBezTo>
                  <a:pt x="274701" y="3133617"/>
                  <a:pt x="233587" y="3077029"/>
                  <a:pt x="233587" y="3077029"/>
                </a:cubicBezTo>
                <a:cubicBezTo>
                  <a:pt x="228749" y="3057677"/>
                  <a:pt x="224805" y="3038079"/>
                  <a:pt x="219073" y="3018972"/>
                </a:cubicBezTo>
                <a:cubicBezTo>
                  <a:pt x="210280" y="2989664"/>
                  <a:pt x="199720" y="2960915"/>
                  <a:pt x="190044" y="2931886"/>
                </a:cubicBezTo>
                <a:cubicBezTo>
                  <a:pt x="185206" y="2917372"/>
                  <a:pt x="179241" y="2903186"/>
                  <a:pt x="175530" y="2888343"/>
                </a:cubicBezTo>
                <a:cubicBezTo>
                  <a:pt x="170692" y="2868991"/>
                  <a:pt x="168020" y="2848964"/>
                  <a:pt x="161016" y="2830286"/>
                </a:cubicBezTo>
                <a:cubicBezTo>
                  <a:pt x="145233" y="2788199"/>
                  <a:pt x="127020" y="2764778"/>
                  <a:pt x="102959" y="2728686"/>
                </a:cubicBezTo>
                <a:cubicBezTo>
                  <a:pt x="98121" y="2699657"/>
                  <a:pt x="94828" y="2670328"/>
                  <a:pt x="88444" y="2641600"/>
                </a:cubicBezTo>
                <a:cubicBezTo>
                  <a:pt x="85125" y="2626665"/>
                  <a:pt x="76445" y="2613148"/>
                  <a:pt x="73930" y="2598057"/>
                </a:cubicBezTo>
                <a:cubicBezTo>
                  <a:pt x="66728" y="2554842"/>
                  <a:pt x="65612" y="2510799"/>
                  <a:pt x="59416" y="2467429"/>
                </a:cubicBezTo>
                <a:cubicBezTo>
                  <a:pt x="55927" y="2443007"/>
                  <a:pt x="49315" y="2419129"/>
                  <a:pt x="44902" y="2394857"/>
                </a:cubicBezTo>
                <a:cubicBezTo>
                  <a:pt x="39638" y="2365903"/>
                  <a:pt x="35225" y="2336800"/>
                  <a:pt x="30387" y="2307772"/>
                </a:cubicBezTo>
                <a:cubicBezTo>
                  <a:pt x="25549" y="2244877"/>
                  <a:pt x="21111" y="2181949"/>
                  <a:pt x="15873" y="2119086"/>
                </a:cubicBezTo>
                <a:cubicBezTo>
                  <a:pt x="11435" y="2065832"/>
                  <a:pt x="1359" y="2012867"/>
                  <a:pt x="1359" y="1959429"/>
                </a:cubicBezTo>
                <a:cubicBezTo>
                  <a:pt x="1359" y="1437582"/>
                  <a:pt x="-9541" y="1542246"/>
                  <a:pt x="30387" y="1262743"/>
                </a:cubicBezTo>
                <a:cubicBezTo>
                  <a:pt x="45178" y="745071"/>
                  <a:pt x="69092" y="827314"/>
                  <a:pt x="73930" y="725714"/>
                </a:cubicBezTo>
                <a:close/>
              </a:path>
            </a:pathLst>
          </a:cu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w Cen MT" panose="020B0602020104020603"/>
              <a:ea typeface="新細明體" panose="02020500000000000000" pitchFamily="18" charset="-120"/>
              <a:cs typeface="+mn-cs"/>
            </a:endParaRPr>
          </a:p>
        </p:txBody>
      </p:sp>
      <p:pic>
        <p:nvPicPr>
          <p:cNvPr id="3" name="圖片 2">
            <a:extLst>
              <a:ext uri="{FF2B5EF4-FFF2-40B4-BE49-F238E27FC236}">
                <a16:creationId xmlns:a16="http://schemas.microsoft.com/office/drawing/2014/main" id="{7CCF8858-0866-95F9-FC7B-83D8BBEE5E98}"/>
              </a:ext>
            </a:extLst>
          </p:cNvPr>
          <p:cNvPicPr>
            <a:picLocks noChangeAspect="1"/>
          </p:cNvPicPr>
          <p:nvPr/>
        </p:nvPicPr>
        <p:blipFill>
          <a:blip r:embed="rId2"/>
          <a:stretch>
            <a:fillRect/>
          </a:stretch>
        </p:blipFill>
        <p:spPr>
          <a:xfrm>
            <a:off x="978331" y="0"/>
            <a:ext cx="10098680" cy="6858000"/>
          </a:xfrm>
          <a:prstGeom prst="rect">
            <a:avLst/>
          </a:prstGeom>
        </p:spPr>
      </p:pic>
    </p:spTree>
    <p:extLst>
      <p:ext uri="{BB962C8B-B14F-4D97-AF65-F5344CB8AC3E}">
        <p14:creationId xmlns:p14="http://schemas.microsoft.com/office/powerpoint/2010/main" val="41591322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523999" y="725713"/>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5" name="橢圓 4"/>
          <p:cNvSpPr/>
          <p:nvPr/>
        </p:nvSpPr>
        <p:spPr>
          <a:xfrm>
            <a:off x="3454400" y="725713"/>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x1</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6" name="橢圓 5"/>
          <p:cNvSpPr/>
          <p:nvPr/>
        </p:nvSpPr>
        <p:spPr>
          <a:xfrm>
            <a:off x="5384801" y="728683"/>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x2</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7" name="橢圓 6"/>
          <p:cNvSpPr/>
          <p:nvPr/>
        </p:nvSpPr>
        <p:spPr>
          <a:xfrm>
            <a:off x="10130971" y="685140"/>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x783</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8" name="橢圓 7"/>
          <p:cNvSpPr/>
          <p:nvPr/>
        </p:nvSpPr>
        <p:spPr>
          <a:xfrm>
            <a:off x="4844801" y="4310743"/>
            <a:ext cx="1080000" cy="108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h0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10" name="直線單箭頭接點 9"/>
          <p:cNvCxnSpPr>
            <a:stCxn id="4" idx="5"/>
          </p:cNvCxnSpPr>
          <p:nvPr/>
        </p:nvCxnSpPr>
        <p:spPr>
          <a:xfrm>
            <a:off x="2445837" y="1647551"/>
            <a:ext cx="2243763" cy="2822849"/>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5" idx="4"/>
          </p:cNvCxnSpPr>
          <p:nvPr/>
        </p:nvCxnSpPr>
        <p:spPr>
          <a:xfrm>
            <a:off x="3994400" y="1805713"/>
            <a:ext cx="1100114" cy="2388916"/>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6" idx="4"/>
          </p:cNvCxnSpPr>
          <p:nvPr/>
        </p:nvCxnSpPr>
        <p:spPr>
          <a:xfrm flipH="1">
            <a:off x="5540001" y="1808683"/>
            <a:ext cx="384800" cy="2284346"/>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stCxn id="7" idx="4"/>
          </p:cNvCxnSpPr>
          <p:nvPr/>
        </p:nvCxnSpPr>
        <p:spPr>
          <a:xfrm flipH="1">
            <a:off x="6080001" y="1765140"/>
            <a:ext cx="4590970" cy="2705260"/>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5384801" y="5550400"/>
            <a:ext cx="0" cy="995543"/>
          </a:xfrm>
          <a:prstGeom prst="straightConnector1">
            <a:avLst/>
          </a:prstGeom>
          <a:ln w="5080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flipH="1">
            <a:off x="7432058" y="1265713"/>
            <a:ext cx="1800000" cy="0"/>
          </a:xfrm>
          <a:prstGeom prst="straightConnector1">
            <a:avLst/>
          </a:prstGeom>
          <a:ln w="50800">
            <a:prstDash val="dash"/>
            <a:tailEnd type="none" w="lg" len="lg"/>
          </a:ln>
        </p:spPr>
        <p:style>
          <a:lnRef idx="1">
            <a:schemeClr val="accent1"/>
          </a:lnRef>
          <a:fillRef idx="0">
            <a:schemeClr val="accent1"/>
          </a:fillRef>
          <a:effectRef idx="0">
            <a:schemeClr val="accent1"/>
          </a:effectRef>
          <a:fontRef idx="minor">
            <a:schemeClr val="tx1"/>
          </a:fontRef>
        </p:style>
      </p:cxnSp>
      <p:sp>
        <p:nvSpPr>
          <p:cNvPr id="38" name="文字方塊 37"/>
          <p:cNvSpPr txBox="1"/>
          <p:nvPr/>
        </p:nvSpPr>
        <p:spPr>
          <a:xfrm>
            <a:off x="2320970" y="2358219"/>
            <a:ext cx="566057"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39" name="文字方塊 38"/>
          <p:cNvSpPr txBox="1"/>
          <p:nvPr/>
        </p:nvSpPr>
        <p:spPr>
          <a:xfrm>
            <a:off x="3556171" y="2358219"/>
            <a:ext cx="566057"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w1</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0" name="文字方塊 39"/>
          <p:cNvSpPr txBox="1"/>
          <p:nvPr/>
        </p:nvSpPr>
        <p:spPr>
          <a:xfrm>
            <a:off x="5111420" y="2355589"/>
            <a:ext cx="566057"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w2</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1" name="文字方塊 40"/>
          <p:cNvSpPr txBox="1"/>
          <p:nvPr/>
        </p:nvSpPr>
        <p:spPr>
          <a:xfrm>
            <a:off x="9847942" y="2355589"/>
            <a:ext cx="823029"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w783</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2" name="文字方塊 41"/>
          <p:cNvSpPr txBox="1"/>
          <p:nvPr/>
        </p:nvSpPr>
        <p:spPr>
          <a:xfrm>
            <a:off x="7966227" y="4650688"/>
            <a:ext cx="495601"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b0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43" name="直線單箭頭接點 42"/>
          <p:cNvCxnSpPr/>
          <p:nvPr/>
        </p:nvCxnSpPr>
        <p:spPr>
          <a:xfrm flipH="1" flipV="1">
            <a:off x="6142858" y="4850743"/>
            <a:ext cx="1694857" cy="1"/>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sp>
        <p:nvSpPr>
          <p:cNvPr id="46" name="文字方塊 45"/>
          <p:cNvSpPr txBox="1"/>
          <p:nvPr/>
        </p:nvSpPr>
        <p:spPr>
          <a:xfrm>
            <a:off x="6324346" y="3253338"/>
            <a:ext cx="4242053" cy="400110"/>
          </a:xfrm>
          <a:prstGeom prst="rect">
            <a:avLst/>
          </a:prstGeom>
          <a:solidFill>
            <a:srgbClr val="4FD093"/>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x0*w0+x1*w1+…+x783*w783+b0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7" name="文字方塊 46"/>
          <p:cNvSpPr txBox="1"/>
          <p:nvPr/>
        </p:nvSpPr>
        <p:spPr>
          <a:xfrm>
            <a:off x="6080001" y="5550400"/>
            <a:ext cx="5763656" cy="400110"/>
          </a:xfrm>
          <a:prstGeom prst="rect">
            <a:avLst/>
          </a:prstGeom>
          <a:solidFill>
            <a:srgbClr val="4FD093"/>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Output = f(x0*w0+x1*w1+…+x783*w783+b0)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8" name="文字方塊 47"/>
          <p:cNvSpPr txBox="1"/>
          <p:nvPr/>
        </p:nvSpPr>
        <p:spPr>
          <a:xfrm>
            <a:off x="4528457" y="5648061"/>
            <a:ext cx="566057" cy="400110"/>
          </a:xfrm>
          <a:prstGeom prst="rect">
            <a:avLst/>
          </a:prstGeom>
          <a:solidFill>
            <a:srgbClr val="E78045"/>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h0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5153223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1000"/>
                                        <p:tgtEl>
                                          <p:spTgt spid="47"/>
                                        </p:tgtEl>
                                      </p:cBhvr>
                                    </p:animEffect>
                                    <p:anim calcmode="lin" valueType="num">
                                      <p:cBhvr>
                                        <p:cTn id="15" dur="1000" fill="hold"/>
                                        <p:tgtEl>
                                          <p:spTgt spid="47"/>
                                        </p:tgtEl>
                                        <p:attrNameLst>
                                          <p:attrName>ppt_x</p:attrName>
                                        </p:attrNameLst>
                                      </p:cBhvr>
                                      <p:tavLst>
                                        <p:tav tm="0">
                                          <p:val>
                                            <p:strVal val="#ppt_x"/>
                                          </p:val>
                                        </p:tav>
                                        <p:tav tm="100000">
                                          <p:val>
                                            <p:strVal val="#ppt_x"/>
                                          </p:val>
                                        </p:tav>
                                      </p:tavLst>
                                    </p:anim>
                                    <p:anim calcmode="lin" valueType="num">
                                      <p:cBhvr>
                                        <p:cTn id="1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1000"/>
                                        <p:tgtEl>
                                          <p:spTgt spid="48"/>
                                        </p:tgtEl>
                                      </p:cBhvr>
                                    </p:animEffect>
                                    <p:anim calcmode="lin" valueType="num">
                                      <p:cBhvr>
                                        <p:cTn id="22" dur="1000" fill="hold"/>
                                        <p:tgtEl>
                                          <p:spTgt spid="48"/>
                                        </p:tgtEl>
                                        <p:attrNameLst>
                                          <p:attrName>ppt_x</p:attrName>
                                        </p:attrNameLst>
                                      </p:cBhvr>
                                      <p:tavLst>
                                        <p:tav tm="0">
                                          <p:val>
                                            <p:strVal val="#ppt_x"/>
                                          </p:val>
                                        </p:tav>
                                        <p:tav tm="100000">
                                          <p:val>
                                            <p:strVal val="#ppt_x"/>
                                          </p:val>
                                        </p:tav>
                                      </p:tavLst>
                                    </p:anim>
                                    <p:anim calcmode="lin" valueType="num">
                                      <p:cBhvr>
                                        <p:cTn id="23"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字方塊 6"/>
          <p:cNvSpPr txBox="1"/>
          <p:nvPr/>
        </p:nvSpPr>
        <p:spPr>
          <a:xfrm>
            <a:off x="1542582" y="1055122"/>
            <a:ext cx="2672942" cy="584775"/>
          </a:xfrm>
          <a:prstGeom prst="rect">
            <a:avLst/>
          </a:prstGeom>
          <a:solidFill>
            <a:schemeClr val="accent5"/>
          </a:solidFill>
          <a:ln w="50800">
            <a:noFill/>
          </a:ln>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3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線性整流函數</a:t>
            </a:r>
          </a:p>
        </p:txBody>
      </p:sp>
      <p:sp>
        <p:nvSpPr>
          <p:cNvPr id="10" name="文字方塊 7"/>
          <p:cNvSpPr txBox="1"/>
          <p:nvPr/>
        </p:nvSpPr>
        <p:spPr>
          <a:xfrm>
            <a:off x="8208497" y="1055121"/>
            <a:ext cx="1756228" cy="584775"/>
          </a:xfrm>
          <a:prstGeom prst="rect">
            <a:avLst/>
          </a:prstGeom>
          <a:solidFill>
            <a:schemeClr val="accent5"/>
          </a:solidFill>
          <a:ln w="50800">
            <a:noFill/>
          </a:ln>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3200" b="0" i="0" u="none" strike="noStrike" kern="1200" cap="none" spc="0" normalizeH="0" baseline="0" noProof="0" dirty="0" err="1">
                <a:ln>
                  <a:noFill/>
                </a:ln>
                <a:solidFill>
                  <a:prstClr val="black"/>
                </a:solidFill>
                <a:effectLst/>
                <a:uLnTx/>
                <a:uFillTx/>
                <a:latin typeface="微軟正黑體" panose="020B0604030504040204" pitchFamily="34" charset="-120"/>
                <a:ea typeface="微軟正黑體" panose="020B0604030504040204" pitchFamily="34" charset="-120"/>
                <a:cs typeface="+mn-cs"/>
              </a:rPr>
              <a:t>softmax</a:t>
            </a:r>
            <a:endParaRPr kumimoji="0" lang="zh-TW" altLang="en-US" sz="3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389" y="1802378"/>
            <a:ext cx="5334000" cy="4000500"/>
          </a:xfrm>
          <a:prstGeom prst="rect">
            <a:avLst/>
          </a:prstGeom>
        </p:spPr>
      </p:pic>
      <p:pic>
        <p:nvPicPr>
          <p:cNvPr id="12" name="圖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9611" y="1802378"/>
            <a:ext cx="5334000" cy="4000500"/>
          </a:xfrm>
          <a:prstGeom prst="rect">
            <a:avLst/>
          </a:prstGeom>
        </p:spPr>
      </p:pic>
    </p:spTree>
    <p:extLst>
      <p:ext uri="{BB962C8B-B14F-4D97-AF65-F5344CB8AC3E}">
        <p14:creationId xmlns:p14="http://schemas.microsoft.com/office/powerpoint/2010/main" val="6723986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37" y="1259532"/>
            <a:ext cx="10677525" cy="5429250"/>
          </a:xfrm>
          <a:prstGeom prst="rect">
            <a:avLst/>
          </a:prstGeom>
        </p:spPr>
      </p:pic>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開始建立模型</a:t>
            </a:r>
          </a:p>
        </p:txBody>
      </p:sp>
      <p:sp>
        <p:nvSpPr>
          <p:cNvPr id="8" name="文字方塊 7"/>
          <p:cNvSpPr txBox="1"/>
          <p:nvPr/>
        </p:nvSpPr>
        <p:spPr>
          <a:xfrm>
            <a:off x="406401" y="227983"/>
            <a:ext cx="8437562" cy="461665"/>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建立好模型之後，我們可以使用這個函式來看一下模型的簡介</a:t>
            </a:r>
          </a:p>
        </p:txBody>
      </p:sp>
      <p:sp>
        <p:nvSpPr>
          <p:cNvPr id="9" name="文字方塊 8"/>
          <p:cNvSpPr txBox="1"/>
          <p:nvPr/>
        </p:nvSpPr>
        <p:spPr>
          <a:xfrm>
            <a:off x="6946899" y="999849"/>
            <a:ext cx="4995863" cy="1569660"/>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看一下右邊的</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Parameter</a:t>
            </a: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欄位：可以看到在輸入層和隱藏層之間的是</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200960</a:t>
            </a: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，而隱藏層和輸出層之間的是</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2570</a:t>
            </a:r>
            <a:endPar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11" name="直線單箭頭接點 10"/>
          <p:cNvCxnSpPr/>
          <p:nvPr/>
        </p:nvCxnSpPr>
        <p:spPr>
          <a:xfrm flipH="1">
            <a:off x="8978400" y="3835943"/>
            <a:ext cx="108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a:off x="8978400" y="4501786"/>
            <a:ext cx="72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5062537" y="4777248"/>
            <a:ext cx="7027863" cy="1200329"/>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這個數字代表可以調整的參數總量：來源就是輸入層的神經元個數乘上隱藏層神經元個數再加上一次隱藏層神經元個數：</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784*256+256 = 200960</a:t>
            </a:r>
            <a:endPar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39884803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p:cNvSpPr/>
          <p:nvPr/>
        </p:nvSpPr>
        <p:spPr>
          <a:xfrm>
            <a:off x="1523999" y="725713"/>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5" name="橢圓 4"/>
          <p:cNvSpPr/>
          <p:nvPr/>
        </p:nvSpPr>
        <p:spPr>
          <a:xfrm>
            <a:off x="3454400" y="725713"/>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x1</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6" name="橢圓 5"/>
          <p:cNvSpPr/>
          <p:nvPr/>
        </p:nvSpPr>
        <p:spPr>
          <a:xfrm>
            <a:off x="5384801" y="728683"/>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x2</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7" name="橢圓 6"/>
          <p:cNvSpPr/>
          <p:nvPr/>
        </p:nvSpPr>
        <p:spPr>
          <a:xfrm>
            <a:off x="10130971" y="685140"/>
            <a:ext cx="1080000" cy="10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x783</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8" name="橢圓 7"/>
          <p:cNvSpPr/>
          <p:nvPr/>
        </p:nvSpPr>
        <p:spPr>
          <a:xfrm>
            <a:off x="4844801" y="4310743"/>
            <a:ext cx="1080000" cy="108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h0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10" name="直線單箭頭接點 9"/>
          <p:cNvCxnSpPr>
            <a:stCxn id="4" idx="5"/>
          </p:cNvCxnSpPr>
          <p:nvPr/>
        </p:nvCxnSpPr>
        <p:spPr>
          <a:xfrm>
            <a:off x="2445837" y="1647551"/>
            <a:ext cx="2243763" cy="2822849"/>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5" idx="4"/>
          </p:cNvCxnSpPr>
          <p:nvPr/>
        </p:nvCxnSpPr>
        <p:spPr>
          <a:xfrm>
            <a:off x="3994400" y="1805713"/>
            <a:ext cx="1100114" cy="2388916"/>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6" idx="4"/>
          </p:cNvCxnSpPr>
          <p:nvPr/>
        </p:nvCxnSpPr>
        <p:spPr>
          <a:xfrm flipH="1">
            <a:off x="5540001" y="1808683"/>
            <a:ext cx="384800" cy="2284346"/>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stCxn id="7" idx="4"/>
          </p:cNvCxnSpPr>
          <p:nvPr/>
        </p:nvCxnSpPr>
        <p:spPr>
          <a:xfrm flipH="1">
            <a:off x="6080001" y="1765140"/>
            <a:ext cx="4590970" cy="2705260"/>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5384801" y="5550400"/>
            <a:ext cx="0" cy="995543"/>
          </a:xfrm>
          <a:prstGeom prst="straightConnector1">
            <a:avLst/>
          </a:prstGeom>
          <a:ln w="5080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flipH="1">
            <a:off x="7432058" y="1265713"/>
            <a:ext cx="1800000" cy="0"/>
          </a:xfrm>
          <a:prstGeom prst="straightConnector1">
            <a:avLst/>
          </a:prstGeom>
          <a:ln w="50800">
            <a:prstDash val="dash"/>
            <a:tailEnd type="none" w="lg" len="lg"/>
          </a:ln>
        </p:spPr>
        <p:style>
          <a:lnRef idx="1">
            <a:schemeClr val="accent1"/>
          </a:lnRef>
          <a:fillRef idx="0">
            <a:schemeClr val="accent1"/>
          </a:fillRef>
          <a:effectRef idx="0">
            <a:schemeClr val="accent1"/>
          </a:effectRef>
          <a:fontRef idx="minor">
            <a:schemeClr val="tx1"/>
          </a:fontRef>
        </p:style>
      </p:cxnSp>
      <p:sp>
        <p:nvSpPr>
          <p:cNvPr id="38" name="文字方塊 37"/>
          <p:cNvSpPr txBox="1"/>
          <p:nvPr/>
        </p:nvSpPr>
        <p:spPr>
          <a:xfrm>
            <a:off x="2320970" y="2358219"/>
            <a:ext cx="566057"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39" name="文字方塊 38"/>
          <p:cNvSpPr txBox="1"/>
          <p:nvPr/>
        </p:nvSpPr>
        <p:spPr>
          <a:xfrm>
            <a:off x="3556171" y="2358219"/>
            <a:ext cx="566057"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w1</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0" name="文字方塊 39"/>
          <p:cNvSpPr txBox="1"/>
          <p:nvPr/>
        </p:nvSpPr>
        <p:spPr>
          <a:xfrm>
            <a:off x="5111420" y="2355589"/>
            <a:ext cx="566057"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w2</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1" name="文字方塊 40"/>
          <p:cNvSpPr txBox="1"/>
          <p:nvPr/>
        </p:nvSpPr>
        <p:spPr>
          <a:xfrm>
            <a:off x="9847942" y="2355589"/>
            <a:ext cx="823029"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w783</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43" name="直線單箭頭接點 42"/>
          <p:cNvCxnSpPr/>
          <p:nvPr/>
        </p:nvCxnSpPr>
        <p:spPr>
          <a:xfrm flipH="1" flipV="1">
            <a:off x="6142858" y="4850743"/>
            <a:ext cx="1694857" cy="1"/>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sp>
        <p:nvSpPr>
          <p:cNvPr id="46" name="文字方塊 45"/>
          <p:cNvSpPr txBox="1"/>
          <p:nvPr/>
        </p:nvSpPr>
        <p:spPr>
          <a:xfrm>
            <a:off x="6324346" y="3253338"/>
            <a:ext cx="4242053" cy="400110"/>
          </a:xfrm>
          <a:prstGeom prst="rect">
            <a:avLst/>
          </a:prstGeom>
          <a:solidFill>
            <a:srgbClr val="4FD093"/>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x0*w0+x1*w1+…+x783*w783+b0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48" name="文字方塊 47"/>
          <p:cNvSpPr txBox="1"/>
          <p:nvPr/>
        </p:nvSpPr>
        <p:spPr>
          <a:xfrm>
            <a:off x="4528457" y="5648061"/>
            <a:ext cx="566057" cy="400110"/>
          </a:xfrm>
          <a:prstGeom prst="rect">
            <a:avLst/>
          </a:prstGeom>
          <a:solidFill>
            <a:srgbClr val="E78045"/>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h0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22" name="文字方塊 21"/>
          <p:cNvSpPr txBox="1"/>
          <p:nvPr/>
        </p:nvSpPr>
        <p:spPr>
          <a:xfrm>
            <a:off x="7966227" y="4650688"/>
            <a:ext cx="495601" cy="400110"/>
          </a:xfrm>
          <a:prstGeom prst="rect">
            <a:avLst/>
          </a:prstGeom>
          <a:solidFill>
            <a:srgbClr val="4FD093"/>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b0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23" name="文字方塊 22"/>
          <p:cNvSpPr txBox="1"/>
          <p:nvPr/>
        </p:nvSpPr>
        <p:spPr>
          <a:xfrm>
            <a:off x="6080001" y="5550400"/>
            <a:ext cx="5763656" cy="400110"/>
          </a:xfrm>
          <a:prstGeom prst="rect">
            <a:avLst/>
          </a:prstGeom>
          <a:solidFill>
            <a:srgbClr val="4FD093"/>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Output = f(x0*w0+x1*w1+…+x783*w783+b0)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24" name="文字方塊 23"/>
          <p:cNvSpPr txBox="1"/>
          <p:nvPr/>
        </p:nvSpPr>
        <p:spPr>
          <a:xfrm>
            <a:off x="7385377" y="4033791"/>
            <a:ext cx="1265138" cy="400110"/>
          </a:xfrm>
          <a:prstGeom prst="rect">
            <a:avLst/>
          </a:prstGeom>
          <a:solidFill>
            <a:schemeClr val="tx1"/>
          </a:solidFill>
          <a:ln w="50800">
            <a:solidFill>
              <a:srgbClr val="00B0F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784*1+1</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15160115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86971" y="0"/>
            <a:ext cx="10203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w Cen MT" panose="020B0602020104020603"/>
              <a:ea typeface="新細明體" panose="02020500000000000000" pitchFamily="18" charset="-120"/>
              <a:cs typeface="+mn-cs"/>
            </a:endParaRPr>
          </a:p>
        </p:txBody>
      </p:sp>
      <p:pic>
        <p:nvPicPr>
          <p:cNvPr id="2" name="圖片 1">
            <a:extLst>
              <a:ext uri="{FF2B5EF4-FFF2-40B4-BE49-F238E27FC236}">
                <a16:creationId xmlns:a16="http://schemas.microsoft.com/office/drawing/2014/main" id="{76E2C8A5-E9AA-B16D-12B5-904591AD9D72}"/>
              </a:ext>
            </a:extLst>
          </p:cNvPr>
          <p:cNvPicPr>
            <a:picLocks noChangeAspect="1"/>
          </p:cNvPicPr>
          <p:nvPr/>
        </p:nvPicPr>
        <p:blipFill>
          <a:blip r:embed="rId2"/>
          <a:stretch>
            <a:fillRect/>
          </a:stretch>
        </p:blipFill>
        <p:spPr>
          <a:xfrm>
            <a:off x="978331" y="0"/>
            <a:ext cx="10098680" cy="6858000"/>
          </a:xfrm>
          <a:prstGeom prst="rect">
            <a:avLst/>
          </a:prstGeom>
        </p:spPr>
      </p:pic>
      <p:sp>
        <p:nvSpPr>
          <p:cNvPr id="5" name="手繪多邊形 4"/>
          <p:cNvSpPr/>
          <p:nvPr/>
        </p:nvSpPr>
        <p:spPr>
          <a:xfrm>
            <a:off x="1203327" y="159657"/>
            <a:ext cx="9455346" cy="3976914"/>
          </a:xfrm>
          <a:custGeom>
            <a:avLst/>
            <a:gdLst>
              <a:gd name="connsiteX0" fmla="*/ 73930 w 9455346"/>
              <a:gd name="connsiteY0" fmla="*/ 725714 h 3976914"/>
              <a:gd name="connsiteX1" fmla="*/ 59416 w 9455346"/>
              <a:gd name="connsiteY1" fmla="*/ 653143 h 3976914"/>
              <a:gd name="connsiteX2" fmla="*/ 73930 w 9455346"/>
              <a:gd name="connsiteY2" fmla="*/ 595086 h 3976914"/>
              <a:gd name="connsiteX3" fmla="*/ 102959 w 9455346"/>
              <a:gd name="connsiteY3" fmla="*/ 508000 h 3976914"/>
              <a:gd name="connsiteX4" fmla="*/ 117473 w 9455346"/>
              <a:gd name="connsiteY4" fmla="*/ 464457 h 3976914"/>
              <a:gd name="connsiteX5" fmla="*/ 146502 w 9455346"/>
              <a:gd name="connsiteY5" fmla="*/ 420914 h 3976914"/>
              <a:gd name="connsiteX6" fmla="*/ 233587 w 9455346"/>
              <a:gd name="connsiteY6" fmla="*/ 246743 h 3976914"/>
              <a:gd name="connsiteX7" fmla="*/ 262616 w 9455346"/>
              <a:gd name="connsiteY7" fmla="*/ 203200 h 3976914"/>
              <a:gd name="connsiteX8" fmla="*/ 364216 w 9455346"/>
              <a:gd name="connsiteY8" fmla="*/ 159657 h 3976914"/>
              <a:gd name="connsiteX9" fmla="*/ 407759 w 9455346"/>
              <a:gd name="connsiteY9" fmla="*/ 116114 h 3976914"/>
              <a:gd name="connsiteX10" fmla="*/ 552902 w 9455346"/>
              <a:gd name="connsiteY10" fmla="*/ 72572 h 3976914"/>
              <a:gd name="connsiteX11" fmla="*/ 712559 w 9455346"/>
              <a:gd name="connsiteY11" fmla="*/ 29029 h 3976914"/>
              <a:gd name="connsiteX12" fmla="*/ 1133473 w 9455346"/>
              <a:gd name="connsiteY12" fmla="*/ 0 h 3976914"/>
              <a:gd name="connsiteX13" fmla="*/ 1568902 w 9455346"/>
              <a:gd name="connsiteY13" fmla="*/ 14514 h 3976914"/>
              <a:gd name="connsiteX14" fmla="*/ 1626959 w 9455346"/>
              <a:gd name="connsiteY14" fmla="*/ 29029 h 3976914"/>
              <a:gd name="connsiteX15" fmla="*/ 1801130 w 9455346"/>
              <a:gd name="connsiteY15" fmla="*/ 58057 h 3976914"/>
              <a:gd name="connsiteX16" fmla="*/ 1960787 w 9455346"/>
              <a:gd name="connsiteY16" fmla="*/ 72572 h 3976914"/>
              <a:gd name="connsiteX17" fmla="*/ 2047873 w 9455346"/>
              <a:gd name="connsiteY17" fmla="*/ 87086 h 3976914"/>
              <a:gd name="connsiteX18" fmla="*/ 2396216 w 9455346"/>
              <a:gd name="connsiteY18" fmla="*/ 116114 h 3976914"/>
              <a:gd name="connsiteX19" fmla="*/ 2512330 w 9455346"/>
              <a:gd name="connsiteY19" fmla="*/ 130629 h 3976914"/>
              <a:gd name="connsiteX20" fmla="*/ 4108902 w 9455346"/>
              <a:gd name="connsiteY20" fmla="*/ 174172 h 3976914"/>
              <a:gd name="connsiteX21" fmla="*/ 4500787 w 9455346"/>
              <a:gd name="connsiteY21" fmla="*/ 159657 h 3976914"/>
              <a:gd name="connsiteX22" fmla="*/ 4762044 w 9455346"/>
              <a:gd name="connsiteY22" fmla="*/ 145143 h 3976914"/>
              <a:gd name="connsiteX23" fmla="*/ 5516787 w 9455346"/>
              <a:gd name="connsiteY23" fmla="*/ 116114 h 3976914"/>
              <a:gd name="connsiteX24" fmla="*/ 5719987 w 9455346"/>
              <a:gd name="connsiteY24" fmla="*/ 101600 h 3976914"/>
              <a:gd name="connsiteX25" fmla="*/ 6416673 w 9455346"/>
              <a:gd name="connsiteY25" fmla="*/ 72572 h 3976914"/>
              <a:gd name="connsiteX26" fmla="*/ 7592330 w 9455346"/>
              <a:gd name="connsiteY26" fmla="*/ 58057 h 3976914"/>
              <a:gd name="connsiteX27" fmla="*/ 8318044 w 9455346"/>
              <a:gd name="connsiteY27" fmla="*/ 72572 h 3976914"/>
              <a:gd name="connsiteX28" fmla="*/ 8753473 w 9455346"/>
              <a:gd name="connsiteY28" fmla="*/ 101600 h 3976914"/>
              <a:gd name="connsiteX29" fmla="*/ 8869587 w 9455346"/>
              <a:gd name="connsiteY29" fmla="*/ 130629 h 3976914"/>
              <a:gd name="connsiteX30" fmla="*/ 8913130 w 9455346"/>
              <a:gd name="connsiteY30" fmla="*/ 159657 h 3976914"/>
              <a:gd name="connsiteX31" fmla="*/ 8956673 w 9455346"/>
              <a:gd name="connsiteY31" fmla="*/ 174172 h 3976914"/>
              <a:gd name="connsiteX32" fmla="*/ 9116330 w 9455346"/>
              <a:gd name="connsiteY32" fmla="*/ 261257 h 3976914"/>
              <a:gd name="connsiteX33" fmla="*/ 9159873 w 9455346"/>
              <a:gd name="connsiteY33" fmla="*/ 304800 h 3976914"/>
              <a:gd name="connsiteX34" fmla="*/ 9217930 w 9455346"/>
              <a:gd name="connsiteY34" fmla="*/ 333829 h 3976914"/>
              <a:gd name="connsiteX35" fmla="*/ 9261473 w 9455346"/>
              <a:gd name="connsiteY35" fmla="*/ 377372 h 3976914"/>
              <a:gd name="connsiteX36" fmla="*/ 9392102 w 9455346"/>
              <a:gd name="connsiteY36" fmla="*/ 478972 h 3976914"/>
              <a:gd name="connsiteX37" fmla="*/ 9421130 w 9455346"/>
              <a:gd name="connsiteY37" fmla="*/ 537029 h 3976914"/>
              <a:gd name="connsiteX38" fmla="*/ 9450159 w 9455346"/>
              <a:gd name="connsiteY38" fmla="*/ 580572 h 3976914"/>
              <a:gd name="connsiteX39" fmla="*/ 9421130 w 9455346"/>
              <a:gd name="connsiteY39" fmla="*/ 928914 h 3976914"/>
              <a:gd name="connsiteX40" fmla="*/ 9392102 w 9455346"/>
              <a:gd name="connsiteY40" fmla="*/ 1103086 h 3976914"/>
              <a:gd name="connsiteX41" fmla="*/ 9377587 w 9455346"/>
              <a:gd name="connsiteY41" fmla="*/ 1161143 h 3976914"/>
              <a:gd name="connsiteX42" fmla="*/ 9319530 w 9455346"/>
              <a:gd name="connsiteY42" fmla="*/ 1248229 h 3976914"/>
              <a:gd name="connsiteX43" fmla="*/ 9261473 w 9455346"/>
              <a:gd name="connsiteY43" fmla="*/ 1277257 h 3976914"/>
              <a:gd name="connsiteX44" fmla="*/ 9232444 w 9455346"/>
              <a:gd name="connsiteY44" fmla="*/ 1320800 h 3976914"/>
              <a:gd name="connsiteX45" fmla="*/ 9174387 w 9455346"/>
              <a:gd name="connsiteY45" fmla="*/ 1335314 h 3976914"/>
              <a:gd name="connsiteX46" fmla="*/ 9116330 w 9455346"/>
              <a:gd name="connsiteY46" fmla="*/ 1364343 h 3976914"/>
              <a:gd name="connsiteX47" fmla="*/ 9014730 w 9455346"/>
              <a:gd name="connsiteY47" fmla="*/ 1436914 h 3976914"/>
              <a:gd name="connsiteX48" fmla="*/ 8956673 w 9455346"/>
              <a:gd name="connsiteY48" fmla="*/ 1451429 h 3976914"/>
              <a:gd name="connsiteX49" fmla="*/ 8913130 w 9455346"/>
              <a:gd name="connsiteY49" fmla="*/ 1480457 h 3976914"/>
              <a:gd name="connsiteX50" fmla="*/ 8811530 w 9455346"/>
              <a:gd name="connsiteY50" fmla="*/ 1524000 h 3976914"/>
              <a:gd name="connsiteX51" fmla="*/ 8724444 w 9455346"/>
              <a:gd name="connsiteY51" fmla="*/ 1538514 h 3976914"/>
              <a:gd name="connsiteX52" fmla="*/ 8680902 w 9455346"/>
              <a:gd name="connsiteY52" fmla="*/ 1567543 h 3976914"/>
              <a:gd name="connsiteX53" fmla="*/ 8622844 w 9455346"/>
              <a:gd name="connsiteY53" fmla="*/ 1582057 h 3976914"/>
              <a:gd name="connsiteX54" fmla="*/ 8579302 w 9455346"/>
              <a:gd name="connsiteY54" fmla="*/ 1596572 h 3976914"/>
              <a:gd name="connsiteX55" fmla="*/ 8506730 w 9455346"/>
              <a:gd name="connsiteY55" fmla="*/ 1625600 h 3976914"/>
              <a:gd name="connsiteX56" fmla="*/ 8434159 w 9455346"/>
              <a:gd name="connsiteY56" fmla="*/ 1640114 h 3976914"/>
              <a:gd name="connsiteX57" fmla="*/ 8376102 w 9455346"/>
              <a:gd name="connsiteY57" fmla="*/ 1654629 h 3976914"/>
              <a:gd name="connsiteX58" fmla="*/ 8332559 w 9455346"/>
              <a:gd name="connsiteY58" fmla="*/ 1669143 h 3976914"/>
              <a:gd name="connsiteX59" fmla="*/ 8172902 w 9455346"/>
              <a:gd name="connsiteY59" fmla="*/ 1683657 h 3976914"/>
              <a:gd name="connsiteX60" fmla="*/ 7882616 w 9455346"/>
              <a:gd name="connsiteY60" fmla="*/ 1712686 h 3976914"/>
              <a:gd name="connsiteX61" fmla="*/ 7664902 w 9455346"/>
              <a:gd name="connsiteY61" fmla="*/ 1727200 h 3976914"/>
              <a:gd name="connsiteX62" fmla="*/ 7476216 w 9455346"/>
              <a:gd name="connsiteY62" fmla="*/ 1741714 h 3976914"/>
              <a:gd name="connsiteX63" fmla="*/ 6721473 w 9455346"/>
              <a:gd name="connsiteY63" fmla="*/ 1770743 h 3976914"/>
              <a:gd name="connsiteX64" fmla="*/ 6387644 w 9455346"/>
              <a:gd name="connsiteY64" fmla="*/ 1785257 h 3976914"/>
              <a:gd name="connsiteX65" fmla="*/ 4950730 w 9455346"/>
              <a:gd name="connsiteY65" fmla="*/ 1770743 h 3976914"/>
              <a:gd name="connsiteX66" fmla="*/ 4878159 w 9455346"/>
              <a:gd name="connsiteY66" fmla="*/ 1785257 h 3976914"/>
              <a:gd name="connsiteX67" fmla="*/ 4486273 w 9455346"/>
              <a:gd name="connsiteY67" fmla="*/ 1799772 h 3976914"/>
              <a:gd name="connsiteX68" fmla="*/ 4239530 w 9455346"/>
              <a:gd name="connsiteY68" fmla="*/ 1814286 h 3976914"/>
              <a:gd name="connsiteX69" fmla="*/ 3934730 w 9455346"/>
              <a:gd name="connsiteY69" fmla="*/ 1828800 h 3976914"/>
              <a:gd name="connsiteX70" fmla="*/ 3702502 w 9455346"/>
              <a:gd name="connsiteY70" fmla="*/ 1857829 h 3976914"/>
              <a:gd name="connsiteX71" fmla="*/ 3586387 w 9455346"/>
              <a:gd name="connsiteY71" fmla="*/ 1872343 h 3976914"/>
              <a:gd name="connsiteX72" fmla="*/ 3542844 w 9455346"/>
              <a:gd name="connsiteY72" fmla="*/ 1886857 h 3976914"/>
              <a:gd name="connsiteX73" fmla="*/ 3441244 w 9455346"/>
              <a:gd name="connsiteY73" fmla="*/ 1901372 h 3976914"/>
              <a:gd name="connsiteX74" fmla="*/ 3368673 w 9455346"/>
              <a:gd name="connsiteY74" fmla="*/ 1930400 h 3976914"/>
              <a:gd name="connsiteX75" fmla="*/ 3325130 w 9455346"/>
              <a:gd name="connsiteY75" fmla="*/ 1959429 h 3976914"/>
              <a:gd name="connsiteX76" fmla="*/ 3238044 w 9455346"/>
              <a:gd name="connsiteY76" fmla="*/ 1988457 h 3976914"/>
              <a:gd name="connsiteX77" fmla="*/ 3136444 w 9455346"/>
              <a:gd name="connsiteY77" fmla="*/ 2046514 h 3976914"/>
              <a:gd name="connsiteX78" fmla="*/ 3092902 w 9455346"/>
              <a:gd name="connsiteY78" fmla="*/ 2075543 h 3976914"/>
              <a:gd name="connsiteX79" fmla="*/ 3005816 w 9455346"/>
              <a:gd name="connsiteY79" fmla="*/ 2104572 h 3976914"/>
              <a:gd name="connsiteX80" fmla="*/ 2831644 w 9455346"/>
              <a:gd name="connsiteY80" fmla="*/ 2220686 h 3976914"/>
              <a:gd name="connsiteX81" fmla="*/ 2744559 w 9455346"/>
              <a:gd name="connsiteY81" fmla="*/ 2278743 h 3976914"/>
              <a:gd name="connsiteX82" fmla="*/ 2657473 w 9455346"/>
              <a:gd name="connsiteY82" fmla="*/ 2351314 h 3976914"/>
              <a:gd name="connsiteX83" fmla="*/ 2599416 w 9455346"/>
              <a:gd name="connsiteY83" fmla="*/ 2438400 h 3976914"/>
              <a:gd name="connsiteX84" fmla="*/ 2555873 w 9455346"/>
              <a:gd name="connsiteY84" fmla="*/ 2481943 h 3976914"/>
              <a:gd name="connsiteX85" fmla="*/ 2526844 w 9455346"/>
              <a:gd name="connsiteY85" fmla="*/ 2540000 h 3976914"/>
              <a:gd name="connsiteX86" fmla="*/ 2483302 w 9455346"/>
              <a:gd name="connsiteY86" fmla="*/ 2583543 h 3976914"/>
              <a:gd name="connsiteX87" fmla="*/ 2454273 w 9455346"/>
              <a:gd name="connsiteY87" fmla="*/ 2641600 h 3976914"/>
              <a:gd name="connsiteX88" fmla="*/ 2367187 w 9455346"/>
              <a:gd name="connsiteY88" fmla="*/ 2786743 h 3976914"/>
              <a:gd name="connsiteX89" fmla="*/ 2323644 w 9455346"/>
              <a:gd name="connsiteY89" fmla="*/ 2888343 h 3976914"/>
              <a:gd name="connsiteX90" fmla="*/ 2309130 w 9455346"/>
              <a:gd name="connsiteY90" fmla="*/ 2946400 h 3976914"/>
              <a:gd name="connsiteX91" fmla="*/ 2294616 w 9455346"/>
              <a:gd name="connsiteY91" fmla="*/ 2989943 h 3976914"/>
              <a:gd name="connsiteX92" fmla="*/ 2280102 w 9455346"/>
              <a:gd name="connsiteY92" fmla="*/ 3048000 h 3976914"/>
              <a:gd name="connsiteX93" fmla="*/ 2236559 w 9455346"/>
              <a:gd name="connsiteY93" fmla="*/ 3149600 h 3976914"/>
              <a:gd name="connsiteX94" fmla="*/ 2193016 w 9455346"/>
              <a:gd name="connsiteY94" fmla="*/ 3236686 h 3976914"/>
              <a:gd name="connsiteX95" fmla="*/ 2149473 w 9455346"/>
              <a:gd name="connsiteY95" fmla="*/ 3338286 h 3976914"/>
              <a:gd name="connsiteX96" fmla="*/ 2105930 w 9455346"/>
              <a:gd name="connsiteY96" fmla="*/ 3425372 h 3976914"/>
              <a:gd name="connsiteX97" fmla="*/ 2062387 w 9455346"/>
              <a:gd name="connsiteY97" fmla="*/ 3512457 h 3976914"/>
              <a:gd name="connsiteX98" fmla="*/ 2033359 w 9455346"/>
              <a:gd name="connsiteY98" fmla="*/ 3599543 h 3976914"/>
              <a:gd name="connsiteX99" fmla="*/ 1975302 w 9455346"/>
              <a:gd name="connsiteY99" fmla="*/ 3701143 h 3976914"/>
              <a:gd name="connsiteX100" fmla="*/ 1960787 w 9455346"/>
              <a:gd name="connsiteY100" fmla="*/ 3744686 h 3976914"/>
              <a:gd name="connsiteX101" fmla="*/ 1917244 w 9455346"/>
              <a:gd name="connsiteY101" fmla="*/ 3788229 h 3976914"/>
              <a:gd name="connsiteX102" fmla="*/ 1830159 w 9455346"/>
              <a:gd name="connsiteY102" fmla="*/ 3875314 h 3976914"/>
              <a:gd name="connsiteX103" fmla="*/ 1786616 w 9455346"/>
              <a:gd name="connsiteY103" fmla="*/ 3918857 h 3976914"/>
              <a:gd name="connsiteX104" fmla="*/ 1699530 w 9455346"/>
              <a:gd name="connsiteY104" fmla="*/ 3947886 h 3976914"/>
              <a:gd name="connsiteX105" fmla="*/ 1655987 w 9455346"/>
              <a:gd name="connsiteY105" fmla="*/ 3976914 h 3976914"/>
              <a:gd name="connsiteX106" fmla="*/ 1510844 w 9455346"/>
              <a:gd name="connsiteY106" fmla="*/ 3962400 h 3976914"/>
              <a:gd name="connsiteX107" fmla="*/ 1278616 w 9455346"/>
              <a:gd name="connsiteY107" fmla="*/ 3933372 h 3976914"/>
              <a:gd name="connsiteX108" fmla="*/ 1220559 w 9455346"/>
              <a:gd name="connsiteY108" fmla="*/ 3918857 h 3976914"/>
              <a:gd name="connsiteX109" fmla="*/ 1147987 w 9455346"/>
              <a:gd name="connsiteY109" fmla="*/ 3904343 h 3976914"/>
              <a:gd name="connsiteX110" fmla="*/ 1104444 w 9455346"/>
              <a:gd name="connsiteY110" fmla="*/ 3875314 h 3976914"/>
              <a:gd name="connsiteX111" fmla="*/ 1060902 w 9455346"/>
              <a:gd name="connsiteY111" fmla="*/ 3860800 h 3976914"/>
              <a:gd name="connsiteX112" fmla="*/ 959302 w 9455346"/>
              <a:gd name="connsiteY112" fmla="*/ 3817257 h 3976914"/>
              <a:gd name="connsiteX113" fmla="*/ 857702 w 9455346"/>
              <a:gd name="connsiteY113" fmla="*/ 3773714 h 3976914"/>
              <a:gd name="connsiteX114" fmla="*/ 756102 w 9455346"/>
              <a:gd name="connsiteY114" fmla="*/ 3686629 h 3976914"/>
              <a:gd name="connsiteX115" fmla="*/ 712559 w 9455346"/>
              <a:gd name="connsiteY115" fmla="*/ 3672114 h 3976914"/>
              <a:gd name="connsiteX116" fmla="*/ 669016 w 9455346"/>
              <a:gd name="connsiteY116" fmla="*/ 3643086 h 3976914"/>
              <a:gd name="connsiteX117" fmla="*/ 639987 w 9455346"/>
              <a:gd name="connsiteY117" fmla="*/ 3599543 h 3976914"/>
              <a:gd name="connsiteX118" fmla="*/ 552902 w 9455346"/>
              <a:gd name="connsiteY118" fmla="*/ 3526972 h 3976914"/>
              <a:gd name="connsiteX119" fmla="*/ 523873 w 9455346"/>
              <a:gd name="connsiteY119" fmla="*/ 3483429 h 3976914"/>
              <a:gd name="connsiteX120" fmla="*/ 480330 w 9455346"/>
              <a:gd name="connsiteY120" fmla="*/ 3425372 h 3976914"/>
              <a:gd name="connsiteX121" fmla="*/ 407759 w 9455346"/>
              <a:gd name="connsiteY121" fmla="*/ 3338286 h 3976914"/>
              <a:gd name="connsiteX122" fmla="*/ 349702 w 9455346"/>
              <a:gd name="connsiteY122" fmla="*/ 3251200 h 3976914"/>
              <a:gd name="connsiteX123" fmla="*/ 306159 w 9455346"/>
              <a:gd name="connsiteY123" fmla="*/ 3207657 h 3976914"/>
              <a:gd name="connsiteX124" fmla="*/ 291644 w 9455346"/>
              <a:gd name="connsiteY124" fmla="*/ 3164114 h 3976914"/>
              <a:gd name="connsiteX125" fmla="*/ 233587 w 9455346"/>
              <a:gd name="connsiteY125" fmla="*/ 3077029 h 3976914"/>
              <a:gd name="connsiteX126" fmla="*/ 219073 w 9455346"/>
              <a:gd name="connsiteY126" fmla="*/ 3018972 h 3976914"/>
              <a:gd name="connsiteX127" fmla="*/ 190044 w 9455346"/>
              <a:gd name="connsiteY127" fmla="*/ 2931886 h 3976914"/>
              <a:gd name="connsiteX128" fmla="*/ 175530 w 9455346"/>
              <a:gd name="connsiteY128" fmla="*/ 2888343 h 3976914"/>
              <a:gd name="connsiteX129" fmla="*/ 161016 w 9455346"/>
              <a:gd name="connsiteY129" fmla="*/ 2830286 h 3976914"/>
              <a:gd name="connsiteX130" fmla="*/ 102959 w 9455346"/>
              <a:gd name="connsiteY130" fmla="*/ 2728686 h 3976914"/>
              <a:gd name="connsiteX131" fmla="*/ 88444 w 9455346"/>
              <a:gd name="connsiteY131" fmla="*/ 2641600 h 3976914"/>
              <a:gd name="connsiteX132" fmla="*/ 73930 w 9455346"/>
              <a:gd name="connsiteY132" fmla="*/ 2598057 h 3976914"/>
              <a:gd name="connsiteX133" fmla="*/ 59416 w 9455346"/>
              <a:gd name="connsiteY133" fmla="*/ 2467429 h 3976914"/>
              <a:gd name="connsiteX134" fmla="*/ 44902 w 9455346"/>
              <a:gd name="connsiteY134" fmla="*/ 2394857 h 3976914"/>
              <a:gd name="connsiteX135" fmla="*/ 30387 w 9455346"/>
              <a:gd name="connsiteY135" fmla="*/ 2307772 h 3976914"/>
              <a:gd name="connsiteX136" fmla="*/ 15873 w 9455346"/>
              <a:gd name="connsiteY136" fmla="*/ 2119086 h 3976914"/>
              <a:gd name="connsiteX137" fmla="*/ 1359 w 9455346"/>
              <a:gd name="connsiteY137" fmla="*/ 1959429 h 3976914"/>
              <a:gd name="connsiteX138" fmla="*/ 30387 w 9455346"/>
              <a:gd name="connsiteY138" fmla="*/ 1262743 h 3976914"/>
              <a:gd name="connsiteX139" fmla="*/ 73930 w 9455346"/>
              <a:gd name="connsiteY139" fmla="*/ 725714 h 397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9455346" h="3976914">
                <a:moveTo>
                  <a:pt x="73930" y="725714"/>
                </a:moveTo>
                <a:cubicBezTo>
                  <a:pt x="78768" y="624114"/>
                  <a:pt x="59416" y="677812"/>
                  <a:pt x="59416" y="653143"/>
                </a:cubicBezTo>
                <a:cubicBezTo>
                  <a:pt x="59416" y="633195"/>
                  <a:pt x="68198" y="614193"/>
                  <a:pt x="73930" y="595086"/>
                </a:cubicBezTo>
                <a:cubicBezTo>
                  <a:pt x="82723" y="565778"/>
                  <a:pt x="93283" y="537029"/>
                  <a:pt x="102959" y="508000"/>
                </a:cubicBezTo>
                <a:cubicBezTo>
                  <a:pt x="107797" y="493486"/>
                  <a:pt x="108986" y="477187"/>
                  <a:pt x="117473" y="464457"/>
                </a:cubicBezTo>
                <a:lnTo>
                  <a:pt x="146502" y="420914"/>
                </a:lnTo>
                <a:cubicBezTo>
                  <a:pt x="186562" y="300732"/>
                  <a:pt x="158557" y="359287"/>
                  <a:pt x="233587" y="246743"/>
                </a:cubicBezTo>
                <a:cubicBezTo>
                  <a:pt x="243263" y="232229"/>
                  <a:pt x="247013" y="211001"/>
                  <a:pt x="262616" y="203200"/>
                </a:cubicBezTo>
                <a:cubicBezTo>
                  <a:pt x="334357" y="167330"/>
                  <a:pt x="300147" y="181014"/>
                  <a:pt x="364216" y="159657"/>
                </a:cubicBezTo>
                <a:cubicBezTo>
                  <a:pt x="378730" y="145143"/>
                  <a:pt x="389816" y="126082"/>
                  <a:pt x="407759" y="116114"/>
                </a:cubicBezTo>
                <a:cubicBezTo>
                  <a:pt x="447922" y="93801"/>
                  <a:pt x="508087" y="86017"/>
                  <a:pt x="552902" y="72572"/>
                </a:cubicBezTo>
                <a:cubicBezTo>
                  <a:pt x="626138" y="50601"/>
                  <a:pt x="640017" y="37564"/>
                  <a:pt x="712559" y="29029"/>
                </a:cubicBezTo>
                <a:cubicBezTo>
                  <a:pt x="819360" y="16464"/>
                  <a:pt x="1039963" y="5500"/>
                  <a:pt x="1133473" y="0"/>
                </a:cubicBezTo>
                <a:cubicBezTo>
                  <a:pt x="1278616" y="4838"/>
                  <a:pt x="1423929" y="5986"/>
                  <a:pt x="1568902" y="14514"/>
                </a:cubicBezTo>
                <a:cubicBezTo>
                  <a:pt x="1588816" y="15685"/>
                  <a:pt x="1607486" y="24702"/>
                  <a:pt x="1626959" y="29029"/>
                </a:cubicBezTo>
                <a:cubicBezTo>
                  <a:pt x="1685887" y="42124"/>
                  <a:pt x="1740549" y="51326"/>
                  <a:pt x="1801130" y="58057"/>
                </a:cubicBezTo>
                <a:cubicBezTo>
                  <a:pt x="1854242" y="63958"/>
                  <a:pt x="1907715" y="66328"/>
                  <a:pt x="1960787" y="72572"/>
                </a:cubicBezTo>
                <a:cubicBezTo>
                  <a:pt x="1990014" y="76011"/>
                  <a:pt x="2018646" y="83648"/>
                  <a:pt x="2047873" y="87086"/>
                </a:cubicBezTo>
                <a:cubicBezTo>
                  <a:pt x="2172443" y="101741"/>
                  <a:pt x="2269825" y="104077"/>
                  <a:pt x="2396216" y="116114"/>
                </a:cubicBezTo>
                <a:cubicBezTo>
                  <a:pt x="2435046" y="119812"/>
                  <a:pt x="2473370" y="128744"/>
                  <a:pt x="2512330" y="130629"/>
                </a:cubicBezTo>
                <a:cubicBezTo>
                  <a:pt x="3174800" y="162684"/>
                  <a:pt x="3441108" y="162247"/>
                  <a:pt x="4108902" y="174172"/>
                </a:cubicBezTo>
                <a:lnTo>
                  <a:pt x="4500787" y="159657"/>
                </a:lnTo>
                <a:cubicBezTo>
                  <a:pt x="4587921" y="155784"/>
                  <a:pt x="4674894" y="148629"/>
                  <a:pt x="4762044" y="145143"/>
                </a:cubicBezTo>
                <a:cubicBezTo>
                  <a:pt x="5250827" y="125592"/>
                  <a:pt x="5117153" y="139622"/>
                  <a:pt x="5516787" y="116114"/>
                </a:cubicBezTo>
                <a:cubicBezTo>
                  <a:pt x="5584576" y="112126"/>
                  <a:pt x="5652186" y="105367"/>
                  <a:pt x="5719987" y="101600"/>
                </a:cubicBezTo>
                <a:cubicBezTo>
                  <a:pt x="5823477" y="95851"/>
                  <a:pt x="6336397" y="74073"/>
                  <a:pt x="6416673" y="72572"/>
                </a:cubicBezTo>
                <a:lnTo>
                  <a:pt x="7592330" y="58057"/>
                </a:lnTo>
                <a:lnTo>
                  <a:pt x="8318044" y="72572"/>
                </a:lnTo>
                <a:cubicBezTo>
                  <a:pt x="8437133" y="76127"/>
                  <a:pt x="8628591" y="91994"/>
                  <a:pt x="8753473" y="101600"/>
                </a:cubicBezTo>
                <a:cubicBezTo>
                  <a:pt x="8781082" y="107122"/>
                  <a:pt x="8839829" y="115750"/>
                  <a:pt x="8869587" y="130629"/>
                </a:cubicBezTo>
                <a:cubicBezTo>
                  <a:pt x="8885189" y="138430"/>
                  <a:pt x="8897528" y="151856"/>
                  <a:pt x="8913130" y="159657"/>
                </a:cubicBezTo>
                <a:cubicBezTo>
                  <a:pt x="8926814" y="166499"/>
                  <a:pt x="8942745" y="167841"/>
                  <a:pt x="8956673" y="174172"/>
                </a:cubicBezTo>
                <a:cubicBezTo>
                  <a:pt x="8985750" y="187389"/>
                  <a:pt x="9078157" y="229446"/>
                  <a:pt x="9116330" y="261257"/>
                </a:cubicBezTo>
                <a:cubicBezTo>
                  <a:pt x="9132099" y="274398"/>
                  <a:pt x="9143170" y="292869"/>
                  <a:pt x="9159873" y="304800"/>
                </a:cubicBezTo>
                <a:cubicBezTo>
                  <a:pt x="9177479" y="317376"/>
                  <a:pt x="9200324" y="321253"/>
                  <a:pt x="9217930" y="333829"/>
                </a:cubicBezTo>
                <a:cubicBezTo>
                  <a:pt x="9234633" y="345760"/>
                  <a:pt x="9245270" y="364770"/>
                  <a:pt x="9261473" y="377372"/>
                </a:cubicBezTo>
                <a:cubicBezTo>
                  <a:pt x="9417720" y="498897"/>
                  <a:pt x="9293247" y="380117"/>
                  <a:pt x="9392102" y="478972"/>
                </a:cubicBezTo>
                <a:cubicBezTo>
                  <a:pt x="9401778" y="498324"/>
                  <a:pt x="9410395" y="518243"/>
                  <a:pt x="9421130" y="537029"/>
                </a:cubicBezTo>
                <a:cubicBezTo>
                  <a:pt x="9429785" y="552175"/>
                  <a:pt x="9449367" y="563146"/>
                  <a:pt x="9450159" y="580572"/>
                </a:cubicBezTo>
                <a:cubicBezTo>
                  <a:pt x="9465082" y="908878"/>
                  <a:pt x="9445460" y="758603"/>
                  <a:pt x="9421130" y="928914"/>
                </a:cubicBezTo>
                <a:cubicBezTo>
                  <a:pt x="9384066" y="1188366"/>
                  <a:pt x="9427755" y="978303"/>
                  <a:pt x="9392102" y="1103086"/>
                </a:cubicBezTo>
                <a:cubicBezTo>
                  <a:pt x="9386622" y="1122266"/>
                  <a:pt x="9386508" y="1143301"/>
                  <a:pt x="9377587" y="1161143"/>
                </a:cubicBezTo>
                <a:cubicBezTo>
                  <a:pt x="9361985" y="1192348"/>
                  <a:pt x="9350735" y="1232627"/>
                  <a:pt x="9319530" y="1248229"/>
                </a:cubicBezTo>
                <a:lnTo>
                  <a:pt x="9261473" y="1277257"/>
                </a:lnTo>
                <a:cubicBezTo>
                  <a:pt x="9251797" y="1291771"/>
                  <a:pt x="9246958" y="1311124"/>
                  <a:pt x="9232444" y="1320800"/>
                </a:cubicBezTo>
                <a:cubicBezTo>
                  <a:pt x="9215846" y="1331865"/>
                  <a:pt x="9193065" y="1328310"/>
                  <a:pt x="9174387" y="1335314"/>
                </a:cubicBezTo>
                <a:cubicBezTo>
                  <a:pt x="9154128" y="1342911"/>
                  <a:pt x="9134678" y="1352876"/>
                  <a:pt x="9116330" y="1364343"/>
                </a:cubicBezTo>
                <a:cubicBezTo>
                  <a:pt x="9105509" y="1371106"/>
                  <a:pt x="9034275" y="1428537"/>
                  <a:pt x="9014730" y="1436914"/>
                </a:cubicBezTo>
                <a:cubicBezTo>
                  <a:pt x="8996395" y="1444772"/>
                  <a:pt x="8976025" y="1446591"/>
                  <a:pt x="8956673" y="1451429"/>
                </a:cubicBezTo>
                <a:cubicBezTo>
                  <a:pt x="8942159" y="1461105"/>
                  <a:pt x="8928276" y="1471802"/>
                  <a:pt x="8913130" y="1480457"/>
                </a:cubicBezTo>
                <a:cubicBezTo>
                  <a:pt x="8884890" y="1496594"/>
                  <a:pt x="8844840" y="1516598"/>
                  <a:pt x="8811530" y="1524000"/>
                </a:cubicBezTo>
                <a:cubicBezTo>
                  <a:pt x="8782802" y="1530384"/>
                  <a:pt x="8753473" y="1533676"/>
                  <a:pt x="8724444" y="1538514"/>
                </a:cubicBezTo>
                <a:cubicBezTo>
                  <a:pt x="8709930" y="1548190"/>
                  <a:pt x="8696935" y="1560672"/>
                  <a:pt x="8680902" y="1567543"/>
                </a:cubicBezTo>
                <a:cubicBezTo>
                  <a:pt x="8662567" y="1575401"/>
                  <a:pt x="8642025" y="1576577"/>
                  <a:pt x="8622844" y="1582057"/>
                </a:cubicBezTo>
                <a:cubicBezTo>
                  <a:pt x="8608133" y="1586260"/>
                  <a:pt x="8593627" y="1591200"/>
                  <a:pt x="8579302" y="1596572"/>
                </a:cubicBezTo>
                <a:cubicBezTo>
                  <a:pt x="8554907" y="1605720"/>
                  <a:pt x="8531685" y="1618114"/>
                  <a:pt x="8506730" y="1625600"/>
                </a:cubicBezTo>
                <a:cubicBezTo>
                  <a:pt x="8483101" y="1632689"/>
                  <a:pt x="8458241" y="1634762"/>
                  <a:pt x="8434159" y="1640114"/>
                </a:cubicBezTo>
                <a:cubicBezTo>
                  <a:pt x="8414686" y="1644441"/>
                  <a:pt x="8395282" y="1649149"/>
                  <a:pt x="8376102" y="1654629"/>
                </a:cubicBezTo>
                <a:cubicBezTo>
                  <a:pt x="8361391" y="1658832"/>
                  <a:pt x="8347705" y="1666979"/>
                  <a:pt x="8332559" y="1669143"/>
                </a:cubicBezTo>
                <a:cubicBezTo>
                  <a:pt x="8279658" y="1676700"/>
                  <a:pt x="8226092" y="1678510"/>
                  <a:pt x="8172902" y="1683657"/>
                </a:cubicBezTo>
                <a:cubicBezTo>
                  <a:pt x="8076110" y="1693024"/>
                  <a:pt x="7979645" y="1706218"/>
                  <a:pt x="7882616" y="1712686"/>
                </a:cubicBezTo>
                <a:lnTo>
                  <a:pt x="7664902" y="1727200"/>
                </a:lnTo>
                <a:cubicBezTo>
                  <a:pt x="7601981" y="1731694"/>
                  <a:pt x="7539200" y="1738215"/>
                  <a:pt x="7476216" y="1741714"/>
                </a:cubicBezTo>
                <a:cubicBezTo>
                  <a:pt x="7238742" y="1754907"/>
                  <a:pt x="6955472" y="1761743"/>
                  <a:pt x="6721473" y="1770743"/>
                </a:cubicBezTo>
                <a:lnTo>
                  <a:pt x="6387644" y="1785257"/>
                </a:lnTo>
                <a:lnTo>
                  <a:pt x="4950730" y="1770743"/>
                </a:lnTo>
                <a:cubicBezTo>
                  <a:pt x="4926061" y="1770743"/>
                  <a:pt x="4902780" y="1783718"/>
                  <a:pt x="4878159" y="1785257"/>
                </a:cubicBezTo>
                <a:cubicBezTo>
                  <a:pt x="4747695" y="1793411"/>
                  <a:pt x="4616856" y="1793836"/>
                  <a:pt x="4486273" y="1799772"/>
                </a:cubicBezTo>
                <a:cubicBezTo>
                  <a:pt x="4403968" y="1803513"/>
                  <a:pt x="4321806" y="1809956"/>
                  <a:pt x="4239530" y="1814286"/>
                </a:cubicBezTo>
                <a:lnTo>
                  <a:pt x="3934730" y="1828800"/>
                </a:lnTo>
                <a:cubicBezTo>
                  <a:pt x="3827539" y="1864530"/>
                  <a:pt x="3922127" y="1836912"/>
                  <a:pt x="3702502" y="1857829"/>
                </a:cubicBezTo>
                <a:cubicBezTo>
                  <a:pt x="3663672" y="1861527"/>
                  <a:pt x="3625092" y="1867505"/>
                  <a:pt x="3586387" y="1872343"/>
                </a:cubicBezTo>
                <a:cubicBezTo>
                  <a:pt x="3571873" y="1877181"/>
                  <a:pt x="3557846" y="1883856"/>
                  <a:pt x="3542844" y="1886857"/>
                </a:cubicBezTo>
                <a:cubicBezTo>
                  <a:pt x="3509298" y="1893566"/>
                  <a:pt x="3474433" y="1893075"/>
                  <a:pt x="3441244" y="1901372"/>
                </a:cubicBezTo>
                <a:cubicBezTo>
                  <a:pt x="3415968" y="1907691"/>
                  <a:pt x="3391976" y="1918748"/>
                  <a:pt x="3368673" y="1930400"/>
                </a:cubicBezTo>
                <a:cubicBezTo>
                  <a:pt x="3353071" y="1938201"/>
                  <a:pt x="3341071" y="1952344"/>
                  <a:pt x="3325130" y="1959429"/>
                </a:cubicBezTo>
                <a:cubicBezTo>
                  <a:pt x="3297168" y="1971856"/>
                  <a:pt x="3238044" y="1988457"/>
                  <a:pt x="3238044" y="1988457"/>
                </a:cubicBezTo>
                <a:cubicBezTo>
                  <a:pt x="3097653" y="2093751"/>
                  <a:pt x="3247268" y="1991101"/>
                  <a:pt x="3136444" y="2046514"/>
                </a:cubicBezTo>
                <a:cubicBezTo>
                  <a:pt x="3120842" y="2054315"/>
                  <a:pt x="3108842" y="2068458"/>
                  <a:pt x="3092902" y="2075543"/>
                </a:cubicBezTo>
                <a:cubicBezTo>
                  <a:pt x="3064940" y="2087971"/>
                  <a:pt x="3031276" y="2087599"/>
                  <a:pt x="3005816" y="2104572"/>
                </a:cubicBezTo>
                <a:lnTo>
                  <a:pt x="2831644" y="2220686"/>
                </a:lnTo>
                <a:cubicBezTo>
                  <a:pt x="2831642" y="2220688"/>
                  <a:pt x="2744560" y="2278742"/>
                  <a:pt x="2744559" y="2278743"/>
                </a:cubicBezTo>
                <a:cubicBezTo>
                  <a:pt x="2688681" y="2334621"/>
                  <a:pt x="2718095" y="2310900"/>
                  <a:pt x="2657473" y="2351314"/>
                </a:cubicBezTo>
                <a:cubicBezTo>
                  <a:pt x="2638121" y="2380343"/>
                  <a:pt x="2624086" y="2413730"/>
                  <a:pt x="2599416" y="2438400"/>
                </a:cubicBezTo>
                <a:cubicBezTo>
                  <a:pt x="2584902" y="2452914"/>
                  <a:pt x="2567804" y="2465240"/>
                  <a:pt x="2555873" y="2481943"/>
                </a:cubicBezTo>
                <a:cubicBezTo>
                  <a:pt x="2543297" y="2499549"/>
                  <a:pt x="2539420" y="2522394"/>
                  <a:pt x="2526844" y="2540000"/>
                </a:cubicBezTo>
                <a:cubicBezTo>
                  <a:pt x="2514913" y="2556703"/>
                  <a:pt x="2495233" y="2566840"/>
                  <a:pt x="2483302" y="2583543"/>
                </a:cubicBezTo>
                <a:cubicBezTo>
                  <a:pt x="2470726" y="2601149"/>
                  <a:pt x="2465405" y="2623047"/>
                  <a:pt x="2454273" y="2641600"/>
                </a:cubicBezTo>
                <a:cubicBezTo>
                  <a:pt x="2349184" y="2816748"/>
                  <a:pt x="2433543" y="2654033"/>
                  <a:pt x="2367187" y="2786743"/>
                </a:cubicBezTo>
                <a:cubicBezTo>
                  <a:pt x="2325519" y="2953420"/>
                  <a:pt x="2383785" y="2748015"/>
                  <a:pt x="2323644" y="2888343"/>
                </a:cubicBezTo>
                <a:cubicBezTo>
                  <a:pt x="2315786" y="2906678"/>
                  <a:pt x="2314610" y="2927220"/>
                  <a:pt x="2309130" y="2946400"/>
                </a:cubicBezTo>
                <a:cubicBezTo>
                  <a:pt x="2304927" y="2961111"/>
                  <a:pt x="2298819" y="2975232"/>
                  <a:pt x="2294616" y="2989943"/>
                </a:cubicBezTo>
                <a:cubicBezTo>
                  <a:pt x="2289136" y="3009123"/>
                  <a:pt x="2285582" y="3028820"/>
                  <a:pt x="2280102" y="3048000"/>
                </a:cubicBezTo>
                <a:cubicBezTo>
                  <a:pt x="2260653" y="3116069"/>
                  <a:pt x="2269730" y="3072202"/>
                  <a:pt x="2236559" y="3149600"/>
                </a:cubicBezTo>
                <a:cubicBezTo>
                  <a:pt x="2200505" y="3233727"/>
                  <a:pt x="2248799" y="3153009"/>
                  <a:pt x="2193016" y="3236686"/>
                </a:cubicBezTo>
                <a:cubicBezTo>
                  <a:pt x="2162809" y="3357516"/>
                  <a:pt x="2199591" y="3238051"/>
                  <a:pt x="2149473" y="3338286"/>
                </a:cubicBezTo>
                <a:cubicBezTo>
                  <a:pt x="2089381" y="3458470"/>
                  <a:pt x="2189123" y="3300583"/>
                  <a:pt x="2105930" y="3425372"/>
                </a:cubicBezTo>
                <a:cubicBezTo>
                  <a:pt x="2052995" y="3584176"/>
                  <a:pt x="2137420" y="3343632"/>
                  <a:pt x="2062387" y="3512457"/>
                </a:cubicBezTo>
                <a:cubicBezTo>
                  <a:pt x="2049960" y="3540419"/>
                  <a:pt x="2050332" y="3574083"/>
                  <a:pt x="2033359" y="3599543"/>
                </a:cubicBezTo>
                <a:cubicBezTo>
                  <a:pt x="2004204" y="3643275"/>
                  <a:pt x="1997402" y="3649578"/>
                  <a:pt x="1975302" y="3701143"/>
                </a:cubicBezTo>
                <a:cubicBezTo>
                  <a:pt x="1969275" y="3715205"/>
                  <a:pt x="1969274" y="3731956"/>
                  <a:pt x="1960787" y="3744686"/>
                </a:cubicBezTo>
                <a:cubicBezTo>
                  <a:pt x="1949401" y="3761765"/>
                  <a:pt x="1930602" y="3772644"/>
                  <a:pt x="1917244" y="3788229"/>
                </a:cubicBezTo>
                <a:cubicBezTo>
                  <a:pt x="1792084" y="3934251"/>
                  <a:pt x="1945138" y="3779499"/>
                  <a:pt x="1830159" y="3875314"/>
                </a:cubicBezTo>
                <a:cubicBezTo>
                  <a:pt x="1814390" y="3888455"/>
                  <a:pt x="1804559" y="3908888"/>
                  <a:pt x="1786616" y="3918857"/>
                </a:cubicBezTo>
                <a:cubicBezTo>
                  <a:pt x="1759868" y="3933717"/>
                  <a:pt x="1724990" y="3930913"/>
                  <a:pt x="1699530" y="3947886"/>
                </a:cubicBezTo>
                <a:lnTo>
                  <a:pt x="1655987" y="3976914"/>
                </a:lnTo>
                <a:lnTo>
                  <a:pt x="1510844" y="3962400"/>
                </a:lnTo>
                <a:lnTo>
                  <a:pt x="1278616" y="3933372"/>
                </a:lnTo>
                <a:cubicBezTo>
                  <a:pt x="1259264" y="3928534"/>
                  <a:pt x="1240032" y="3923184"/>
                  <a:pt x="1220559" y="3918857"/>
                </a:cubicBezTo>
                <a:cubicBezTo>
                  <a:pt x="1196477" y="3913505"/>
                  <a:pt x="1171086" y="3913005"/>
                  <a:pt x="1147987" y="3904343"/>
                </a:cubicBezTo>
                <a:cubicBezTo>
                  <a:pt x="1131654" y="3898218"/>
                  <a:pt x="1120046" y="3883115"/>
                  <a:pt x="1104444" y="3875314"/>
                </a:cubicBezTo>
                <a:cubicBezTo>
                  <a:pt x="1090760" y="3868472"/>
                  <a:pt x="1074586" y="3867642"/>
                  <a:pt x="1060902" y="3860800"/>
                </a:cubicBezTo>
                <a:cubicBezTo>
                  <a:pt x="960667" y="3810683"/>
                  <a:pt x="1080132" y="3847466"/>
                  <a:pt x="959302" y="3817257"/>
                </a:cubicBezTo>
                <a:cubicBezTo>
                  <a:pt x="800810" y="3711598"/>
                  <a:pt x="1045152" y="3867438"/>
                  <a:pt x="857702" y="3773714"/>
                </a:cubicBezTo>
                <a:cubicBezTo>
                  <a:pt x="751984" y="3720856"/>
                  <a:pt x="843256" y="3744733"/>
                  <a:pt x="756102" y="3686629"/>
                </a:cubicBezTo>
                <a:cubicBezTo>
                  <a:pt x="743372" y="3678142"/>
                  <a:pt x="726243" y="3678956"/>
                  <a:pt x="712559" y="3672114"/>
                </a:cubicBezTo>
                <a:cubicBezTo>
                  <a:pt x="696957" y="3664313"/>
                  <a:pt x="683530" y="3652762"/>
                  <a:pt x="669016" y="3643086"/>
                </a:cubicBezTo>
                <a:cubicBezTo>
                  <a:pt x="659340" y="3628572"/>
                  <a:pt x="652322" y="3611878"/>
                  <a:pt x="639987" y="3599543"/>
                </a:cubicBezTo>
                <a:cubicBezTo>
                  <a:pt x="525818" y="3485374"/>
                  <a:pt x="671786" y="3669633"/>
                  <a:pt x="552902" y="3526972"/>
                </a:cubicBezTo>
                <a:cubicBezTo>
                  <a:pt x="541735" y="3513571"/>
                  <a:pt x="534012" y="3497624"/>
                  <a:pt x="523873" y="3483429"/>
                </a:cubicBezTo>
                <a:cubicBezTo>
                  <a:pt x="509813" y="3463744"/>
                  <a:pt x="494844" y="3444724"/>
                  <a:pt x="480330" y="3425372"/>
                </a:cubicBezTo>
                <a:cubicBezTo>
                  <a:pt x="449275" y="3332204"/>
                  <a:pt x="492114" y="3433186"/>
                  <a:pt x="407759" y="3338286"/>
                </a:cubicBezTo>
                <a:cubicBezTo>
                  <a:pt x="384581" y="3312210"/>
                  <a:pt x="374372" y="3275870"/>
                  <a:pt x="349702" y="3251200"/>
                </a:cubicBezTo>
                <a:lnTo>
                  <a:pt x="306159" y="3207657"/>
                </a:lnTo>
                <a:cubicBezTo>
                  <a:pt x="301321" y="3193143"/>
                  <a:pt x="299074" y="3177488"/>
                  <a:pt x="291644" y="3164114"/>
                </a:cubicBezTo>
                <a:cubicBezTo>
                  <a:pt x="274701" y="3133617"/>
                  <a:pt x="233587" y="3077029"/>
                  <a:pt x="233587" y="3077029"/>
                </a:cubicBezTo>
                <a:cubicBezTo>
                  <a:pt x="228749" y="3057677"/>
                  <a:pt x="224805" y="3038079"/>
                  <a:pt x="219073" y="3018972"/>
                </a:cubicBezTo>
                <a:cubicBezTo>
                  <a:pt x="210280" y="2989664"/>
                  <a:pt x="199720" y="2960915"/>
                  <a:pt x="190044" y="2931886"/>
                </a:cubicBezTo>
                <a:cubicBezTo>
                  <a:pt x="185206" y="2917372"/>
                  <a:pt x="179241" y="2903186"/>
                  <a:pt x="175530" y="2888343"/>
                </a:cubicBezTo>
                <a:cubicBezTo>
                  <a:pt x="170692" y="2868991"/>
                  <a:pt x="168020" y="2848964"/>
                  <a:pt x="161016" y="2830286"/>
                </a:cubicBezTo>
                <a:cubicBezTo>
                  <a:pt x="145233" y="2788199"/>
                  <a:pt x="127020" y="2764778"/>
                  <a:pt x="102959" y="2728686"/>
                </a:cubicBezTo>
                <a:cubicBezTo>
                  <a:pt x="98121" y="2699657"/>
                  <a:pt x="94828" y="2670328"/>
                  <a:pt x="88444" y="2641600"/>
                </a:cubicBezTo>
                <a:cubicBezTo>
                  <a:pt x="85125" y="2626665"/>
                  <a:pt x="76445" y="2613148"/>
                  <a:pt x="73930" y="2598057"/>
                </a:cubicBezTo>
                <a:cubicBezTo>
                  <a:pt x="66728" y="2554842"/>
                  <a:pt x="65612" y="2510799"/>
                  <a:pt x="59416" y="2467429"/>
                </a:cubicBezTo>
                <a:cubicBezTo>
                  <a:pt x="55927" y="2443007"/>
                  <a:pt x="49315" y="2419129"/>
                  <a:pt x="44902" y="2394857"/>
                </a:cubicBezTo>
                <a:cubicBezTo>
                  <a:pt x="39638" y="2365903"/>
                  <a:pt x="35225" y="2336800"/>
                  <a:pt x="30387" y="2307772"/>
                </a:cubicBezTo>
                <a:cubicBezTo>
                  <a:pt x="25549" y="2244877"/>
                  <a:pt x="21111" y="2181949"/>
                  <a:pt x="15873" y="2119086"/>
                </a:cubicBezTo>
                <a:cubicBezTo>
                  <a:pt x="11435" y="2065832"/>
                  <a:pt x="1359" y="2012867"/>
                  <a:pt x="1359" y="1959429"/>
                </a:cubicBezTo>
                <a:cubicBezTo>
                  <a:pt x="1359" y="1437582"/>
                  <a:pt x="-9541" y="1542246"/>
                  <a:pt x="30387" y="1262743"/>
                </a:cubicBezTo>
                <a:cubicBezTo>
                  <a:pt x="45178" y="745071"/>
                  <a:pt x="69092" y="827314"/>
                  <a:pt x="73930" y="725714"/>
                </a:cubicBezTo>
                <a:close/>
              </a:path>
            </a:pathLst>
          </a:cu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Tw Cen MT" panose="020B0602020104020603"/>
              <a:ea typeface="新細明體" panose="02020500000000000000" pitchFamily="18" charset="-120"/>
              <a:cs typeface="+mn-cs"/>
            </a:endParaRPr>
          </a:p>
        </p:txBody>
      </p:sp>
      <p:sp>
        <p:nvSpPr>
          <p:cNvPr id="7" name="文字方塊 6"/>
          <p:cNvSpPr txBox="1"/>
          <p:nvPr/>
        </p:nvSpPr>
        <p:spPr>
          <a:xfrm>
            <a:off x="5298431" y="3182262"/>
            <a:ext cx="1224695" cy="400110"/>
          </a:xfrm>
          <a:prstGeom prst="rect">
            <a:avLst/>
          </a:prstGeom>
          <a:solidFill>
            <a:schemeClr val="tx1"/>
          </a:solidFill>
          <a:ln w="50800">
            <a:solidFill>
              <a:srgbClr val="00B0F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784*1+1</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0" name="文字方塊 9"/>
          <p:cNvSpPr txBox="1"/>
          <p:nvPr/>
        </p:nvSpPr>
        <p:spPr>
          <a:xfrm>
            <a:off x="5298431" y="3675829"/>
            <a:ext cx="2118369" cy="1015663"/>
          </a:xfrm>
          <a:prstGeom prst="rect">
            <a:avLst/>
          </a:prstGeom>
          <a:solidFill>
            <a:schemeClr val="tx1"/>
          </a:solidFill>
          <a:ln w="50800">
            <a:solidFill>
              <a:srgbClr val="00B0F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(784*1+1)*256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 784*256+256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=200960</a:t>
            </a:r>
            <a:endPar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7697587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37" y="1259532"/>
            <a:ext cx="10677525" cy="5429250"/>
          </a:xfrm>
          <a:prstGeom prst="rect">
            <a:avLst/>
          </a:prstGeom>
        </p:spPr>
      </p:pic>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開始建立模型</a:t>
            </a:r>
          </a:p>
        </p:txBody>
      </p:sp>
      <p:sp>
        <p:nvSpPr>
          <p:cNvPr id="8" name="文字方塊 7"/>
          <p:cNvSpPr txBox="1"/>
          <p:nvPr/>
        </p:nvSpPr>
        <p:spPr>
          <a:xfrm>
            <a:off x="406401" y="227983"/>
            <a:ext cx="8437562" cy="461665"/>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建立好模型之後，我們可以使用這個函式來看一下模型的簡介</a:t>
            </a:r>
          </a:p>
        </p:txBody>
      </p:sp>
      <p:cxnSp>
        <p:nvCxnSpPr>
          <p:cNvPr id="11" name="直線單箭頭接點 10"/>
          <p:cNvCxnSpPr/>
          <p:nvPr/>
        </p:nvCxnSpPr>
        <p:spPr>
          <a:xfrm flipH="1">
            <a:off x="8978400" y="3835943"/>
            <a:ext cx="108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H="1">
            <a:off x="8978400" y="4501786"/>
            <a:ext cx="720000" cy="0"/>
          </a:xfrm>
          <a:prstGeom prst="straightConnector1">
            <a:avLst/>
          </a:prstGeom>
          <a:ln w="50800">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5178650" y="4849818"/>
            <a:ext cx="5431292" cy="830997"/>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經過剛剛那個例子，其實我們就能了解</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2570</a:t>
            </a: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是怎麼來的了吧</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endPar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3" name="文字方塊 12"/>
          <p:cNvSpPr txBox="1"/>
          <p:nvPr/>
        </p:nvSpPr>
        <p:spPr>
          <a:xfrm>
            <a:off x="5178650" y="5775208"/>
            <a:ext cx="5431292" cy="461665"/>
          </a:xfrm>
          <a:prstGeom prst="rect">
            <a:avLst/>
          </a:prstGeom>
          <a:solidFill>
            <a:schemeClr val="accent2"/>
          </a:solidFill>
          <a:ln w="508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其實就是</a:t>
            </a:r>
            <a:r>
              <a:rPr kumimoji="0" lang="en-US" altLang="zh-TW"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  256*10+10 = 2570</a:t>
            </a:r>
            <a:endParaRPr kumimoji="0" lang="zh-TW" altLang="en-US" sz="24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20768474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41422543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62" y="866775"/>
            <a:ext cx="8105775" cy="4514850"/>
          </a:xfrm>
          <a:prstGeom prst="rect">
            <a:avLst/>
          </a:prstGeom>
        </p:spPr>
      </p:pic>
      <p:sp>
        <p:nvSpPr>
          <p:cNvPr id="6" name="文字方塊 5"/>
          <p:cNvSpPr txBox="1"/>
          <p:nvPr/>
        </p:nvSpPr>
        <p:spPr>
          <a:xfrm>
            <a:off x="8509000" y="1081385"/>
            <a:ext cx="2635250"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使用線性堆疊模型</a:t>
            </a:r>
          </a:p>
        </p:txBody>
      </p:sp>
      <p:sp>
        <p:nvSpPr>
          <p:cNvPr id="8" name="文字方塊 7"/>
          <p:cNvSpPr txBox="1"/>
          <p:nvPr/>
        </p:nvSpPr>
        <p:spPr>
          <a:xfrm>
            <a:off x="8509000" y="2073870"/>
            <a:ext cx="3581400" cy="1569660"/>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設定第</a:t>
            </a:r>
            <a:r>
              <a:rPr lang="en-US" altLang="zh-TW" sz="2400" dirty="0">
                <a:solidFill>
                  <a:schemeClr val="bg1"/>
                </a:solidFill>
                <a:latin typeface="微軟正黑體" panose="020B0604030504040204" pitchFamily="34" charset="-120"/>
                <a:ea typeface="微軟正黑體" panose="020B0604030504040204" pitchFamily="34" charset="-120"/>
              </a:rPr>
              <a:t>1</a:t>
            </a:r>
            <a:r>
              <a:rPr lang="zh-TW" altLang="en-US" sz="2400" dirty="0">
                <a:solidFill>
                  <a:schemeClr val="bg1"/>
                </a:solidFill>
                <a:latin typeface="微軟正黑體" panose="020B0604030504040204" pitchFamily="34" charset="-120"/>
                <a:ea typeface="微軟正黑體" panose="020B0604030504040204" pitchFamily="34" charset="-120"/>
              </a:rPr>
              <a:t>、</a:t>
            </a:r>
            <a:r>
              <a:rPr lang="en-US" altLang="zh-TW" sz="2400" dirty="0">
                <a:solidFill>
                  <a:schemeClr val="bg1"/>
                </a:solidFill>
                <a:latin typeface="微軟正黑體" panose="020B0604030504040204" pitchFamily="34" charset="-120"/>
                <a:ea typeface="微軟正黑體" panose="020B0604030504040204" pitchFamily="34" charset="-120"/>
              </a:rPr>
              <a:t>2</a:t>
            </a:r>
            <a:r>
              <a:rPr lang="zh-TW" altLang="en-US" sz="2400" dirty="0">
                <a:solidFill>
                  <a:schemeClr val="bg1"/>
                </a:solidFill>
                <a:latin typeface="微軟正黑體" panose="020B0604030504040204" pitchFamily="34" charset="-120"/>
                <a:ea typeface="微軟正黑體" panose="020B0604030504040204" pitchFamily="34" charset="-120"/>
              </a:rPr>
              <a:t>層間的參數，像是輸入層的神經元要</a:t>
            </a:r>
            <a:r>
              <a:rPr lang="en-US" altLang="zh-TW" sz="2400" dirty="0">
                <a:solidFill>
                  <a:schemeClr val="bg1"/>
                </a:solidFill>
                <a:latin typeface="微軟正黑體" panose="020B0604030504040204" pitchFamily="34" charset="-120"/>
                <a:ea typeface="微軟正黑體" panose="020B0604030504040204" pitchFamily="34" charset="-120"/>
              </a:rPr>
              <a:t>784</a:t>
            </a:r>
            <a:r>
              <a:rPr lang="zh-TW" altLang="en-US" sz="2400" dirty="0">
                <a:solidFill>
                  <a:schemeClr val="bg1"/>
                </a:solidFill>
                <a:latin typeface="微軟正黑體" panose="020B0604030504040204" pitchFamily="34" charset="-120"/>
                <a:ea typeface="微軟正黑體" panose="020B0604030504040204" pitchFamily="34" charset="-120"/>
              </a:rPr>
              <a:t>個、隱藏層的神經元要</a:t>
            </a:r>
            <a:r>
              <a:rPr lang="en-US" altLang="zh-TW" sz="2400" dirty="0">
                <a:solidFill>
                  <a:schemeClr val="bg1"/>
                </a:solidFill>
                <a:latin typeface="微軟正黑體" panose="020B0604030504040204" pitchFamily="34" charset="-120"/>
                <a:ea typeface="微軟正黑體" panose="020B0604030504040204" pitchFamily="34" charset="-120"/>
              </a:rPr>
              <a:t>256</a:t>
            </a:r>
            <a:r>
              <a:rPr lang="zh-TW" altLang="en-US" sz="2400" dirty="0">
                <a:solidFill>
                  <a:schemeClr val="bg1"/>
                </a:solidFill>
                <a:latin typeface="微軟正黑體" panose="020B0604030504040204" pitchFamily="34" charset="-120"/>
                <a:ea typeface="微軟正黑體" panose="020B0604030504040204" pitchFamily="34" charset="-120"/>
              </a:rPr>
              <a:t>個</a:t>
            </a:r>
          </a:p>
        </p:txBody>
      </p:sp>
      <p:sp>
        <p:nvSpPr>
          <p:cNvPr id="10" name="文字方塊 9"/>
          <p:cNvSpPr txBox="1"/>
          <p:nvPr/>
        </p:nvSpPr>
        <p:spPr>
          <a:xfrm>
            <a:off x="8509000" y="3811965"/>
            <a:ext cx="3581400" cy="1938992"/>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設定第</a:t>
            </a:r>
            <a:r>
              <a:rPr lang="en-US" altLang="zh-TW" sz="2400" dirty="0">
                <a:solidFill>
                  <a:schemeClr val="bg1"/>
                </a:solidFill>
                <a:latin typeface="微軟正黑體" panose="020B0604030504040204" pitchFamily="34" charset="-120"/>
                <a:ea typeface="微軟正黑體" panose="020B0604030504040204" pitchFamily="34" charset="-120"/>
              </a:rPr>
              <a:t>2</a:t>
            </a:r>
            <a:r>
              <a:rPr lang="zh-TW" altLang="en-US" sz="2400" dirty="0">
                <a:solidFill>
                  <a:schemeClr val="bg1"/>
                </a:solidFill>
                <a:latin typeface="微軟正黑體" panose="020B0604030504040204" pitchFamily="34" charset="-120"/>
                <a:ea typeface="微軟正黑體" panose="020B0604030504040204" pitchFamily="34" charset="-120"/>
              </a:rPr>
              <a:t>、</a:t>
            </a:r>
            <a:r>
              <a:rPr lang="en-US" altLang="zh-TW" sz="2400" dirty="0">
                <a:solidFill>
                  <a:schemeClr val="bg1"/>
                </a:solidFill>
                <a:latin typeface="微軟正黑體" panose="020B0604030504040204" pitchFamily="34" charset="-120"/>
                <a:ea typeface="微軟正黑體" panose="020B0604030504040204" pitchFamily="34" charset="-120"/>
              </a:rPr>
              <a:t>3</a:t>
            </a:r>
            <a:r>
              <a:rPr lang="zh-TW" altLang="en-US" sz="2400" dirty="0">
                <a:solidFill>
                  <a:schemeClr val="bg1"/>
                </a:solidFill>
                <a:latin typeface="微軟正黑體" panose="020B0604030504040204" pitchFamily="34" charset="-120"/>
                <a:ea typeface="微軟正黑體" panose="020B0604030504040204" pitchFamily="34" charset="-120"/>
              </a:rPr>
              <a:t>層間的參數，像是輸出層的神經元要</a:t>
            </a:r>
            <a:r>
              <a:rPr lang="en-US" altLang="zh-TW" sz="2400" dirty="0">
                <a:solidFill>
                  <a:schemeClr val="bg1"/>
                </a:solidFill>
                <a:latin typeface="微軟正黑體" panose="020B0604030504040204" pitchFamily="34" charset="-120"/>
                <a:ea typeface="微軟正黑體" panose="020B0604030504040204" pitchFamily="34" charset="-120"/>
              </a:rPr>
              <a:t>10</a:t>
            </a:r>
            <a:r>
              <a:rPr lang="zh-TW" altLang="en-US" sz="2400" dirty="0">
                <a:solidFill>
                  <a:schemeClr val="bg1"/>
                </a:solidFill>
                <a:latin typeface="微軟正黑體" panose="020B0604030504040204" pitchFamily="34" charset="-120"/>
                <a:ea typeface="微軟正黑體" panose="020B0604030504040204" pitchFamily="34" charset="-120"/>
              </a:rPr>
              <a:t>個（隱藏層的神經元要</a:t>
            </a:r>
            <a:r>
              <a:rPr lang="en-US" altLang="zh-TW" sz="2400" dirty="0">
                <a:solidFill>
                  <a:schemeClr val="bg1"/>
                </a:solidFill>
                <a:latin typeface="微軟正黑體" panose="020B0604030504040204" pitchFamily="34" charset="-120"/>
                <a:ea typeface="微軟正黑體" panose="020B0604030504040204" pitchFamily="34" charset="-120"/>
              </a:rPr>
              <a:t>256</a:t>
            </a:r>
            <a:r>
              <a:rPr lang="zh-TW" altLang="en-US" sz="2400" dirty="0">
                <a:solidFill>
                  <a:schemeClr val="bg1"/>
                </a:solidFill>
                <a:latin typeface="微軟正黑體" panose="020B0604030504040204" pitchFamily="34" charset="-120"/>
                <a:ea typeface="微軟正黑體" panose="020B0604030504040204" pitchFamily="34" charset="-120"/>
              </a:rPr>
              <a:t>個的設定將會沿用之前的設定）</a:t>
            </a:r>
          </a:p>
        </p:txBody>
      </p:sp>
    </p:spTree>
    <p:extLst>
      <p:ext uri="{BB962C8B-B14F-4D97-AF65-F5344CB8AC3E}">
        <p14:creationId xmlns:p14="http://schemas.microsoft.com/office/powerpoint/2010/main" val="23657694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62" y="866775"/>
            <a:ext cx="8105775" cy="4514850"/>
          </a:xfrm>
          <a:prstGeom prst="rect">
            <a:avLst/>
          </a:prstGeom>
        </p:spPr>
      </p:pic>
      <p:sp>
        <p:nvSpPr>
          <p:cNvPr id="8" name="文字方塊 7"/>
          <p:cNvSpPr txBox="1"/>
          <p:nvPr/>
        </p:nvSpPr>
        <p:spPr>
          <a:xfrm>
            <a:off x="8262937" y="1350953"/>
            <a:ext cx="3929063" cy="1938992"/>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神經元中的權重及偏差是使用常態分佈（</a:t>
            </a:r>
            <a:r>
              <a:rPr lang="en-US" altLang="zh-TW" sz="2400" dirty="0">
                <a:solidFill>
                  <a:schemeClr val="bg1"/>
                </a:solidFill>
                <a:latin typeface="微軟正黑體" panose="020B0604030504040204" pitchFamily="34" charset="-120"/>
                <a:ea typeface="微軟正黑體" panose="020B0604030504040204" pitchFamily="34" charset="-120"/>
              </a:rPr>
              <a:t>normal</a:t>
            </a:r>
            <a:r>
              <a:rPr lang="zh-TW" altLang="en-US" sz="2400" dirty="0">
                <a:solidFill>
                  <a:schemeClr val="bg1"/>
                </a:solidFill>
                <a:latin typeface="微軟正黑體" panose="020B0604030504040204" pitchFamily="34" charset="-120"/>
                <a:ea typeface="微軟正黑體" panose="020B0604030504040204" pitchFamily="34" charset="-120"/>
              </a:rPr>
              <a:t>）的亂數先給予初始值，神經元中的激活函數是使用線性整流函數（</a:t>
            </a:r>
            <a:r>
              <a:rPr lang="en-US" altLang="zh-TW" sz="2400" dirty="0" err="1">
                <a:solidFill>
                  <a:schemeClr val="bg1"/>
                </a:solidFill>
                <a:latin typeface="微軟正黑體" panose="020B0604030504040204" pitchFamily="34" charset="-120"/>
                <a:ea typeface="微軟正黑體" panose="020B0604030504040204" pitchFamily="34" charset="-120"/>
              </a:rPr>
              <a:t>relu</a:t>
            </a:r>
            <a:r>
              <a:rPr lang="zh-TW" altLang="en-US" sz="2400" dirty="0">
                <a:solidFill>
                  <a:schemeClr val="bg1"/>
                </a:solidFill>
                <a:latin typeface="微軟正黑體" panose="020B0604030504040204" pitchFamily="34" charset="-120"/>
                <a:ea typeface="微軟正黑體" panose="020B0604030504040204" pitchFamily="34" charset="-120"/>
              </a:rPr>
              <a:t>）</a:t>
            </a:r>
          </a:p>
        </p:txBody>
      </p:sp>
      <p:sp>
        <p:nvSpPr>
          <p:cNvPr id="10" name="文字方塊 9"/>
          <p:cNvSpPr txBox="1"/>
          <p:nvPr/>
        </p:nvSpPr>
        <p:spPr>
          <a:xfrm>
            <a:off x="8262937" y="3966508"/>
            <a:ext cx="3924300"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這邊權重及偏差一樣是使用常態分佈，但激活函數則是改用</a:t>
            </a:r>
            <a:r>
              <a:rPr lang="en-US" altLang="zh-TW" sz="2400" dirty="0" err="1">
                <a:solidFill>
                  <a:schemeClr val="bg1"/>
                </a:solidFill>
                <a:latin typeface="微軟正黑體" panose="020B0604030504040204" pitchFamily="34" charset="-120"/>
                <a:ea typeface="微軟正黑體" panose="020B0604030504040204" pitchFamily="34" charset="-120"/>
              </a:rPr>
              <a:t>softmax</a:t>
            </a:r>
            <a:r>
              <a:rPr lang="zh-TW" altLang="en-US" sz="2400" dirty="0">
                <a:solidFill>
                  <a:schemeClr val="bg1"/>
                </a:solidFill>
                <a:latin typeface="微軟正黑體" panose="020B0604030504040204" pitchFamily="34" charset="-120"/>
                <a:ea typeface="微軟正黑體" panose="020B0604030504040204" pitchFamily="34" charset="-120"/>
              </a:rPr>
              <a:t>函數</a:t>
            </a:r>
          </a:p>
        </p:txBody>
      </p:sp>
      <p:sp>
        <p:nvSpPr>
          <p:cNvPr id="7" name="文字方塊 6"/>
          <p:cNvSpPr txBox="1"/>
          <p:nvPr/>
        </p:nvSpPr>
        <p:spPr>
          <a:xfrm>
            <a:off x="2264229" y="5843400"/>
            <a:ext cx="7431315"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這樣子就設定好模型的外觀及參數了，有沒有很簡單</a:t>
            </a:r>
            <a:r>
              <a:rPr lang="en-US" altLang="zh-TW" sz="2400" dirty="0">
                <a:solidFill>
                  <a:schemeClr val="bg1"/>
                </a:solidFill>
                <a:latin typeface="微軟正黑體" panose="020B0604030504040204" pitchFamily="34" charset="-120"/>
                <a:ea typeface="微軟正黑體" panose="020B0604030504040204" pitchFamily="34" charset="-120"/>
              </a:rPr>
              <a:t>?</a:t>
            </a:r>
            <a:endParaRPr lang="zh-TW" altLang="en-US" sz="24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396754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37" y="1259532"/>
            <a:ext cx="10677525" cy="5429250"/>
          </a:xfrm>
          <a:prstGeom prst="rect">
            <a:avLst/>
          </a:prstGeom>
        </p:spPr>
      </p:pic>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開始建立模型</a:t>
            </a:r>
          </a:p>
        </p:txBody>
      </p:sp>
      <p:sp>
        <p:nvSpPr>
          <p:cNvPr id="8" name="文字方塊 7"/>
          <p:cNvSpPr txBox="1"/>
          <p:nvPr/>
        </p:nvSpPr>
        <p:spPr>
          <a:xfrm>
            <a:off x="406401" y="227983"/>
            <a:ext cx="8437562"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建立好模型之後，我們可以使用這個函式來看一下模型的簡介</a:t>
            </a:r>
          </a:p>
        </p:txBody>
      </p:sp>
    </p:spTree>
    <p:extLst>
      <p:ext uri="{BB962C8B-B14F-4D97-AF65-F5344CB8AC3E}">
        <p14:creationId xmlns:p14="http://schemas.microsoft.com/office/powerpoint/2010/main" val="17305327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26412182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pic>
        <p:nvPicPr>
          <p:cNvPr id="2" name="圖片 1"/>
          <p:cNvPicPr>
            <a:picLocks noChangeAspect="1"/>
          </p:cNvPicPr>
          <p:nvPr/>
        </p:nvPicPr>
        <p:blipFill rotWithShape="1">
          <a:blip r:embed="rId2">
            <a:extLst>
              <a:ext uri="{28A0092B-C50C-407E-A947-70E740481C1C}">
                <a14:useLocalDpi xmlns:a14="http://schemas.microsoft.com/office/drawing/2010/main" val="0"/>
              </a:ext>
            </a:extLst>
          </a:blip>
          <a:srcRect b="53385"/>
          <a:stretch/>
        </p:blipFill>
        <p:spPr>
          <a:xfrm>
            <a:off x="238124" y="1886463"/>
            <a:ext cx="8058150" cy="1034538"/>
          </a:xfrm>
          <a:prstGeom prst="rect">
            <a:avLst/>
          </a:prstGeom>
        </p:spPr>
      </p:pic>
      <p:pic>
        <p:nvPicPr>
          <p:cNvPr id="6" name="圖片 5"/>
          <p:cNvPicPr>
            <a:picLocks noChangeAspect="1"/>
          </p:cNvPicPr>
          <p:nvPr/>
        </p:nvPicPr>
        <p:blipFill rotWithShape="1">
          <a:blip r:embed="rId2">
            <a:extLst>
              <a:ext uri="{28A0092B-C50C-407E-A947-70E740481C1C}">
                <a14:useLocalDpi xmlns:a14="http://schemas.microsoft.com/office/drawing/2010/main" val="0"/>
              </a:ext>
            </a:extLst>
          </a:blip>
          <a:srcRect t="43182"/>
          <a:stretch/>
        </p:blipFill>
        <p:spPr>
          <a:xfrm>
            <a:off x="238124" y="3124200"/>
            <a:ext cx="8058150" cy="1260987"/>
          </a:xfrm>
          <a:prstGeom prst="rect">
            <a:avLst/>
          </a:prstGeom>
        </p:spPr>
      </p:pic>
    </p:spTree>
    <p:extLst>
      <p:ext uri="{BB962C8B-B14F-4D97-AF65-F5344CB8AC3E}">
        <p14:creationId xmlns:p14="http://schemas.microsoft.com/office/powerpoint/2010/main" val="33152945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750A765-4D71-84EE-4A76-37934ADEC257}"/>
              </a:ext>
            </a:extLst>
          </p:cNvPr>
          <p:cNvPicPr>
            <a:picLocks noChangeAspect="1"/>
          </p:cNvPicPr>
          <p:nvPr/>
        </p:nvPicPr>
        <p:blipFill>
          <a:blip r:embed="rId2"/>
          <a:stretch>
            <a:fillRect/>
          </a:stretch>
        </p:blipFill>
        <p:spPr>
          <a:xfrm>
            <a:off x="249236" y="2127674"/>
            <a:ext cx="10402752" cy="1648055"/>
          </a:xfrm>
          <a:prstGeom prst="rect">
            <a:avLst/>
          </a:prstGeom>
        </p:spPr>
      </p:pic>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sp>
        <p:nvSpPr>
          <p:cNvPr id="5" name="文字方塊 4"/>
          <p:cNvSpPr txBox="1"/>
          <p:nvPr/>
        </p:nvSpPr>
        <p:spPr>
          <a:xfrm>
            <a:off x="261935" y="1081179"/>
            <a:ext cx="7299325"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上面兩個</a:t>
            </a:r>
            <a:r>
              <a:rPr lang="en-US" altLang="zh-TW" sz="2400" dirty="0">
                <a:solidFill>
                  <a:schemeClr val="bg1"/>
                </a:solidFill>
                <a:latin typeface="微軟正黑體" panose="020B0604030504040204" pitchFamily="34" charset="-120"/>
                <a:ea typeface="微軟正黑體" panose="020B0604030504040204" pitchFamily="34" charset="-120"/>
              </a:rPr>
              <a:t>cell</a:t>
            </a:r>
            <a:r>
              <a:rPr lang="zh-TW" altLang="en-US" sz="2400" dirty="0">
                <a:solidFill>
                  <a:schemeClr val="bg1"/>
                </a:solidFill>
                <a:latin typeface="微軟正黑體" panose="020B0604030504040204" pitchFamily="34" charset="-120"/>
                <a:ea typeface="微軟正黑體" panose="020B0604030504040204" pitchFamily="34" charset="-120"/>
              </a:rPr>
              <a:t>就是關於訓練的設定及開始訓練流程的指令，所以執行時間會比較久一點</a:t>
            </a:r>
          </a:p>
        </p:txBody>
      </p:sp>
      <p:sp>
        <p:nvSpPr>
          <p:cNvPr id="6" name="文字方塊 5"/>
          <p:cNvSpPr txBox="1"/>
          <p:nvPr/>
        </p:nvSpPr>
        <p:spPr>
          <a:xfrm>
            <a:off x="7856538" y="3461725"/>
            <a:ext cx="4335462" cy="1200329"/>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等待它們執行完後，就代表訓練完成了，我們就可以來看看成果了</a:t>
            </a:r>
          </a:p>
        </p:txBody>
      </p:sp>
      <p:sp>
        <p:nvSpPr>
          <p:cNvPr id="7" name="文字方塊 6"/>
          <p:cNvSpPr txBox="1"/>
          <p:nvPr/>
        </p:nvSpPr>
        <p:spPr>
          <a:xfrm>
            <a:off x="175418" y="4819560"/>
            <a:ext cx="11841163" cy="830997"/>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使用</a:t>
            </a:r>
            <a:r>
              <a:rPr lang="en-US" altLang="zh-TW" sz="2400" dirty="0" err="1">
                <a:solidFill>
                  <a:schemeClr val="bg1"/>
                </a:solidFill>
                <a:latin typeface="微軟正黑體" panose="020B0604030504040204" pitchFamily="34" charset="-120"/>
                <a:ea typeface="微軟正黑體" panose="020B0604030504040204" pitchFamily="34" charset="-120"/>
              </a:rPr>
              <a:t>model.evaluate</a:t>
            </a:r>
            <a:r>
              <a:rPr lang="en-US" altLang="zh-TW" sz="2400" dirty="0">
                <a:solidFill>
                  <a:schemeClr val="bg1"/>
                </a:solidFill>
                <a:latin typeface="微軟正黑體" panose="020B0604030504040204" pitchFamily="34" charset="-120"/>
                <a:ea typeface="微軟正黑體" panose="020B0604030504040204" pitchFamily="34" charset="-120"/>
              </a:rPr>
              <a:t>()</a:t>
            </a:r>
            <a:r>
              <a:rPr lang="zh-TW" altLang="en-US" sz="2400" dirty="0">
                <a:solidFill>
                  <a:schemeClr val="bg1"/>
                </a:solidFill>
                <a:latin typeface="微軟正黑體" panose="020B0604030504040204" pitchFamily="34" charset="-120"/>
                <a:ea typeface="微軟正黑體" panose="020B0604030504040204" pitchFamily="34" charset="-120"/>
              </a:rPr>
              <a:t>這個函式，分別將測試資料及測試資料的標籤代入（當然也是有經過之前介紹的前處理），就能夠知道整體的準確率是多少</a:t>
            </a:r>
          </a:p>
        </p:txBody>
      </p:sp>
    </p:spTree>
    <p:extLst>
      <p:ext uri="{BB962C8B-B14F-4D97-AF65-F5344CB8AC3E}">
        <p14:creationId xmlns:p14="http://schemas.microsoft.com/office/powerpoint/2010/main" val="15085601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p:cNvSpPr txBox="1"/>
          <p:nvPr/>
        </p:nvSpPr>
        <p:spPr>
          <a:xfrm>
            <a:off x="10058400" y="88900"/>
            <a:ext cx="2032000" cy="461665"/>
          </a:xfrm>
          <a:prstGeom prst="rect">
            <a:avLst/>
          </a:prstGeom>
          <a:solidFill>
            <a:schemeClr val="accent2"/>
          </a:solidFill>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開始訓練模型</a:t>
            </a:r>
          </a:p>
        </p:txBody>
      </p:sp>
      <p:sp>
        <p:nvSpPr>
          <p:cNvPr id="5" name="文字方塊 4"/>
          <p:cNvSpPr txBox="1"/>
          <p:nvPr/>
        </p:nvSpPr>
        <p:spPr>
          <a:xfrm>
            <a:off x="119061" y="3587307"/>
            <a:ext cx="10399714"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我們也能代入自己想要拿來預測的資料，像是這邊是代入測試資料集的部份</a:t>
            </a:r>
          </a:p>
        </p:txBody>
      </p:sp>
      <p:sp>
        <p:nvSpPr>
          <p:cNvPr id="8" name="文字方塊 7"/>
          <p:cNvSpPr txBox="1"/>
          <p:nvPr/>
        </p:nvSpPr>
        <p:spPr>
          <a:xfrm>
            <a:off x="1227136" y="4360732"/>
            <a:ext cx="8183563" cy="461665"/>
          </a:xfrm>
          <a:prstGeom prst="rect">
            <a:avLst/>
          </a:prstGeom>
          <a:solidFill>
            <a:schemeClr val="accent2"/>
          </a:solidFill>
          <a:ln w="50800">
            <a:solidFill>
              <a:srgbClr val="FF0000"/>
            </a:solidFill>
          </a:ln>
        </p:spPr>
        <p:txBody>
          <a:bodyPr wrap="square" rtlCol="0">
            <a:spAutoFit/>
          </a:bodyPr>
          <a:lstStyle/>
          <a:p>
            <a:r>
              <a:rPr lang="zh-TW" altLang="en-US" sz="2400" dirty="0">
                <a:solidFill>
                  <a:schemeClr val="bg1"/>
                </a:solidFill>
                <a:latin typeface="微軟正黑體" panose="020B0604030504040204" pitchFamily="34" charset="-120"/>
                <a:ea typeface="微軟正黑體" panose="020B0604030504040204" pitchFamily="34" charset="-120"/>
              </a:rPr>
              <a:t>接著印出預測後的答案，就可以跟一開始的標準答案比對了</a:t>
            </a:r>
          </a:p>
        </p:txBody>
      </p:sp>
      <p:pic>
        <p:nvPicPr>
          <p:cNvPr id="4" name="圖片 3">
            <a:extLst>
              <a:ext uri="{FF2B5EF4-FFF2-40B4-BE49-F238E27FC236}">
                <a16:creationId xmlns:a16="http://schemas.microsoft.com/office/drawing/2014/main" id="{3CEB6D3A-DDAC-7DC5-199D-1BF913A052C7}"/>
              </a:ext>
            </a:extLst>
          </p:cNvPr>
          <p:cNvPicPr>
            <a:picLocks noChangeAspect="1"/>
          </p:cNvPicPr>
          <p:nvPr/>
        </p:nvPicPr>
        <p:blipFill>
          <a:blip r:embed="rId2"/>
          <a:stretch>
            <a:fillRect/>
          </a:stretch>
        </p:blipFill>
        <p:spPr>
          <a:xfrm>
            <a:off x="101600" y="88900"/>
            <a:ext cx="7087589" cy="3238952"/>
          </a:xfrm>
          <a:prstGeom prst="rect">
            <a:avLst/>
          </a:prstGeom>
        </p:spPr>
      </p:pic>
    </p:spTree>
    <p:extLst>
      <p:ext uri="{BB962C8B-B14F-4D97-AF65-F5344CB8AC3E}">
        <p14:creationId xmlns:p14="http://schemas.microsoft.com/office/powerpoint/2010/main" val="16215660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50517982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習題</a:t>
            </a:r>
          </a:p>
        </p:txBody>
      </p:sp>
      <p:sp>
        <p:nvSpPr>
          <p:cNvPr id="3" name="內容版面配置區 2"/>
          <p:cNvSpPr>
            <a:spLocks noGrp="1"/>
          </p:cNvSpPr>
          <p:nvPr>
            <p:ph idx="1"/>
          </p:nvPr>
        </p:nvSpPr>
        <p:spPr/>
        <p:txBody>
          <a:bodyPr>
            <a:normAutofit/>
          </a:bodyPr>
          <a:lstStyle/>
          <a:p>
            <a:r>
              <a:rPr lang="zh-TW" altLang="en-US" sz="2400" dirty="0"/>
              <a:t>設計一個迴圈，自動地從資料集找出所有誤判的組合，並統計哪個誤判組合最多</a:t>
            </a:r>
            <a:r>
              <a:rPr lang="en-US" altLang="zh-TW" sz="2400" dirty="0"/>
              <a:t>?</a:t>
            </a:r>
          </a:p>
          <a:p>
            <a:pPr lvl="1"/>
            <a:r>
              <a:rPr lang="zh-TW" altLang="en-US" sz="2200" dirty="0"/>
              <a:t>例如：</a:t>
            </a:r>
            <a:r>
              <a:rPr lang="en-US" altLang="zh-TW" sz="2200" dirty="0"/>
              <a:t>8</a:t>
            </a:r>
            <a:r>
              <a:rPr lang="zh-TW" altLang="en-US" sz="2200" dirty="0"/>
              <a:t>被誤判成</a:t>
            </a:r>
            <a:r>
              <a:rPr lang="en-US" altLang="zh-TW" sz="2200" dirty="0"/>
              <a:t>9</a:t>
            </a:r>
            <a:r>
              <a:rPr lang="zh-TW" altLang="en-US" sz="2200" dirty="0"/>
              <a:t>有</a:t>
            </a:r>
            <a:r>
              <a:rPr lang="en-US" altLang="zh-TW" sz="2200" dirty="0"/>
              <a:t>30</a:t>
            </a:r>
            <a:r>
              <a:rPr lang="zh-TW" altLang="en-US" sz="2200" dirty="0"/>
              <a:t>次、</a:t>
            </a:r>
            <a:r>
              <a:rPr lang="en-US" altLang="zh-TW" sz="2200" dirty="0"/>
              <a:t>9</a:t>
            </a:r>
            <a:r>
              <a:rPr lang="zh-TW" altLang="en-US" sz="2200" dirty="0"/>
              <a:t>被誤判成</a:t>
            </a:r>
            <a:r>
              <a:rPr lang="en-US" altLang="zh-TW" sz="2200" dirty="0"/>
              <a:t>3</a:t>
            </a:r>
            <a:r>
              <a:rPr lang="zh-TW" altLang="en-US" sz="2200" dirty="0"/>
              <a:t>有</a:t>
            </a:r>
            <a:r>
              <a:rPr lang="en-US" altLang="zh-TW" sz="2200" dirty="0"/>
              <a:t>10</a:t>
            </a:r>
            <a:r>
              <a:rPr lang="zh-TW" altLang="en-US" sz="2200" dirty="0"/>
              <a:t>次、</a:t>
            </a:r>
            <a:r>
              <a:rPr lang="en-US" altLang="zh-TW" sz="2200" dirty="0"/>
              <a:t> 3</a:t>
            </a:r>
            <a:r>
              <a:rPr lang="zh-TW" altLang="en-US" sz="2200" dirty="0"/>
              <a:t>被誤判成</a:t>
            </a:r>
            <a:r>
              <a:rPr lang="en-US" altLang="zh-TW" sz="2200" dirty="0"/>
              <a:t>2</a:t>
            </a:r>
            <a:r>
              <a:rPr lang="zh-TW" altLang="en-US" sz="2200" dirty="0"/>
              <a:t>有</a:t>
            </a:r>
            <a:r>
              <a:rPr lang="en-US" altLang="zh-TW" sz="2200" dirty="0"/>
              <a:t>7</a:t>
            </a:r>
            <a:r>
              <a:rPr lang="zh-TW" altLang="en-US" sz="2200" dirty="0"/>
              <a:t>次</a:t>
            </a:r>
            <a:r>
              <a:rPr lang="en-US" altLang="zh-TW" sz="2200" dirty="0"/>
              <a:t>…</a:t>
            </a:r>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2336" y="187744"/>
            <a:ext cx="7324725" cy="1714500"/>
          </a:xfrm>
          <a:prstGeom prst="rect">
            <a:avLst/>
          </a:prstGeom>
        </p:spPr>
      </p:pic>
    </p:spTree>
    <p:extLst>
      <p:ext uri="{BB962C8B-B14F-4D97-AF65-F5344CB8AC3E}">
        <p14:creationId xmlns:p14="http://schemas.microsoft.com/office/powerpoint/2010/main" val="11197167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3090" y="1808956"/>
            <a:ext cx="5557837"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86983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多面向">
  <a:themeElements>
    <a:clrScheme name="多面向">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多面向">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多面向">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電路">
  <a:themeElements>
    <a:clrScheme name="電路">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電路">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電路">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1915</TotalTime>
  <Words>1294</Words>
  <Application>Microsoft Office PowerPoint</Application>
  <PresentationFormat>寬螢幕</PresentationFormat>
  <Paragraphs>152</Paragraphs>
  <Slides>32</Slides>
  <Notes>1</Notes>
  <HiddenSlides>0</HiddenSlides>
  <MMClips>0</MMClips>
  <ScaleCrop>false</ScaleCrop>
  <HeadingPairs>
    <vt:vector size="6" baseType="variant">
      <vt:variant>
        <vt:lpstr>使用字型</vt:lpstr>
      </vt:variant>
      <vt:variant>
        <vt:i4>6</vt:i4>
      </vt:variant>
      <vt:variant>
        <vt:lpstr>佈景主題</vt:lpstr>
      </vt:variant>
      <vt:variant>
        <vt:i4>2</vt:i4>
      </vt:variant>
      <vt:variant>
        <vt:lpstr>投影片標題</vt:lpstr>
      </vt:variant>
      <vt:variant>
        <vt:i4>32</vt:i4>
      </vt:variant>
    </vt:vector>
  </HeadingPairs>
  <TitlesOfParts>
    <vt:vector size="40" baseType="lpstr">
      <vt:lpstr>微軟正黑體</vt:lpstr>
      <vt:lpstr>Arial</vt:lpstr>
      <vt:lpstr>Calibri</vt:lpstr>
      <vt:lpstr>Trebuchet MS</vt:lpstr>
      <vt:lpstr>Tw Cen MT</vt:lpstr>
      <vt:lpstr>Wingdings 3</vt:lpstr>
      <vt:lpstr>多面向</vt:lpstr>
      <vt:lpstr>電路</vt:lpstr>
      <vt:lpstr>人工智慧概論與實務</vt:lpstr>
      <vt:lpstr>專題實作：阿拉伯數字辨識 MNIST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習題</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人工智慧與深度學習</dc:title>
  <dc:creator>Ray</dc:creator>
  <cp:lastModifiedBy>張哲誠</cp:lastModifiedBy>
  <cp:revision>81</cp:revision>
  <dcterms:created xsi:type="dcterms:W3CDTF">2018-09-25T15:01:53Z</dcterms:created>
  <dcterms:modified xsi:type="dcterms:W3CDTF">2026-04-09T13:41:05Z</dcterms:modified>
</cp:coreProperties>
</file>