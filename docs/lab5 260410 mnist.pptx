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18"/>
  </p:notesMasterIdLst>
  <p:sldIdLst>
    <p:sldId id="256" r:id="rId2"/>
    <p:sldId id="372" r:id="rId3"/>
    <p:sldId id="373" r:id="rId4"/>
    <p:sldId id="374" r:id="rId5"/>
    <p:sldId id="375" r:id="rId6"/>
    <p:sldId id="376" r:id="rId7"/>
    <p:sldId id="377" r:id="rId8"/>
    <p:sldId id="378" r:id="rId9"/>
    <p:sldId id="379" r:id="rId10"/>
    <p:sldId id="383" r:id="rId11"/>
    <p:sldId id="380" r:id="rId12"/>
    <p:sldId id="381" r:id="rId13"/>
    <p:sldId id="382" r:id="rId14"/>
    <p:sldId id="384" r:id="rId15"/>
    <p:sldId id="333" r:id="rId16"/>
    <p:sldId id="259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A674B5-7483-45D9-A7B2-68EA838ADD04}" v="4" dt="2022-03-16T05:00:43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cchang@o365.fcu.edu.tw" userId="5d6e92af-707e-44d9-a48f-9a80309f0b3d" providerId="ADAL" clId="{06A674B5-7483-45D9-A7B2-68EA838ADD04}"/>
    <pc:docChg chg="delSld modSld">
      <pc:chgData name="checchang@o365.fcu.edu.tw" userId="5d6e92af-707e-44d9-a48f-9a80309f0b3d" providerId="ADAL" clId="{06A674B5-7483-45D9-A7B2-68EA838ADD04}" dt="2022-03-16T05:00:43.114" v="18"/>
      <pc:docMkLst>
        <pc:docMk/>
      </pc:docMkLst>
      <pc:sldChg chg="modSp mod">
        <pc:chgData name="checchang@o365.fcu.edu.tw" userId="5d6e92af-707e-44d9-a48f-9a80309f0b3d" providerId="ADAL" clId="{06A674B5-7483-45D9-A7B2-68EA838ADD04}" dt="2022-03-16T05:00:43.114" v="18"/>
        <pc:sldMkLst>
          <pc:docMk/>
          <pc:sldMk cId="1119716787" sldId="333"/>
        </pc:sldMkLst>
        <pc:spChg chg="mod">
          <ac:chgData name="checchang@o365.fcu.edu.tw" userId="5d6e92af-707e-44d9-a48f-9a80309f0b3d" providerId="ADAL" clId="{06A674B5-7483-45D9-A7B2-68EA838ADD04}" dt="2022-03-16T05:00:43.114" v="18"/>
          <ac:spMkLst>
            <pc:docMk/>
            <pc:sldMk cId="1119716787" sldId="333"/>
            <ac:spMk id="3" creationId="{00000000-0000-0000-0000-000000000000}"/>
          </ac:spMkLst>
        </pc:spChg>
      </pc:sldChg>
      <pc:sldChg chg="del">
        <pc:chgData name="checchang@o365.fcu.edu.tw" userId="5d6e92af-707e-44d9-a48f-9a80309f0b3d" providerId="ADAL" clId="{06A674B5-7483-45D9-A7B2-68EA838ADD04}" dt="2022-03-16T04:31:53.813" v="0" actId="47"/>
        <pc:sldMkLst>
          <pc:docMk/>
          <pc:sldMk cId="3968323250" sldId="339"/>
        </pc:sldMkLst>
      </pc:sldChg>
      <pc:sldChg chg="del">
        <pc:chgData name="checchang@o365.fcu.edu.tw" userId="5d6e92af-707e-44d9-a48f-9a80309f0b3d" providerId="ADAL" clId="{06A674B5-7483-45D9-A7B2-68EA838ADD04}" dt="2022-03-16T04:31:53.813" v="0" actId="47"/>
        <pc:sldMkLst>
          <pc:docMk/>
          <pc:sldMk cId="388917900" sldId="365"/>
        </pc:sldMkLst>
      </pc:sldChg>
      <pc:sldChg chg="del">
        <pc:chgData name="checchang@o365.fcu.edu.tw" userId="5d6e92af-707e-44d9-a48f-9a80309f0b3d" providerId="ADAL" clId="{06A674B5-7483-45D9-A7B2-68EA838ADD04}" dt="2022-03-16T04:31:53.813" v="0" actId="47"/>
        <pc:sldMkLst>
          <pc:docMk/>
          <pc:sldMk cId="3951921783" sldId="366"/>
        </pc:sldMkLst>
      </pc:sldChg>
      <pc:sldChg chg="del">
        <pc:chgData name="checchang@o365.fcu.edu.tw" userId="5d6e92af-707e-44d9-a48f-9a80309f0b3d" providerId="ADAL" clId="{06A674B5-7483-45D9-A7B2-68EA838ADD04}" dt="2022-03-16T04:31:53.813" v="0" actId="47"/>
        <pc:sldMkLst>
          <pc:docMk/>
          <pc:sldMk cId="2403925049" sldId="367"/>
        </pc:sldMkLst>
      </pc:sldChg>
      <pc:sldChg chg="del">
        <pc:chgData name="checchang@o365.fcu.edu.tw" userId="5d6e92af-707e-44d9-a48f-9a80309f0b3d" providerId="ADAL" clId="{06A674B5-7483-45D9-A7B2-68EA838ADD04}" dt="2022-03-16T04:31:53.813" v="0" actId="47"/>
        <pc:sldMkLst>
          <pc:docMk/>
          <pc:sldMk cId="2541605539" sldId="368"/>
        </pc:sldMkLst>
      </pc:sldChg>
      <pc:sldChg chg="del">
        <pc:chgData name="checchang@o365.fcu.edu.tw" userId="5d6e92af-707e-44d9-a48f-9a80309f0b3d" providerId="ADAL" clId="{06A674B5-7483-45D9-A7B2-68EA838ADD04}" dt="2022-03-16T04:31:53.813" v="0" actId="47"/>
        <pc:sldMkLst>
          <pc:docMk/>
          <pc:sldMk cId="1423816874" sldId="369"/>
        </pc:sldMkLst>
      </pc:sldChg>
      <pc:sldChg chg="del">
        <pc:chgData name="checchang@o365.fcu.edu.tw" userId="5d6e92af-707e-44d9-a48f-9a80309f0b3d" providerId="ADAL" clId="{06A674B5-7483-45D9-A7B2-68EA838ADD04}" dt="2022-03-16T04:31:53.813" v="0" actId="47"/>
        <pc:sldMkLst>
          <pc:docMk/>
          <pc:sldMk cId="918286934" sldId="370"/>
        </pc:sldMkLst>
      </pc:sldChg>
      <pc:sldChg chg="del">
        <pc:chgData name="checchang@o365.fcu.edu.tw" userId="5d6e92af-707e-44d9-a48f-9a80309f0b3d" providerId="ADAL" clId="{06A674B5-7483-45D9-A7B2-68EA838ADD04}" dt="2022-03-16T04:31:53.813" v="0" actId="47"/>
        <pc:sldMkLst>
          <pc:docMk/>
          <pc:sldMk cId="2749700084" sldId="3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D2AE1-4F1C-4587-8B81-76212F264A12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9203B-478A-4F15-9385-772DE2E1D5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6580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2604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0743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356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8287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703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870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297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2152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1930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2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3519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250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9622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279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2148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276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A501A-E6BD-46D2-BD25-59A76987027A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6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人工智慧概論與實務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308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專題實作：阿拉伯數字辨識 </a:t>
            </a:r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MNIST</a:t>
            </a:r>
            <a:endParaRPr lang="zh-TW" altLang="en-US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3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MNIST</a:t>
            </a:r>
          </a:p>
          <a:p>
            <a:pPr lvl="1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阿拉伯數字的圖片資料集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重點是：它是手寫的（所以有些字蠻端正的，有些字甚至連我們都很難正確辨識）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所以這才是機器學習在生活中派得上用場的地方</a:t>
            </a:r>
          </a:p>
        </p:txBody>
      </p:sp>
    </p:spTree>
    <p:extLst>
      <p:ext uri="{BB962C8B-B14F-4D97-AF65-F5344CB8AC3E}">
        <p14:creationId xmlns:p14="http://schemas.microsoft.com/office/powerpoint/2010/main" val="2035441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專題實作：阿拉伯數字辨識 </a:t>
            </a:r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MNIST</a:t>
            </a:r>
            <a:endParaRPr lang="zh-TW" altLang="en-US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3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MNIST</a:t>
            </a:r>
          </a:p>
          <a:p>
            <a:pPr lvl="1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它包含：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60000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個訓練資料及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10000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個測試資料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每筆資料都有影像資料與標籤資訊（正確答案）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影像資料為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28*28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的灰階圖像，標籤資訊則為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0-9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的個位數字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734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專題實作：阿拉伯數字辨識 </a:t>
            </a:r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MNIST</a:t>
            </a:r>
            <a:endParaRPr lang="zh-TW" altLang="en-US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MNIST</a:t>
            </a:r>
          </a:p>
          <a:p>
            <a:pPr lvl="1"/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179" y="2809875"/>
            <a:ext cx="4087118" cy="394335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5813425" y="2944019"/>
            <a:ext cx="6030232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首先，來印出訓練資料中的第一筆影像資料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4460576" y="4020344"/>
            <a:ext cx="7731424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一個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28*28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的灰階圖像，用來顯示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0-9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的阿拉伯手寫數字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5813424" y="5733145"/>
            <a:ext cx="6030233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接著，來印出訓練資料中的第一筆標籤資料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4460576" y="6320004"/>
            <a:ext cx="3754510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也就是上圖的標準答案：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965372" y="1867694"/>
            <a:ext cx="606697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MNIST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中，單一筆的資料大概是長這個樣子</a:t>
            </a:r>
          </a:p>
        </p:txBody>
      </p:sp>
    </p:spTree>
    <p:extLst>
      <p:ext uri="{BB962C8B-B14F-4D97-AF65-F5344CB8AC3E}">
        <p14:creationId xmlns:p14="http://schemas.microsoft.com/office/powerpoint/2010/main" val="181209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專題實作：阿拉伯數字辨識 </a:t>
            </a:r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MNIST</a:t>
            </a:r>
            <a:endParaRPr lang="zh-TW" altLang="en-US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MNIST</a:t>
            </a:r>
          </a:p>
          <a:p>
            <a:pPr lvl="1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所以，我們想要實現的就是：讓電腦使用機器學習演算法去看很多的影像資料，同時也會告訴它答案（學習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訓練）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訓練完成之後，給它看看其它圖片，看能不能猜出正確答案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573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25C0ACE-E23E-888A-798E-E49F8C28BD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24" b="28917"/>
          <a:stretch/>
        </p:blipFill>
        <p:spPr>
          <a:xfrm>
            <a:off x="196848" y="1404693"/>
            <a:ext cx="10020300" cy="2119521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7590972" y="88900"/>
            <a:ext cx="449942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然後就是開始我們的實作時間了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349"/>
          <a:stretch/>
        </p:blipFill>
        <p:spPr>
          <a:xfrm>
            <a:off x="196849" y="3657600"/>
            <a:ext cx="10020300" cy="1397000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196848" y="5187986"/>
            <a:ext cx="11893552" cy="1200329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有一個功能就是從外部的雲端空間下載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MNIST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資料集到我們的專案裡</a:t>
            </a:r>
            <a:endParaRPr lang="en-US" altLang="zh-TW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就像之前提到的：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MNIST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28*28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的灰階圖像為主的資料集，所以檔案不大，下載過程應該蠻快的</a:t>
            </a:r>
          </a:p>
        </p:txBody>
      </p:sp>
    </p:spTree>
    <p:extLst>
      <p:ext uri="{BB962C8B-B14F-4D97-AF65-F5344CB8AC3E}">
        <p14:creationId xmlns:p14="http://schemas.microsoft.com/office/powerpoint/2010/main" val="427191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25" y="1719262"/>
            <a:ext cx="6076950" cy="3419475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6437765" y="2024190"/>
            <a:ext cx="5652633" cy="1200329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很明顯地，訓練的圖像資料有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60000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個，每個都是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28*28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的維度；然後該資料對應的就是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60000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個標籤資料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2844800" y="1143396"/>
            <a:ext cx="9114969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把資料維度印出來，來看看裡面的資料量是不是真的如簡介所說的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6437765" y="3668315"/>
            <a:ext cx="3533550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測試資料集也印一下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……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260971" y="4529638"/>
            <a:ext cx="6829427" cy="830997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測試的圖像資料有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10000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個，每個也都是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28*28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的維度；同時該資料對應的就是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10000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個標籤資料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4503549" y="5760293"/>
            <a:ext cx="3521452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所以真的符合簡介內容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!!!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590972" y="88900"/>
            <a:ext cx="449942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然後就是開始我們的實作時間了</a:t>
            </a:r>
          </a:p>
        </p:txBody>
      </p:sp>
    </p:spTree>
    <p:extLst>
      <p:ext uri="{BB962C8B-B14F-4D97-AF65-F5344CB8AC3E}">
        <p14:creationId xmlns:p14="http://schemas.microsoft.com/office/powerpoint/2010/main" val="1398311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76262"/>
            <a:ext cx="5467350" cy="5934075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5762065" y="3835538"/>
            <a:ext cx="5747764" cy="830997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印出訓練資料集中第一筆影像資料，所以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index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762065" y="847834"/>
            <a:ext cx="6328334" cy="830997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設計一個函式來把圖像資料印出來（其中包含圖像大小及色彩都是可調的）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5863665" y="5528039"/>
            <a:ext cx="5036564" cy="830997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印出訓練資料集中第一筆標籤資料，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index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一樣是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，內容是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590972" y="88900"/>
            <a:ext cx="449942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然後就是開始我們的實作時間了</a:t>
            </a:r>
          </a:p>
        </p:txBody>
      </p:sp>
    </p:spTree>
    <p:extLst>
      <p:ext uri="{BB962C8B-B14F-4D97-AF65-F5344CB8AC3E}">
        <p14:creationId xmlns:p14="http://schemas.microsoft.com/office/powerpoint/2010/main" val="419203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" y="90487"/>
            <a:ext cx="8753475" cy="667702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6677024" y="1552684"/>
            <a:ext cx="5022849" cy="1938992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這時候來看一個有趣的概念，如果我們沒有指定這筆資料是圖像資料的話（也就是沒有用圖像相關函式來顯示），它會被視為是一大串的數字，印出來就會像這個樣子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6677023" y="3676600"/>
            <a:ext cx="5022849" cy="830997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根本看不出來包含什麼資訊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，所以指定到對的型態是很重要的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7590972" y="88900"/>
            <a:ext cx="449942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然後就是開始我們的實作時間了</a:t>
            </a:r>
          </a:p>
        </p:txBody>
      </p:sp>
    </p:spTree>
    <p:extLst>
      <p:ext uri="{BB962C8B-B14F-4D97-AF65-F5344CB8AC3E}">
        <p14:creationId xmlns:p14="http://schemas.microsoft.com/office/powerpoint/2010/main" val="8931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ttps://www.tensorflow.org/images/MNIST-Matrix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930399"/>
            <a:ext cx="11139964" cy="439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423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600000" cy="3339034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0" y="-3757"/>
            <a:ext cx="3600000" cy="328409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39035"/>
            <a:ext cx="3600000" cy="3402647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0" y="3254139"/>
            <a:ext cx="3600000" cy="3474662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6951517" y="1416638"/>
            <a:ext cx="5022849" cy="156966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在這邊來看一下不同色彩的表示方式，可以在</a:t>
            </a:r>
            <a:r>
              <a:rPr lang="en-US" altLang="zh-TW" sz="2400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cmap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所使用的參數做一些變動，各式各樣的色彩表示方式都可以在官網上面找到</a:t>
            </a:r>
          </a:p>
        </p:txBody>
      </p:sp>
      <p:cxnSp>
        <p:nvCxnSpPr>
          <p:cNvPr id="11" name="直線接點 10"/>
          <p:cNvCxnSpPr/>
          <p:nvPr/>
        </p:nvCxnSpPr>
        <p:spPr>
          <a:xfrm>
            <a:off x="2451100" y="952500"/>
            <a:ext cx="10541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6013450" y="966108"/>
            <a:ext cx="10541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2451100" y="4337050"/>
            <a:ext cx="10541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110142" y="4255343"/>
            <a:ext cx="10541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6951516" y="5366693"/>
            <a:ext cx="5022849" cy="1200329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記得改完參數後，要先執行定義函式的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cell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，再執行畫圖的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cell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才會有效果</a:t>
            </a:r>
          </a:p>
        </p:txBody>
      </p:sp>
      <p:cxnSp>
        <p:nvCxnSpPr>
          <p:cNvPr id="19" name="直線單箭頭接點 18"/>
          <p:cNvCxnSpPr/>
          <p:nvPr/>
        </p:nvCxnSpPr>
        <p:spPr>
          <a:xfrm flipH="1">
            <a:off x="7372350" y="4173583"/>
            <a:ext cx="1800225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>
            <a:off x="7372349" y="4878433"/>
            <a:ext cx="1800225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7590972" y="88900"/>
            <a:ext cx="449942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然後就是開始我們的實作時間了</a:t>
            </a:r>
          </a:p>
        </p:txBody>
      </p:sp>
    </p:spTree>
    <p:extLst>
      <p:ext uri="{BB962C8B-B14F-4D97-AF65-F5344CB8AC3E}">
        <p14:creationId xmlns:p14="http://schemas.microsoft.com/office/powerpoint/2010/main" val="32577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64633"/>
            <a:ext cx="3600000" cy="3339033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4"/>
            <a:ext cx="3600000" cy="276666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0" y="-2034"/>
            <a:ext cx="3600000" cy="431201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6869338" y="2296165"/>
            <a:ext cx="5022849" cy="156966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在設定大小的參數，我們原先是使用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anose="05050102010706020507" pitchFamily="18" charset="2"/>
              </a:rPr>
              <a:t>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的大小，這裡可以看到在我們將參數改成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anose="05050102010706020507" pitchFamily="18" charset="2"/>
              </a:rPr>
              <a:t>1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anose="05050102010706020507" pitchFamily="18" charset="2"/>
              </a:rPr>
              <a:t>4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anose="05050102010706020507" pitchFamily="18" charset="2"/>
              </a:rPr>
              <a:t>時，圖像尺寸明顯地改變了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" name="直線接點 8"/>
          <p:cNvCxnSpPr/>
          <p:nvPr/>
        </p:nvCxnSpPr>
        <p:spPr>
          <a:xfrm>
            <a:off x="2365376" y="752475"/>
            <a:ext cx="720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6010276" y="742950"/>
            <a:ext cx="720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2428876" y="3514725"/>
            <a:ext cx="720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6869337" y="4513524"/>
            <a:ext cx="5022849" cy="1200329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記得改完參數後，一樣要先執行定義函式的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cell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，再執行畫圖的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cell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才會有效果</a:t>
            </a:r>
          </a:p>
        </p:txBody>
      </p:sp>
      <p:cxnSp>
        <p:nvCxnSpPr>
          <p:cNvPr id="13" name="直線單箭頭接點 12"/>
          <p:cNvCxnSpPr/>
          <p:nvPr/>
        </p:nvCxnSpPr>
        <p:spPr>
          <a:xfrm flipH="1">
            <a:off x="7372349" y="754108"/>
            <a:ext cx="1800225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>
            <a:off x="7372349" y="1468483"/>
            <a:ext cx="1800225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7590972" y="88900"/>
            <a:ext cx="449942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然後就是開始我們的實作時間了</a:t>
            </a:r>
          </a:p>
        </p:txBody>
      </p:sp>
    </p:spTree>
    <p:extLst>
      <p:ext uri="{BB962C8B-B14F-4D97-AF65-F5344CB8AC3E}">
        <p14:creationId xmlns:p14="http://schemas.microsoft.com/office/powerpoint/2010/main" val="258682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852487" y="655078"/>
            <a:ext cx="10487024" cy="830997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在了解這個函式的參數用法之後，甚至可以將它延伸到一次顯示多筆資料，同時包含圖像、標籤以及預測值，一眼就能看出我們要的資訊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7590972" y="88900"/>
            <a:ext cx="449942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然後就是開始我們的實作時間了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87" y="2254250"/>
            <a:ext cx="10487025" cy="4381500"/>
          </a:xfrm>
          <a:prstGeom prst="rect">
            <a:avLst/>
          </a:prstGeom>
        </p:spPr>
      </p:pic>
      <p:cxnSp>
        <p:nvCxnSpPr>
          <p:cNvPr id="14" name="直線單箭頭接點 13"/>
          <p:cNvCxnSpPr/>
          <p:nvPr/>
        </p:nvCxnSpPr>
        <p:spPr>
          <a:xfrm>
            <a:off x="1346200" y="1765300"/>
            <a:ext cx="330200" cy="711200"/>
          </a:xfrm>
          <a:prstGeom prst="straightConnector1">
            <a:avLst/>
          </a:prstGeom>
          <a:ln w="508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>
            <a:off x="7188201" y="4191000"/>
            <a:ext cx="723899" cy="508000"/>
          </a:xfrm>
          <a:prstGeom prst="straightConnector1">
            <a:avLst/>
          </a:prstGeom>
          <a:ln w="508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767466" y="1623452"/>
            <a:ext cx="7029677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這個方法會在我們實作完預測功能後跟同學們介紹</a:t>
            </a:r>
          </a:p>
        </p:txBody>
      </p:sp>
    </p:spTree>
    <p:extLst>
      <p:ext uri="{BB962C8B-B14F-4D97-AF65-F5344CB8AC3E}">
        <p14:creationId xmlns:p14="http://schemas.microsoft.com/office/powerpoint/2010/main" val="2122015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225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習題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設計一個迴圈，自動地從訓練資料集找出</a:t>
            </a:r>
            <a:r>
              <a:rPr lang="en-US" altLang="zh-TW" sz="2400" dirty="0"/>
              <a:t>0-9</a:t>
            </a:r>
            <a:r>
              <a:rPr lang="zh-TW" altLang="en-US" sz="2400" dirty="0"/>
              <a:t>，並顯示每個最早出現的阿拉伯數字位址</a:t>
            </a:r>
            <a:endParaRPr lang="en-US" altLang="zh-TW" sz="24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285" y="3294744"/>
            <a:ext cx="3600000" cy="3339034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552092"/>
              </p:ext>
            </p:extLst>
          </p:nvPr>
        </p:nvGraphicFramePr>
        <p:xfrm>
          <a:off x="145143" y="4391780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55336879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012509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78478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58482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5447921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3189324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9676753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710133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33099555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17910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018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744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71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090" y="1808956"/>
            <a:ext cx="5557837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869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1879</TotalTime>
  <Words>768</Words>
  <Application>Microsoft Office PowerPoint</Application>
  <PresentationFormat>寬螢幕</PresentationFormat>
  <Paragraphs>69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微軟正黑體</vt:lpstr>
      <vt:lpstr>Arial</vt:lpstr>
      <vt:lpstr>Calibri</vt:lpstr>
      <vt:lpstr>Trebuchet MS</vt:lpstr>
      <vt:lpstr>Wingdings 3</vt:lpstr>
      <vt:lpstr>多面向</vt:lpstr>
      <vt:lpstr>人工智慧概論與實務</vt:lpstr>
      <vt:lpstr>專題實作：阿拉伯數字辨識 MNIST</vt:lpstr>
      <vt:lpstr>專題實作：阿拉伯數字辨識 MNIST</vt:lpstr>
      <vt:lpstr>專題實作：阿拉伯數字辨識 MNIST</vt:lpstr>
      <vt:lpstr>專題實作：阿拉伯數字辨識 MNIST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習題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人工智慧與深度學習</dc:title>
  <dc:creator>Ray</dc:creator>
  <cp:lastModifiedBy>張哲誠</cp:lastModifiedBy>
  <cp:revision>77</cp:revision>
  <dcterms:created xsi:type="dcterms:W3CDTF">2018-09-25T15:01:53Z</dcterms:created>
  <dcterms:modified xsi:type="dcterms:W3CDTF">2024-03-21T18:59:27Z</dcterms:modified>
</cp:coreProperties>
</file>